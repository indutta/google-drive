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62B3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262B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Datre Situation, Structured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situation, read through three disciplines: Minto's Pyramid Principle, the MECE principle, and Toyota's 5 Whys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·  Prepared for the Board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MINTO PYRAMID — THE DERIVATION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Situation, Complication, Question,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2154" cy="3931920"/>
          </a:xfrm>
          <a:prstGeom prst="roundRect">
            <a:avLst>
              <a:gd name="adj" fmla="val 2811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602154" cy="73152"/>
          </a:xfrm>
          <a:prstGeom prst="rect">
            <a:avLst/>
          </a:prstGeom>
          <a:solidFill>
            <a:srgbClr val="3F8F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363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FY2025-26 closed at ₹182.03 lakh net profit, revenue up 26.11% to ₹25.74 Cr, and accumulated losses fully set off for the first time in years.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379394" y="1783080"/>
            <a:ext cx="2602154" cy="3931920"/>
          </a:xfrm>
          <a:prstGeom prst="roundRect">
            <a:avLst>
              <a:gd name="adj" fmla="val 2811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3379394" y="1783080"/>
            <a:ext cx="2602154" cy="73152"/>
          </a:xfrm>
          <a:prstGeom prst="rect">
            <a:avLst/>
          </a:prstGeom>
          <a:solidFill>
            <a:srgbClr val="B8453F"/>
          </a:solidFill>
          <a:ln/>
        </p:spPr>
      </p:sp>
      <p:sp>
        <p:nvSpPr>
          <p:cNvPr id="10" name="Text 8"/>
          <p:cNvSpPr/>
          <p:nvPr/>
        </p:nvSpPr>
        <p:spPr>
          <a:xfrm>
            <a:off x="3562274" y="20116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2274" y="2423160"/>
            <a:ext cx="22363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FY2026-27 revenue is down 42% YoY, customer concentration sits near 80%, rejection rates hit a multi-year high, and a consultant is pitching a ₹3.5-5.5 Cr pivot at the exact moment net worth just turned positive.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02154" cy="3931920"/>
          </a:xfrm>
          <a:prstGeom prst="roundRect">
            <a:avLst>
              <a:gd name="adj" fmla="val 2811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0148" y="1783080"/>
            <a:ext cx="2602154" cy="73152"/>
          </a:xfrm>
          <a:prstGeom prst="rect">
            <a:avLst/>
          </a:prstGeom>
          <a:solidFill>
            <a:srgbClr val="3A4553"/>
          </a:solidFill>
          <a:ln/>
        </p:spPr>
      </p:sp>
      <p:sp>
        <p:nvSpPr>
          <p:cNvPr id="14" name="Text 12"/>
          <p:cNvSpPr/>
          <p:nvPr/>
        </p:nvSpPr>
        <p:spPr>
          <a:xfrm>
            <a:off x="6393028" y="20116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3028" y="2423160"/>
            <a:ext cx="22363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turnaround durable, and where should capital and management attention go next?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040901" y="1783080"/>
            <a:ext cx="2602154" cy="3931920"/>
          </a:xfrm>
          <a:prstGeom prst="roundRect">
            <a:avLst>
              <a:gd name="adj" fmla="val 2811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0901" y="1783080"/>
            <a:ext cx="2602154" cy="73152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18" name="Text 16"/>
          <p:cNvSpPr/>
          <p:nvPr/>
        </p:nvSpPr>
        <p:spPr>
          <a:xfrm>
            <a:off x="9223781" y="20116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23781" y="2423160"/>
            <a:ext cx="22363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 but narrow — built on a handful of qualification-gated relationships, not broad demand. The priority is converting and defending that base, not diluting it into an unfamiliar one.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MINTO PYRAMID —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the answer, not the data trail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54480" y="1783080"/>
            <a:ext cx="9082735" cy="1965960"/>
          </a:xfrm>
          <a:prstGeom prst="roundRect">
            <a:avLst>
              <a:gd name="adj" fmla="val 4651"/>
            </a:avLst>
          </a:prstGeom>
          <a:solidFill>
            <a:srgbClr val="262B34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956816"/>
            <a:ext cx="853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THOUGHT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2267712"/>
            <a:ext cx="8534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Datre's turnaround is real and audited, but it is a narrow, qualification-gated turnaround. The highest-value move is to convert and defend the existing accredited relationships — not to spend management attention and scarce capital establishing a new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3749040"/>
            <a:ext cx="0" cy="27432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2336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62B34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280160" y="418795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turnaround is real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46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and balance-sheet evidence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338218" y="402336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62B3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66818" y="4206240"/>
            <a:ext cx="384048" cy="384048"/>
          </a:xfrm>
          <a:prstGeom prst="ellipse">
            <a:avLst/>
          </a:prstGeom>
          <a:solidFill>
            <a:srgbClr val="B8453F"/>
          </a:solidFill>
          <a:ln/>
        </p:spPr>
      </p:sp>
      <p:sp>
        <p:nvSpPr>
          <p:cNvPr id="15" name="Text 13"/>
          <p:cNvSpPr/>
          <p:nvPr/>
        </p:nvSpPr>
        <p:spPr>
          <a:xfrm>
            <a:off x="456681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5069738" y="418795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base is narrow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6818" y="4846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Concentration, quality, and timing risk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127797" y="402336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62B34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6397" y="4206240"/>
            <a:ext cx="384048" cy="38404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8356397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8859317" y="418795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moat, don't replace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56397" y="4846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next unit of capital should go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MINTO PYRAMID — 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mutually exclusive lines of argument, one 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3F8F5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TURNAROUND IS REAL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₹25.74 Cr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+26.11% YoY, FY2025-26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₹182.03 lakh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 in five years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losses set 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445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turns positive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PAT: 147→145→138→182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4589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lakh, sustained profitability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338218" y="173736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B8453F"/>
          </a:solidFill>
          <a:ln/>
        </p:spPr>
      </p:sp>
      <p:sp>
        <p:nvSpPr>
          <p:cNvPr id="15" name="Text 13"/>
          <p:cNvSpPr/>
          <p:nvPr/>
        </p:nvSpPr>
        <p:spPr>
          <a:xfrm>
            <a:off x="4475378" y="1737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BUT THE BASE IS NARROW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8218" y="2423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from two customers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38218" y="27157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+ Sona Comstar concentration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338218" y="33375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10.1%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38218" y="36301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on record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338218" y="42519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FY26-27 revenue −42%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38218" y="45445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YoY, cause unconfirmed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338218" y="51663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CTC untested at new pace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8218" y="54589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1.51% of turnover, thinner year ahead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127797" y="173736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E8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8264957" y="1737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EXTEND THE MOAT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27797" y="2423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RDSO fresh registration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7797" y="27157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accreditation, cast-steel bogie parts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8127797" y="33375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Komatsu PO conversion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27797" y="36301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invested, contract signed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127797" y="42519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+ Sona Comstar converting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27797" y="45445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 trial, repricing concluded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8127797" y="51663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consultant's pivot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27797" y="545896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capex, unfamiliar metallurgy, fresh qualification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— MUTUALLY EXCLUSIVE, COLLECTIVELY EXHAUSTIVE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in exactly one cell, by what it is — not what it proves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4480560"/>
        </p:xfrm>
        <a:graphic>
          <a:graphicData uri="http://schemas.openxmlformats.org/drawingml/2006/table">
            <a:tbl>
              <a:tblPr/>
              <a:tblGrid>
                <a:gridCol w="1417320"/>
                <a:gridCol w="3410712"/>
                <a:gridCol w="3410712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&amp; Qualification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(controllable)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₹25.74 Cr revenue, +26.11% 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₹182.03L net profit; losses set 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Capex ₹9.7L → ₹181.84L, 5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Utilization 55% → 81% (2018-25)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No.3 furnace completed, ₹80.68L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Rejection rate 10.1%, worst on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Tega: Sweden trial 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Sona Comstar: repricing concluded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Komatsu: qualified, PO awaited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~80% revenue from 2 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(market-given)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~1,700 of 4,500-5,000 Indian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foundries accredited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Coke crisis consolidating the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unaccredited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RDSO fresh-registration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now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CBAM de-minimis + US tariff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stack on the export 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Qualification lock-in protects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Datre at Sona Comstar/Komatsu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Same lock-in works against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Datre as a new entrant elsewhere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5 WHYS — CHAIN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net margin still below the 7-8% peer benchmark?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and scrap absorb margin that would otherwise reach the bottom line.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464040" y="160020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3F8F5F"/>
          </a:solidFill>
          <a:ln/>
        </p:spPr>
      </p:sp>
      <p:sp>
        <p:nvSpPr>
          <p:cNvPr id="8" name="Text 6"/>
          <p:cNvSpPr/>
          <p:nvPr/>
        </p:nvSpPr>
        <p:spPr>
          <a:xfrm>
            <a:off x="9464040" y="1600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310896" cy="3108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mix has shifted toward heavier heat-treatment, tighter-tolerance castings — less forgiving than the plant's original 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464040" y="231343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3F8F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23134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310896" cy="3108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16" name="Text 14"/>
          <p:cNvSpPr/>
          <p:nvPr/>
        </p:nvSpPr>
        <p:spPr>
          <a:xfrm>
            <a:off x="1051560" y="2980944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1996 setup was built around a planned valve-manufacturing partnership.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64040" y="302666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3026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HISTORY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739896"/>
            <a:ext cx="310896" cy="3108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21" name="Text 19"/>
          <p:cNvSpPr/>
          <p:nvPr/>
        </p:nvSpPr>
        <p:spPr>
          <a:xfrm>
            <a:off x="1051560" y="3694176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overseas technology collaboration didn't develop as planned, forcing a pivot to a more defensible product on the same assets.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4040" y="3739896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3739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HISTORY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4453128"/>
            <a:ext cx="310896" cy="3108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4" dirty="0"/>
          </a:p>
        </p:txBody>
      </p:sp>
      <p:sp>
        <p:nvSpPr>
          <p:cNvPr id="26" name="Text 24"/>
          <p:cNvSpPr/>
          <p:nvPr/>
        </p:nvSpPr>
        <p:spPr>
          <a:xfrm>
            <a:off x="1051560" y="4407408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Re-tooling for the new mix has been funded incrementally against a balance sheet that was negative until this year.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64040" y="4453128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3F8F5F"/>
          </a:solidFill>
          <a:ln/>
        </p:spPr>
      </p:sp>
      <p:sp>
        <p:nvSpPr>
          <p:cNvPr id="28" name="Text 26"/>
          <p:cNvSpPr/>
          <p:nvPr/>
        </p:nvSpPr>
        <p:spPr>
          <a:xfrm>
            <a:off x="9464040" y="4453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5239512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C1F26"/>
          </a:solidFill>
          <a:ln w="19050">
            <a:solidFill>
              <a:srgbClr val="D962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492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586984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gap isn't a new operating problem — it's the unfinished tail of a 25-30 year-old strategic pivot that the plant's tooling and capital base are only now catching up to. Finish the heat-treatment and quality investment already underway; don't start a new one.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5 WHYS — CHAIN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Q1 FY2026-27 revenue fall 42% YoY?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10500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as fact — no customer-by-customer or order-timing breakdown has been reviewed that explains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9" name="Text 7"/>
          <p:cNvSpPr/>
          <p:nvPr/>
        </p:nvSpPr>
        <p:spPr>
          <a:xfrm>
            <a:off x="1143000" y="2834640"/>
            <a:ext cx="10500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materials reviewed report the aggregate revenue line, not the order book behind it — a timing gap at one large customer and a genuine demand slowdown would look identical from here.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F4F5F7"/>
          </a:solidFill>
          <a:ln w="12700">
            <a:solidFill>
              <a:srgbClr val="6B768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3-5 NEED REAL DATA, NOT 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553712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customer-by-customer order-book comparison against Q1 FY2025-26.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whether this tracks a single account (Tega or Sona Comstar) or is broad-based.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gap is timing or a genuine falloff.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management's five whys to finish with real data — not one to guess at from outside. Leaving it open here is the honest finding.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answer, three ways of checking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/>
          <p:nvPr/>
        </p:nvSpPr>
        <p:spPr>
          <a:xfrm>
            <a:off x="1115568" y="1801368"/>
            <a:ext cx="105274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Minto said it first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2212848"/>
            <a:ext cx="10527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turnaround is real but narrow — defend and convert the existing accredited base before funding a new 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115568" y="3035808"/>
            <a:ext cx="105274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showed nothing was missing or double-counted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3447288"/>
            <a:ext cx="10527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clean cells — internal and external, financial, operational, and relationship — all pointing the same direction.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1115568" y="4270248"/>
            <a:ext cx="105274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separated what's known from what isn't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4681728"/>
            <a:ext cx="10527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gap traces to a real, 25-year root cause worth finishing. The Q1 revenue drop does not yet have one — that gap is the next task, not a guess to paper over.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262B3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321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disciplines, pointed at the same facts, land on the same answer — that convergence is what makes it a recommendation rather than an opinion.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DATRE CORPORATION LIMITED  |  CONFIDENTIAL — PREPARED FOR BOARD DISCUSSION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Datre Corporation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Datre Corporation Limited — Situation, Structured</dc:title>
  <dc:subject>PptxGenJS Presentation</dc:subject>
  <dc:creator>Datre Corporation Limited</dc:creator>
  <cp:lastModifiedBy>Datre Corporation Limited</cp:lastModifiedBy>
  <cp:revision>1</cp:revision>
  <dcterms:created xsi:type="dcterms:W3CDTF">2026-10-01T08:54:21Z</dcterms:created>
  <dcterms:modified xsi:type="dcterms:W3CDTF">2026-10-01T08:54:21Z</dcterms:modified>
</cp:coreProperties>
</file>