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Utilization %</c:v>
                </c:pt>
              </c:strCache>
            </c:strRef>
          </c:tx>
          <c:spPr>
            <a:solidFill>
              <a:srgbClr val="6B7684"/>
            </a:solidFill>
            <a:effectLst/>
          </c:spPr>
          <c:invertIfNegative val="0"/>
          <c:dLbls>
            <c:numFmt formatCode="0&quot;%&quot;" sourceLinked="0"/>
            <c:txPr>
              <a:bodyPr/>
              <a:lstStyle/>
              <a:p>
                <a:pPr>
                  <a:defRPr b="0" i="0" strike="noStrike" sz="1300" u="none">
                    <a:solidFill>
                      <a:srgbClr val="1C1F26"/>
                    </a:solidFill>
                    <a:latin typeface="Arial"/>
                  </a:defRPr>
                </a:pPr>
              </a:p>
            </c:txPr>
            <c:showLegendKey val="0"/>
            <c:showVal val="1"/>
            <c:showCatName val="0"/>
            <c:showSerName val="0"/>
            <c:showPercent val="0"/>
            <c:showBubbleSize val="0"/>
            <c:showLeaderLines val="0"/>
          </c:dLbls>
          <c:dPt>
            <c:idx val="0"/>
            <c:invertIfNegative val="0"/>
            <c:bubble3D val="0"/>
            <c:spPr>
              <a:solidFill>
                <a:srgbClr val="6B7684"/>
              </a:solidFill>
              <a:effectLst/>
            </c:spPr>
          </c:dPt>
          <c:dPt>
            <c:idx val="1"/>
            <c:invertIfNegative val="0"/>
            <c:bubble3D val="0"/>
            <c:spPr>
              <a:solidFill>
                <a:srgbClr val="D9622B"/>
              </a:solidFill>
              <a:effectLst/>
            </c:spPr>
          </c:dPt>
          <c:cat>
            <c:multiLvlStrRef>
              <c:f>Sheet1!$A$2:$A$3</c:f>
              <c:multiLvlStrCache>
                <c:ptCount val="2"/>
                <c:lvl>
                  <c:pt idx="0">
                    <c:v>2018</c:v>
                  </c:pt>
                  <c:pt idx="1">
                    <c:v>2025 (Aug)</c:v>
                  </c:pt>
                </c:lvl>
              </c:multiLvlStrCache>
            </c:multiLvlStrRef>
          </c:cat>
          <c:val>
            <c:numRef>
              <c:f>Sheet1!$B$2:$B$3</c:f>
              <c:numCache>
                <c:formatCode>General</c:formatCode>
                <c:ptCount val="2"/>
                <c:pt idx="0">
                  <c:v>55</c:v>
                </c:pt>
                <c:pt idx="1">
                  <c:v>81</c:v>
                </c:pt>
              </c:numCache>
            </c:numRef>
          </c:val>
        </c:ser>
        <c:dLbls>
          <c:numFmt formatCode="0&quot;%&quot;" sourceLinked="0"/>
          <c:txPr>
            <a:bodyPr/>
            <a:lstStyle/>
            <a:p>
              <a:pPr>
                <a:defRPr b="0" i="0" strike="noStrike" sz="1300" u="none">
                  <a:solidFill>
                    <a:srgbClr val="1C1F26"/>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A4553"/>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1E4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3A4553"/>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692640" y="-1280160"/>
            <a:ext cx="4754880" cy="4754880"/>
          </a:xfrm>
          <a:prstGeom prst="ellipse">
            <a:avLst/>
          </a:prstGeom>
          <a:solidFill>
            <a:srgbClr val="262B34"/>
          </a:solidFill>
          <a:ln/>
        </p:spPr>
      </p:sp>
      <p:sp>
        <p:nvSpPr>
          <p:cNvPr id="3" name="Shape 1"/>
          <p:cNvSpPr/>
          <p:nvPr/>
        </p:nvSpPr>
        <p:spPr>
          <a:xfrm>
            <a:off x="-1463040" y="4572000"/>
            <a:ext cx="3657600" cy="3657600"/>
          </a:xfrm>
          <a:prstGeom prst="ellipse">
            <a:avLst/>
          </a:prstGeom>
          <a:solidFill>
            <a:srgbClr val="262B34"/>
          </a:solidFill>
          <a:ln/>
        </p:spPr>
      </p:sp>
      <p:sp>
        <p:nvSpPr>
          <p:cNvPr id="4" name="Text 2"/>
          <p:cNvSpPr/>
          <p:nvPr/>
        </p:nvSpPr>
        <p:spPr>
          <a:xfrm>
            <a:off x="548640" y="1828800"/>
            <a:ext cx="9144000" cy="320040"/>
          </a:xfrm>
          <a:prstGeom prst="rect">
            <a:avLst/>
          </a:prstGeom>
          <a:noFill/>
          <a:ln/>
        </p:spPr>
        <p:txBody>
          <a:bodyPr wrap="square" lIns="0" tIns="0" rIns="0" bIns="0" rtlCol="0" anchor="ctr"/>
          <a:lstStyle/>
          <a:p>
            <a:pPr indent="0" marL="0">
              <a:buNone/>
            </a:pPr>
            <a:r>
              <a:rPr lang="en-US" sz="1200" b="1" spc="200" kern="0" dirty="0">
                <a:solidFill>
                  <a:srgbClr val="D9622B"/>
                </a:solidFill>
                <a:latin typeface="Calibri" pitchFamily="34" charset="0"/>
                <a:ea typeface="Calibri" pitchFamily="34" charset="-122"/>
                <a:cs typeface="Calibri" pitchFamily="34" charset="-120"/>
              </a:rPr>
              <a:t>BOARD / INVESTOR BRIEFING</a:t>
            </a:r>
            <a:endParaRPr lang="en-US" sz="1200" dirty="0"/>
          </a:p>
        </p:txBody>
      </p:sp>
      <p:sp>
        <p:nvSpPr>
          <p:cNvPr id="5" name="Text 3"/>
          <p:cNvSpPr/>
          <p:nvPr/>
        </p:nvSpPr>
        <p:spPr>
          <a:xfrm>
            <a:off x="548640" y="2194560"/>
            <a:ext cx="10515600" cy="13716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Idle-Capacity Pitch: A Reality Check</a:t>
            </a:r>
            <a:endParaRPr lang="en-US" sz="3800" dirty="0"/>
          </a:p>
        </p:txBody>
      </p:sp>
      <p:sp>
        <p:nvSpPr>
          <p:cNvPr id="6" name="Text 4"/>
          <p:cNvSpPr/>
          <p:nvPr/>
        </p:nvSpPr>
        <p:spPr>
          <a:xfrm>
            <a:off x="548640" y="3337560"/>
            <a:ext cx="9601200" cy="731520"/>
          </a:xfrm>
          <a:prstGeom prst="rect">
            <a:avLst/>
          </a:prstGeom>
          <a:noFill/>
          <a:ln/>
        </p:spPr>
        <p:txBody>
          <a:bodyPr wrap="square" lIns="0" tIns="0" rIns="0" bIns="0" rtlCol="0" anchor="ctr"/>
          <a:lstStyle/>
          <a:p>
            <a:pPr indent="0" marL="0">
              <a:lnSpc>
                <a:spcPct val="120000"/>
              </a:lnSpc>
              <a:buNone/>
            </a:pPr>
            <a:r>
              <a:rPr lang="en-US" sz="1500" i="1" dirty="0">
                <a:solidFill>
                  <a:srgbClr val="CBD3DC"/>
                </a:solidFill>
                <a:latin typeface="Calibri" pitchFamily="34" charset="0"/>
                <a:ea typeface="Calibri" pitchFamily="34" charset="-122"/>
                <a:cs typeface="Calibri" pitchFamily="34" charset="-120"/>
              </a:rPr>
              <a:t>Why a consultant-led push into stainless and duplex castings is the wrong bet, at the wrong time — and what to fund instead</a:t>
            </a:r>
            <a:endParaRPr lang="en-US" sz="1500" dirty="0"/>
          </a:p>
        </p:txBody>
      </p:sp>
      <p:sp>
        <p:nvSpPr>
          <p:cNvPr id="7" name="Text 5"/>
          <p:cNvSpPr/>
          <p:nvPr/>
        </p:nvSpPr>
        <p:spPr>
          <a:xfrm>
            <a:off x="548640" y="6035040"/>
            <a:ext cx="9144000" cy="365760"/>
          </a:xfrm>
          <a:prstGeom prst="rect">
            <a:avLst/>
          </a:prstGeom>
          <a:noFill/>
          <a:ln/>
        </p:spPr>
        <p:txBody>
          <a:bodyPr wrap="square" lIns="0" tIns="0" rIns="0" bIns="0" rtlCol="0" anchor="ctr"/>
          <a:lstStyle/>
          <a:p>
            <a:pPr indent="0" marL="0">
              <a:buNone/>
            </a:pPr>
            <a:r>
              <a:rPr lang="en-US" sz="1100" dirty="0">
                <a:solidFill>
                  <a:srgbClr val="9AA2AD"/>
                </a:solidFill>
                <a:latin typeface="Calibri" pitchFamily="34" charset="0"/>
                <a:ea typeface="Calibri" pitchFamily="34" charset="-122"/>
                <a:cs typeface="Calibri" pitchFamily="34" charset="-120"/>
              </a:rPr>
              <a:t>Datre Corporation Limited  ·  Prepared for the Board and current investors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PITCH ON THE TABLE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What a consultant has proposed — stated plainly</a:t>
            </a:r>
            <a:endParaRPr lang="en-US" sz="2800" dirty="0"/>
          </a:p>
        </p:txBody>
      </p:sp>
      <p:sp>
        <p:nvSpPr>
          <p:cNvPr id="4" name="Shape 2"/>
          <p:cNvSpPr/>
          <p:nvPr/>
        </p:nvSpPr>
        <p:spPr>
          <a:xfrm>
            <a:off x="548640" y="1783080"/>
            <a:ext cx="11094415" cy="960120"/>
          </a:xfrm>
          <a:prstGeom prst="roundRect">
            <a:avLst>
              <a:gd name="adj" fmla="val 5714"/>
            </a:avLst>
          </a:prstGeom>
          <a:solidFill>
            <a:srgbClr val="F4F5F7"/>
          </a:solidFill>
          <a:ln/>
        </p:spPr>
      </p:sp>
      <p:sp>
        <p:nvSpPr>
          <p:cNvPr id="5" name="Text 3"/>
          <p:cNvSpPr/>
          <p:nvPr/>
        </p:nvSpPr>
        <p:spPr>
          <a:xfrm>
            <a:off x="822960" y="1892808"/>
            <a:ext cx="2103120" cy="731520"/>
          </a:xfrm>
          <a:prstGeom prst="rect">
            <a:avLst/>
          </a:prstGeom>
          <a:noFill/>
          <a:ln/>
        </p:spPr>
        <p:txBody>
          <a:bodyPr wrap="square" lIns="0" tIns="0" rIns="0" bIns="0" rtlCol="0" anchor="t"/>
          <a:lstStyle/>
          <a:p>
            <a:pPr indent="0" marL="0">
              <a:buNone/>
            </a:pPr>
            <a:r>
              <a:rPr lang="en-US" sz="1100" b="1" spc="100" kern="0" dirty="0">
                <a:solidFill>
                  <a:srgbClr val="D9622B"/>
                </a:solidFill>
                <a:latin typeface="Calibri" pitchFamily="34" charset="0"/>
                <a:ea typeface="Calibri" pitchFamily="34" charset="-122"/>
                <a:cs typeface="Calibri" pitchFamily="34" charset="-120"/>
              </a:rPr>
              <a:t>THE CLAIM</a:t>
            </a:r>
            <a:endParaRPr lang="en-US" sz="1100" dirty="0"/>
          </a:p>
        </p:txBody>
      </p:sp>
      <p:sp>
        <p:nvSpPr>
          <p:cNvPr id="6" name="Text 4"/>
          <p:cNvSpPr/>
          <p:nvPr/>
        </p:nvSpPr>
        <p:spPr>
          <a:xfrm>
            <a:off x="3108960" y="1874520"/>
            <a:ext cx="8259775" cy="777240"/>
          </a:xfrm>
          <a:prstGeom prst="rect">
            <a:avLst/>
          </a:prstGeom>
          <a:noFill/>
          <a:ln/>
        </p:spPr>
        <p:txBody>
          <a:bodyPr wrap="square" lIns="0" tIns="0" rIns="0" bIns="0" rtlCol="0" anchor="ctr"/>
          <a:lstStyle/>
          <a:p>
            <a:pPr indent="0" marL="0">
              <a:lnSpc>
                <a:spcPct val="115000"/>
              </a:lnSpc>
              <a:buNone/>
            </a:pPr>
            <a:r>
              <a:rPr lang="en-US" sz="1100" dirty="0">
                <a:solidFill>
                  <a:srgbClr val="1C1F26"/>
                </a:solidFill>
                <a:latin typeface="Calibri" pitchFamily="34" charset="0"/>
                <a:ea typeface="Calibri" pitchFamily="34" charset="-122"/>
                <a:cs typeface="Calibri" pitchFamily="34" charset="-120"/>
              </a:rPr>
              <a:t>Datre is using only 30-35% of its 7,000 MT melting capacity — 'less than one-third of the productive infrastructure you have already built and paid for.'</a:t>
            </a:r>
            <a:endParaRPr lang="en-US" sz="1100" dirty="0"/>
          </a:p>
        </p:txBody>
      </p:sp>
      <p:sp>
        <p:nvSpPr>
          <p:cNvPr id="7" name="Shape 5"/>
          <p:cNvSpPr/>
          <p:nvPr/>
        </p:nvSpPr>
        <p:spPr>
          <a:xfrm>
            <a:off x="548640" y="2880360"/>
            <a:ext cx="11094415" cy="960120"/>
          </a:xfrm>
          <a:prstGeom prst="roundRect">
            <a:avLst>
              <a:gd name="adj" fmla="val 5714"/>
            </a:avLst>
          </a:prstGeom>
          <a:solidFill>
            <a:srgbClr val="F4F5F7"/>
          </a:solidFill>
          <a:ln/>
        </p:spPr>
      </p:sp>
      <p:sp>
        <p:nvSpPr>
          <p:cNvPr id="8" name="Text 6"/>
          <p:cNvSpPr/>
          <p:nvPr/>
        </p:nvSpPr>
        <p:spPr>
          <a:xfrm>
            <a:off x="822960" y="2990088"/>
            <a:ext cx="2103120" cy="731520"/>
          </a:xfrm>
          <a:prstGeom prst="rect">
            <a:avLst/>
          </a:prstGeom>
          <a:noFill/>
          <a:ln/>
        </p:spPr>
        <p:txBody>
          <a:bodyPr wrap="square" lIns="0" tIns="0" rIns="0" bIns="0" rtlCol="0" anchor="t"/>
          <a:lstStyle/>
          <a:p>
            <a:pPr indent="0" marL="0">
              <a:buNone/>
            </a:pPr>
            <a:r>
              <a:rPr lang="en-US" sz="1100" b="1" spc="100" kern="0" dirty="0">
                <a:solidFill>
                  <a:srgbClr val="D9622B"/>
                </a:solidFill>
                <a:latin typeface="Calibri" pitchFamily="34" charset="0"/>
                <a:ea typeface="Calibri" pitchFamily="34" charset="-122"/>
                <a:cs typeface="Calibri" pitchFamily="34" charset="-120"/>
              </a:rPr>
              <a:t>THE OPPORTUNITY</a:t>
            </a:r>
            <a:endParaRPr lang="en-US" sz="1100" dirty="0"/>
          </a:p>
        </p:txBody>
      </p:sp>
      <p:sp>
        <p:nvSpPr>
          <p:cNvPr id="9" name="Text 7"/>
          <p:cNvSpPr/>
          <p:nvPr/>
        </p:nvSpPr>
        <p:spPr>
          <a:xfrm>
            <a:off x="3108960" y="2971800"/>
            <a:ext cx="8259775" cy="777240"/>
          </a:xfrm>
          <a:prstGeom prst="rect">
            <a:avLst/>
          </a:prstGeom>
          <a:noFill/>
          <a:ln/>
        </p:spPr>
        <p:txBody>
          <a:bodyPr wrap="square" lIns="0" tIns="0" rIns="0" bIns="0" rtlCol="0" anchor="ctr"/>
          <a:lstStyle/>
          <a:p>
            <a:pPr indent="0" marL="0">
              <a:lnSpc>
                <a:spcPct val="115000"/>
              </a:lnSpc>
              <a:buNone/>
            </a:pPr>
            <a:r>
              <a:rPr lang="en-US" sz="1100" dirty="0">
                <a:solidFill>
                  <a:srgbClr val="1C1F26"/>
                </a:solidFill>
                <a:latin typeface="Calibri" pitchFamily="34" charset="0"/>
                <a:ea typeface="Calibri" pitchFamily="34" charset="-122"/>
                <a:cs typeface="Calibri" pitchFamily="34" charset="-120"/>
              </a:rPr>
              <a:t>Current products realise ~₹180-280/kg. Stainless, duplex stainless and special-alloy castings for Oil &amp; Gas, Marine and Petrochemical customers realise ~₹400-2,500/kg.</a:t>
            </a:r>
            <a:endParaRPr lang="en-US" sz="1100" dirty="0"/>
          </a:p>
        </p:txBody>
      </p:sp>
      <p:sp>
        <p:nvSpPr>
          <p:cNvPr id="10" name="Shape 8"/>
          <p:cNvSpPr/>
          <p:nvPr/>
        </p:nvSpPr>
        <p:spPr>
          <a:xfrm>
            <a:off x="548640" y="3977640"/>
            <a:ext cx="11094415" cy="960120"/>
          </a:xfrm>
          <a:prstGeom prst="roundRect">
            <a:avLst>
              <a:gd name="adj" fmla="val 5714"/>
            </a:avLst>
          </a:prstGeom>
          <a:solidFill>
            <a:srgbClr val="F4F5F7"/>
          </a:solidFill>
          <a:ln/>
        </p:spPr>
      </p:sp>
      <p:sp>
        <p:nvSpPr>
          <p:cNvPr id="11" name="Text 9"/>
          <p:cNvSpPr/>
          <p:nvPr/>
        </p:nvSpPr>
        <p:spPr>
          <a:xfrm>
            <a:off x="822960" y="4087368"/>
            <a:ext cx="2103120" cy="731520"/>
          </a:xfrm>
          <a:prstGeom prst="rect">
            <a:avLst/>
          </a:prstGeom>
          <a:noFill/>
          <a:ln/>
        </p:spPr>
        <p:txBody>
          <a:bodyPr wrap="square" lIns="0" tIns="0" rIns="0" bIns="0" rtlCol="0" anchor="t"/>
          <a:lstStyle/>
          <a:p>
            <a:pPr indent="0" marL="0">
              <a:buNone/>
            </a:pPr>
            <a:r>
              <a:rPr lang="en-US" sz="1100" b="1" spc="100" kern="0" dirty="0">
                <a:solidFill>
                  <a:srgbClr val="D9622B"/>
                </a:solidFill>
                <a:latin typeface="Calibri" pitchFamily="34" charset="0"/>
                <a:ea typeface="Calibri" pitchFamily="34" charset="-122"/>
                <a:cs typeface="Calibri" pitchFamily="34" charset="-120"/>
              </a:rPr>
              <a:t>THE ASK</a:t>
            </a:r>
            <a:endParaRPr lang="en-US" sz="1100" dirty="0"/>
          </a:p>
        </p:txBody>
      </p:sp>
      <p:sp>
        <p:nvSpPr>
          <p:cNvPr id="12" name="Text 10"/>
          <p:cNvSpPr/>
          <p:nvPr/>
        </p:nvSpPr>
        <p:spPr>
          <a:xfrm>
            <a:off x="3108960" y="4069080"/>
            <a:ext cx="8259775" cy="777240"/>
          </a:xfrm>
          <a:prstGeom prst="rect">
            <a:avLst/>
          </a:prstGeom>
          <a:noFill/>
          <a:ln/>
        </p:spPr>
        <p:txBody>
          <a:bodyPr wrap="square" lIns="0" tIns="0" rIns="0" bIns="0" rtlCol="0" anchor="ctr"/>
          <a:lstStyle/>
          <a:p>
            <a:pPr indent="0" marL="0">
              <a:lnSpc>
                <a:spcPct val="115000"/>
              </a:lnSpc>
              <a:buNone/>
            </a:pPr>
            <a:r>
              <a:rPr lang="en-US" sz="1100" dirty="0">
                <a:solidFill>
                  <a:srgbClr val="1C1F26"/>
                </a:solidFill>
                <a:latin typeface="Calibri" pitchFamily="34" charset="0"/>
                <a:ea typeface="Calibri" pitchFamily="34" charset="-122"/>
                <a:cs typeface="Calibri" pitchFamily="34" charset="-120"/>
              </a:rPr>
              <a:t>A ₹3.5-5.5 Cr capex programme — AOD converter for duplex chemistry control, OES spectrometer upgrade, NDT equipment, new pattern sets — plus a one-year advisory engagement to manage vendor selection and open OEM/PSU doors.</a:t>
            </a:r>
            <a:endParaRPr lang="en-US" sz="1100" dirty="0"/>
          </a:p>
        </p:txBody>
      </p:sp>
      <p:sp>
        <p:nvSpPr>
          <p:cNvPr id="13" name="Shape 11"/>
          <p:cNvSpPr/>
          <p:nvPr/>
        </p:nvSpPr>
        <p:spPr>
          <a:xfrm>
            <a:off x="548640" y="5074920"/>
            <a:ext cx="11094415" cy="960120"/>
          </a:xfrm>
          <a:prstGeom prst="roundRect">
            <a:avLst>
              <a:gd name="adj" fmla="val 5714"/>
            </a:avLst>
          </a:prstGeom>
          <a:solidFill>
            <a:srgbClr val="F4F5F7"/>
          </a:solidFill>
          <a:ln/>
        </p:spPr>
      </p:sp>
      <p:sp>
        <p:nvSpPr>
          <p:cNvPr id="14" name="Text 12"/>
          <p:cNvSpPr/>
          <p:nvPr/>
        </p:nvSpPr>
        <p:spPr>
          <a:xfrm>
            <a:off x="822960" y="5184648"/>
            <a:ext cx="2103120" cy="731520"/>
          </a:xfrm>
          <a:prstGeom prst="rect">
            <a:avLst/>
          </a:prstGeom>
          <a:noFill/>
          <a:ln/>
        </p:spPr>
        <p:txBody>
          <a:bodyPr wrap="square" lIns="0" tIns="0" rIns="0" bIns="0" rtlCol="0" anchor="t"/>
          <a:lstStyle/>
          <a:p>
            <a:pPr indent="0" marL="0">
              <a:buNone/>
            </a:pPr>
            <a:r>
              <a:rPr lang="en-US" sz="1100" b="1" spc="100" kern="0" dirty="0">
                <a:solidFill>
                  <a:srgbClr val="D9622B"/>
                </a:solidFill>
                <a:latin typeface="Calibri" pitchFamily="34" charset="0"/>
                <a:ea typeface="Calibri" pitchFamily="34" charset="-122"/>
                <a:cs typeface="Calibri" pitchFamily="34" charset="-120"/>
              </a:rPr>
              <a:t>THE FRAMING</a:t>
            </a:r>
            <a:endParaRPr lang="en-US" sz="1100" dirty="0"/>
          </a:p>
        </p:txBody>
      </p:sp>
      <p:sp>
        <p:nvSpPr>
          <p:cNvPr id="15" name="Text 13"/>
          <p:cNvSpPr/>
          <p:nvPr/>
        </p:nvSpPr>
        <p:spPr>
          <a:xfrm>
            <a:off x="3108960" y="5166360"/>
            <a:ext cx="8259775" cy="777240"/>
          </a:xfrm>
          <a:prstGeom prst="rect">
            <a:avLst/>
          </a:prstGeom>
          <a:noFill/>
          <a:ln/>
        </p:spPr>
        <p:txBody>
          <a:bodyPr wrap="square" lIns="0" tIns="0" rIns="0" bIns="0" rtlCol="0" anchor="ctr"/>
          <a:lstStyle/>
          <a:p>
            <a:pPr indent="0" marL="0">
              <a:lnSpc>
                <a:spcPct val="115000"/>
              </a:lnSpc>
              <a:buNone/>
            </a:pPr>
            <a:r>
              <a:rPr lang="en-US" sz="1100" dirty="0">
                <a:solidFill>
                  <a:srgbClr val="1C1F26"/>
                </a:solidFill>
                <a:latin typeface="Calibri" pitchFamily="34" charset="0"/>
                <a:ea typeface="Calibri" pitchFamily="34" charset="-122"/>
                <a:cs typeface="Calibri" pitchFamily="34" charset="-120"/>
              </a:rPr>
              <a:t>Fast, low-risk margin and turnover improvement, from capacity you already own.</a:t>
            </a:r>
            <a:endParaRPr lang="en-US" sz="1100" dirty="0"/>
          </a:p>
        </p:txBody>
      </p:sp>
      <p:sp>
        <p:nvSpPr>
          <p:cNvPr id="16" name="Text 14"/>
          <p:cNvSpPr/>
          <p:nvPr/>
        </p:nvSpPr>
        <p:spPr>
          <a:xfrm>
            <a:off x="548640" y="6263640"/>
            <a:ext cx="11094415" cy="365760"/>
          </a:xfrm>
          <a:prstGeom prst="rect">
            <a:avLst/>
          </a:prstGeom>
          <a:noFill/>
          <a:ln/>
        </p:spPr>
        <p:txBody>
          <a:bodyPr wrap="square" lIns="0" tIns="0" rIns="0" bIns="0" rtlCol="0" anchor="ctr"/>
          <a:lstStyle/>
          <a:p>
            <a:pPr indent="0" marL="0">
              <a:buNone/>
            </a:pPr>
            <a:r>
              <a:rPr lang="en-US" sz="950" i="1" dirty="0">
                <a:solidFill>
                  <a:srgbClr val="6B7684"/>
                </a:solidFill>
                <a:latin typeface="Calibri" pitchFamily="34" charset="0"/>
                <a:ea typeface="Calibri" pitchFamily="34" charset="-122"/>
                <a:cs typeface="Calibri" pitchFamily="34" charset="-120"/>
              </a:rPr>
              <a:t>This deck takes the proposal at face value and tests each claim against Datre's own audited and internal data — not against the consultant's framing of it.</a:t>
            </a:r>
            <a:endParaRPr lang="en-US" sz="950" dirty="0"/>
          </a:p>
        </p:txBody>
      </p:sp>
      <p:sp>
        <p:nvSpPr>
          <p:cNvPr id="17" name="Text 15"/>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8" name="Text 16"/>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SCORECARD</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Their claim, point by point, against Datre's own record</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4709160"/>
        </p:xfrm>
        <a:graphic>
          <a:graphicData uri="http://schemas.openxmlformats.org/drawingml/2006/table">
            <a:tbl>
              <a:tblPr/>
              <a:tblGrid>
                <a:gridCol w="4160520"/>
                <a:gridCol w="5193792"/>
                <a:gridCol w="192024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Consultant's claim</a:t>
                      </a:r>
                      <a:endParaRPr lang="en-US" sz="1050" dirty="0">
                        <a:latin typeface="Calibri" charset="0"/>
                        <a:ea typeface="Calibri" charset="0"/>
                        <a:cs typeface="Calibri" charset="0"/>
                      </a:endParaRPr>
                    </a:p>
                  </a:txBody>
                  <a:tcPr marL="76200" marR="76200" marT="50800" marB="508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1C1F2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Datre's reality</a:t>
                      </a:r>
                      <a:endParaRPr lang="en-US" sz="1050" dirty="0">
                        <a:latin typeface="Calibri" charset="0"/>
                        <a:ea typeface="Calibri" charset="0"/>
                        <a:cs typeface="Calibri" charset="0"/>
                      </a:endParaRPr>
                    </a:p>
                  </a:txBody>
                  <a:tcPr marL="76200" marR="76200" marT="50800" marB="508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1C1F26"/>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76200" marR="76200" marT="50800" marB="508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1C1F26"/>
                    </a:solidFill>
                  </a:tcPr>
                </a:tc>
              </a:tr>
              <a:tr h="914400">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Only 30-35% of melting capacity is used — capacity is idle.</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Real utilization is ~81% (Aug 2025), up from ~55% (2018). Their ratio uses melting tonnage; the plant's actual bottleneck is heat-treatment and fettling time.</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453F"/>
                          </a:solidFill>
                          <a:latin typeface="Calibri" pitchFamily="34" charset="0"/>
                          <a:ea typeface="Calibri" pitchFamily="34" charset="-122"/>
                          <a:cs typeface="Calibri" pitchFamily="34" charset="-120"/>
                        </a:rPr>
                        <a:t>WRONG</a:t>
                      </a:r>
                      <a:endParaRPr lang="en-US" sz="1000" dirty="0">
                        <a:latin typeface="Calibri" charset="0"/>
                        <a:ea typeface="Calibri" charset="0"/>
                        <a:cs typeface="Calibri" charset="0"/>
                      </a:endParaRPr>
                    </a:p>
                    <a:p>
                      <a:pPr algn="ctr" indent="0" marL="0">
                        <a:buNone/>
                      </a:pPr>
                      <a:r>
                        <a:rPr lang="en-US" sz="1000" b="1" dirty="0">
                          <a:solidFill>
                            <a:srgbClr val="B8453F"/>
                          </a:solidFill>
                          <a:latin typeface="Calibri" pitchFamily="34" charset="0"/>
                          <a:ea typeface="Calibri" pitchFamily="34" charset="-122"/>
                          <a:cs typeface="Calibri" pitchFamily="34" charset="-120"/>
                        </a:rPr>
                        <a:t>DENOMINATOR</a:t>
                      </a:r>
                      <a:endParaRPr lang="en-US" sz="1000" dirty="0">
                        <a:latin typeface="Calibri" charset="0"/>
                        <a:ea typeface="Calibri" charset="0"/>
                        <a:cs typeface="Calibri" charset="0"/>
                      </a:endParaRPr>
                    </a:p>
                  </a:txBody>
                  <a:tcPr marL="50800" marR="508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r>
              <a:tr h="914400">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Existing infrastructure — 'your EAFs' — can already produce stainless and duplex castings.</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Datre melts on induction furnaces, not EAFs. Their own scope of work asks for a new AOD converter specifically to control duplex chemistry — equipment Datre doesn't have.</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1000" b="1" dirty="0">
                          <a:solidFill>
                            <a:srgbClr val="B8453F"/>
                          </a:solidFill>
                          <a:latin typeface="Calibri" pitchFamily="34" charset="0"/>
                          <a:ea typeface="Calibri" pitchFamily="34" charset="-122"/>
                          <a:cs typeface="Calibri" pitchFamily="34" charset="-120"/>
                        </a:rPr>
                        <a:t>CONTRADICTS</a:t>
                      </a:r>
                      <a:endParaRPr lang="en-US" sz="1000" dirty="0">
                        <a:latin typeface="Calibri" charset="0"/>
                        <a:ea typeface="Calibri" charset="0"/>
                        <a:cs typeface="Calibri" charset="0"/>
                      </a:endParaRPr>
                    </a:p>
                    <a:p>
                      <a:pPr algn="ctr" indent="0" marL="0">
                        <a:buNone/>
                      </a:pPr>
                      <a:r>
                        <a:rPr lang="en-US" sz="1000" b="1" dirty="0">
                          <a:solidFill>
                            <a:srgbClr val="B8453F"/>
                          </a:solidFill>
                          <a:latin typeface="Calibri" pitchFamily="34" charset="0"/>
                          <a:ea typeface="Calibri" pitchFamily="34" charset="-122"/>
                          <a:cs typeface="Calibri" pitchFamily="34" charset="-120"/>
                        </a:rPr>
                        <a:t>ITSELF</a:t>
                      </a:r>
                      <a:endParaRPr lang="en-US" sz="1000" dirty="0">
                        <a:latin typeface="Calibri" charset="0"/>
                        <a:ea typeface="Calibri" charset="0"/>
                        <a:cs typeface="Calibri" charset="0"/>
                      </a:endParaRPr>
                    </a:p>
                  </a:txBody>
                  <a:tcPr marL="50800" marR="508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r>
              <a:tr h="868680">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This is a fast, low-risk margin and turnover improvement.</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Datre's comparable Komatsu qualification took four years and still awaits its first purchase order. NACE/API/Marine approval in an unfamiliar alloy is not faster.</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453F"/>
                          </a:solidFill>
                          <a:latin typeface="Calibri" pitchFamily="34" charset="0"/>
                          <a:ea typeface="Calibri" pitchFamily="34" charset="-122"/>
                          <a:cs typeface="Calibri" pitchFamily="34" charset="-120"/>
                        </a:rPr>
                        <a:t>OVERSTATED</a:t>
                      </a:r>
                      <a:endParaRPr lang="en-US" sz="1000" dirty="0">
                        <a:latin typeface="Calibri" charset="0"/>
                        <a:ea typeface="Calibri" charset="0"/>
                        <a:cs typeface="Calibri" charset="0"/>
                      </a:endParaRPr>
                    </a:p>
                  </a:txBody>
                  <a:tcPr marL="50800" marR="508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r>
              <a:tr h="914400">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A large global O&amp;G/Marine market means a large opportunity for Datre.</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Being qualified isn't the same as winning volume against incumbents who already hold the safety-critical track record buyers require — the same moat logic that protects Datre today.</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c>
                  <a:txBody>
                    <a:bodyPr/>
                    <a:lstStyle/>
                    <a:p>
                      <a:pPr algn="ctr" indent="0" marL="0">
                        <a:buNone/>
                      </a:pPr>
                      <a:r>
                        <a:rPr lang="en-US" sz="1000" b="1" dirty="0">
                          <a:solidFill>
                            <a:srgbClr val="B8453F"/>
                          </a:solidFill>
                          <a:latin typeface="Calibri" pitchFamily="34" charset="0"/>
                          <a:ea typeface="Calibri" pitchFamily="34" charset="-122"/>
                          <a:cs typeface="Calibri" pitchFamily="34" charset="-120"/>
                        </a:rPr>
                        <a:t>UNADDRESSED</a:t>
                      </a:r>
                      <a:endParaRPr lang="en-US" sz="1000" dirty="0">
                        <a:latin typeface="Calibri" charset="0"/>
                        <a:ea typeface="Calibri" charset="0"/>
                        <a:cs typeface="Calibri" charset="0"/>
                      </a:endParaRPr>
                    </a:p>
                  </a:txBody>
                  <a:tcPr marL="50800" marR="508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4F5F7"/>
                    </a:solidFill>
                  </a:tcPr>
                </a:tc>
              </a:tr>
              <a:tr h="914400">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₹3.5-5.5 Cr is a capital-efficient way to unlock value already built.</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indent="0" marL="0">
                        <a:buNone/>
                      </a:pPr>
                      <a:r>
                        <a:rPr lang="en-US" sz="970" dirty="0">
                          <a:solidFill>
                            <a:srgbClr val="1C1F26"/>
                          </a:solidFill>
                          <a:latin typeface="Calibri" pitchFamily="34" charset="0"/>
                          <a:ea typeface="Calibri" pitchFamily="34" charset="-122"/>
                          <a:cs typeface="Calibri" pitchFamily="34" charset="-120"/>
                        </a:rPr>
                        <a:t>That's 2-3x all of FY 2025-26 capex and 14-21% of FY 2025-26 revenue — proposed the same year net worth first turned positive and Q1 FY 2026-27 revenue fell 42% YoY.</a:t>
                      </a:r>
                      <a:endParaRPr lang="en-US" sz="970" dirty="0">
                        <a:latin typeface="Calibri" charset="0"/>
                        <a:ea typeface="Calibri" charset="0"/>
                        <a:cs typeface="Calibri" charset="0"/>
                      </a:endParaRPr>
                    </a:p>
                  </a:txBody>
                  <a:tcPr marL="76200" marR="762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8453F"/>
                          </a:solidFill>
                          <a:latin typeface="Calibri" pitchFamily="34" charset="0"/>
                          <a:ea typeface="Calibri" pitchFamily="34" charset="-122"/>
                          <a:cs typeface="Calibri" pitchFamily="34" charset="-120"/>
                        </a:rPr>
                        <a:t>MISTIMED</a:t>
                      </a:r>
                      <a:endParaRPr lang="en-US" sz="1000" dirty="0">
                        <a:latin typeface="Calibri" charset="0"/>
                        <a:ea typeface="Calibri" charset="0"/>
                        <a:cs typeface="Calibri" charset="0"/>
                      </a:endParaRPr>
                    </a:p>
                  </a:txBody>
                  <a:tcPr marL="50800" marR="50800" marT="63500" marB="63500" anchor="ctr">
                    <a:lnL w="9525" cap="flat" cmpd="sng" algn="ctr">
                      <a:solidFill>
                        <a:srgbClr val="E1E4E9"/>
                      </a:solidFill>
                      <a:prstDash val="solid"/>
                      <a:round/>
                      <a:headEnd type="none" w="med" len="med"/>
                      <a:tailEnd type="none" w="med" len="med"/>
                    </a:lnL>
                    <a:lnR w="9525" cap="flat" cmpd="sng" algn="ctr">
                      <a:solidFill>
                        <a:srgbClr val="E1E4E9"/>
                      </a:solidFill>
                      <a:prstDash val="solid"/>
                      <a:round/>
                      <a:headEnd type="none" w="med" len="med"/>
                      <a:tailEnd type="none" w="med" len="med"/>
                    </a:lnR>
                    <a:lnT w="9525" cap="flat" cmpd="sng" algn="ctr">
                      <a:solidFill>
                        <a:srgbClr val="E1E4E9"/>
                      </a:solidFill>
                      <a:prstDash val="solid"/>
                      <a:round/>
                      <a:headEnd type="none" w="med" len="med"/>
                      <a:tailEnd type="none" w="med" len="med"/>
                    </a:lnT>
                    <a:lnB w="9525" cap="flat" cmpd="sng" algn="ctr">
                      <a:solidFill>
                        <a:srgbClr val="E1E4E9"/>
                      </a:solidFill>
                      <a:prstDash val="solid"/>
                      <a:round/>
                      <a:headEnd type="none" w="med" len="med"/>
                      <a:tailEnd type="none" w="med" len="med"/>
                    </a:lnB>
                    <a:solidFill>
                      <a:srgbClr val="FFFFFF"/>
                    </a:solidFill>
                  </a:tcPr>
                </a:tc>
              </a:tr>
            </a:tbl>
          </a:graphicData>
        </a:graphic>
      </p:graphicFrame>
      <p:sp>
        <p:nvSpPr>
          <p:cNvPr id="5" name="Text 2"/>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6" name="Text 3"/>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REALITY CHECK — CAPACITY</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The capacity isn't idle — the metric is</a:t>
            </a:r>
            <a:endParaRPr lang="en-US" sz="2800" dirty="0"/>
          </a:p>
        </p:txBody>
      </p:sp>
      <p:graphicFrame>
        <p:nvGraphicFramePr>
          <p:cNvPr id="4" name="Chart 0" descr=""/>
          <p:cNvGraphicFramePr/>
          <p:nvPr/>
        </p:nvGraphicFramePr>
        <p:xfrm>
          <a:off x="548640" y="1737360"/>
          <a:ext cx="5760720" cy="32918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48640" y="5120640"/>
            <a:ext cx="5760720" cy="548640"/>
          </a:xfrm>
          <a:prstGeom prst="rect">
            <a:avLst/>
          </a:prstGeom>
          <a:noFill/>
          <a:ln/>
        </p:spPr>
        <p:txBody>
          <a:bodyPr wrap="square" lIns="0" tIns="0" rIns="0" bIns="0" rtlCol="0" anchor="ctr"/>
          <a:lstStyle/>
          <a:p>
            <a:pPr indent="0" marL="0">
              <a:lnSpc>
                <a:spcPct val="110000"/>
              </a:lnSpc>
              <a:buNone/>
            </a:pPr>
            <a:r>
              <a:rPr lang="en-US" sz="900" i="1" dirty="0">
                <a:solidFill>
                  <a:srgbClr val="6B7684"/>
                </a:solidFill>
                <a:latin typeface="Calibri" pitchFamily="34" charset="0"/>
                <a:ea typeface="Calibri" pitchFamily="34" charset="-122"/>
                <a:cs typeface="Calibri" pitchFamily="34" charset="-120"/>
              </a:rPr>
              <a:t>Datre's own internal utilization tracking (MIS records) — the same figures behind the investor deck's SWOT and moat analysis.</a:t>
            </a:r>
            <a:endParaRPr lang="en-US" sz="900" dirty="0"/>
          </a:p>
        </p:txBody>
      </p:sp>
      <p:sp>
        <p:nvSpPr>
          <p:cNvPr id="6" name="Shape 3"/>
          <p:cNvSpPr/>
          <p:nvPr/>
        </p:nvSpPr>
        <p:spPr>
          <a:xfrm>
            <a:off x="6675120" y="1737360"/>
            <a:ext cx="4967935" cy="3931920"/>
          </a:xfrm>
          <a:prstGeom prst="roundRect">
            <a:avLst>
              <a:gd name="adj" fmla="val 1860"/>
            </a:avLst>
          </a:prstGeom>
          <a:solidFill>
            <a:srgbClr val="F4F5F7"/>
          </a:solidFill>
          <a:ln/>
        </p:spPr>
      </p:sp>
      <p:sp>
        <p:nvSpPr>
          <p:cNvPr id="7" name="Text 4"/>
          <p:cNvSpPr/>
          <p:nvPr/>
        </p:nvSpPr>
        <p:spPr>
          <a:xfrm>
            <a:off x="6949440" y="1920240"/>
            <a:ext cx="4419295" cy="457200"/>
          </a:xfrm>
          <a:prstGeom prst="rect">
            <a:avLst/>
          </a:prstGeom>
          <a:noFill/>
          <a:ln/>
        </p:spPr>
        <p:txBody>
          <a:bodyPr wrap="square" lIns="0" tIns="0" rIns="0" bIns="0" rtlCol="0" anchor="ctr"/>
          <a:lstStyle/>
          <a:p>
            <a:pPr indent="0" marL="0">
              <a:lnSpc>
                <a:spcPct val="110000"/>
              </a:lnSpc>
              <a:buNone/>
            </a:pPr>
            <a:r>
              <a:rPr lang="en-US" sz="1050" b="1" spc="50" kern="0" dirty="0">
                <a:solidFill>
                  <a:srgbClr val="D9622B"/>
                </a:solidFill>
                <a:latin typeface="Calibri" pitchFamily="34" charset="0"/>
                <a:ea typeface="Calibri" pitchFamily="34" charset="-122"/>
                <a:cs typeface="Calibri" pitchFamily="34" charset="-120"/>
              </a:rPr>
              <a:t>WHY THE CONSULTANT'S NUMBER IS MISLEADING, NOT JUST WRONG</a:t>
            </a:r>
            <a:endParaRPr lang="en-US" sz="1050" dirty="0"/>
          </a:p>
        </p:txBody>
      </p:sp>
      <p:sp>
        <p:nvSpPr>
          <p:cNvPr id="8" name="Text 5"/>
          <p:cNvSpPr/>
          <p:nvPr/>
        </p:nvSpPr>
        <p:spPr>
          <a:xfrm>
            <a:off x="6949440" y="2423160"/>
            <a:ext cx="4419295" cy="3017520"/>
          </a:xfrm>
          <a:prstGeom prst="rect">
            <a:avLst/>
          </a:prstGeom>
          <a:noFill/>
          <a:ln/>
        </p:spPr>
        <p:txBody>
          <a:bodyPr wrap="square" lIns="0" tIns="0" rIns="0" bIns="0" rtlCol="0" anchor="ctr"/>
          <a:lstStyle/>
          <a:p>
            <a:pPr marL="342900" indent="-342900">
              <a:lnSpc>
                <a:spcPct val="118000"/>
              </a:lnSpc>
              <a:spcAft>
                <a:spcPts val="800"/>
              </a:spcAft>
              <a:buSzPct val="100000"/>
              <a:buChar char="•"/>
            </a:pPr>
            <a:r>
              <a:rPr lang="en-US" sz="1030" dirty="0">
                <a:solidFill>
                  <a:srgbClr val="1C1F26"/>
                </a:solidFill>
                <a:latin typeface="Calibri" pitchFamily="34" charset="0"/>
                <a:ea typeface="Calibri" pitchFamily="34" charset="-122"/>
                <a:cs typeface="Calibri" pitchFamily="34" charset="-120"/>
              </a:rPr>
              <a:t>'30-35% of melting capacity' is a crude tonnes-melted-over-7,000-MT-nameplate ratio. It can look low for a genuinely good reason: Datre's product mix has shifted toward thinner, more heavily heat-treated, higher-value-add castings — less tonnage per unit of revenue, not less work.</a:t>
            </a:r>
            <a:endParaRPr lang="en-US" sz="1030" dirty="0"/>
          </a:p>
          <a:p>
            <a:pPr marL="342900" indent="-342900">
              <a:lnSpc>
                <a:spcPct val="118000"/>
              </a:lnSpc>
              <a:spcAft>
                <a:spcPts val="800"/>
              </a:spcAft>
              <a:buSzPct val="100000"/>
              <a:buChar char="•"/>
            </a:pPr>
            <a:r>
              <a:rPr lang="en-US" sz="1030" dirty="0">
                <a:solidFill>
                  <a:srgbClr val="1C1F26"/>
                </a:solidFill>
                <a:latin typeface="Calibri" pitchFamily="34" charset="0"/>
                <a:ea typeface="Calibri" pitchFamily="34" charset="-122"/>
                <a:cs typeface="Calibri" pitchFamily="34" charset="-120"/>
              </a:rPr>
              <a:t>The real constraint the business already tracks is heat-treatment and fettling dwell time — not melting tonnage. That is the bottleneck running at ~81%.</a:t>
            </a:r>
            <a:endParaRPr lang="en-US" sz="1030" dirty="0"/>
          </a:p>
          <a:p>
            <a:pPr marL="342900" indent="-342900">
              <a:lnSpc>
                <a:spcPct val="118000"/>
              </a:lnSpc>
              <a:buSzPct val="100000"/>
              <a:buChar char="•"/>
            </a:pPr>
            <a:r>
              <a:rPr lang="en-US" sz="1030" dirty="0">
                <a:solidFill>
                  <a:srgbClr val="1C1F26"/>
                </a:solidFill>
                <a:latin typeface="Calibri" pitchFamily="34" charset="0"/>
                <a:ea typeface="Calibri" pitchFamily="34" charset="-122"/>
                <a:cs typeface="Calibri" pitchFamily="34" charset="-120"/>
              </a:rPr>
              <a:t>A firm that visited the plant and did real diligence should have surfaced this distinction, not led with the more dramatic denominator.</a:t>
            </a:r>
            <a:endParaRPr lang="en-US" sz="1030" dirty="0"/>
          </a:p>
        </p:txBody>
      </p:sp>
      <p:sp>
        <p:nvSpPr>
          <p:cNvPr id="9" name="Text 6"/>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0" name="Text 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REALITY CHECK — THE CONTRADICTION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“Already capable” and “needs new capex” can't both be true</a:t>
            </a:r>
            <a:endParaRPr lang="en-US" sz="2800" dirty="0"/>
          </a:p>
        </p:txBody>
      </p:sp>
      <p:sp>
        <p:nvSpPr>
          <p:cNvPr id="4" name="Shape 2"/>
          <p:cNvSpPr/>
          <p:nvPr/>
        </p:nvSpPr>
        <p:spPr>
          <a:xfrm>
            <a:off x="548640" y="1737360"/>
            <a:ext cx="5364328" cy="4114800"/>
          </a:xfrm>
          <a:prstGeom prst="roundRect">
            <a:avLst>
              <a:gd name="adj" fmla="val 1778"/>
            </a:avLst>
          </a:prstGeom>
          <a:solidFill>
            <a:srgbClr val="262B34"/>
          </a:solidFill>
          <a:ln/>
        </p:spPr>
      </p:sp>
      <p:sp>
        <p:nvSpPr>
          <p:cNvPr id="5" name="Text 3"/>
          <p:cNvSpPr/>
          <p:nvPr/>
        </p:nvSpPr>
        <p:spPr>
          <a:xfrm>
            <a:off x="822960" y="1920240"/>
            <a:ext cx="4815688" cy="548640"/>
          </a:xfrm>
          <a:prstGeom prst="rect">
            <a:avLst/>
          </a:prstGeom>
          <a:noFill/>
          <a:ln/>
        </p:spPr>
        <p:txBody>
          <a:bodyPr wrap="square" lIns="0" tIns="0" rIns="0" bIns="0" rtlCol="0" anchor="ctr"/>
          <a:lstStyle/>
          <a:p>
            <a:pPr indent="0" marL="0">
              <a:lnSpc>
                <a:spcPct val="110000"/>
              </a:lnSpc>
              <a:buNone/>
            </a:pPr>
            <a:r>
              <a:rPr lang="en-US" sz="1050" b="1" spc="50" kern="0" dirty="0">
                <a:solidFill>
                  <a:srgbClr val="B8453F"/>
                </a:solidFill>
                <a:latin typeface="Calibri" pitchFamily="34" charset="0"/>
                <a:ea typeface="Calibri" pitchFamily="34" charset="-122"/>
                <a:cs typeface="Calibri" pitchFamily="34" charset="-120"/>
              </a:rPr>
              <a:t>WHAT THE PITCH SAYS TO CREATE URGENCY</a:t>
            </a:r>
            <a:endParaRPr lang="en-US" sz="1050" dirty="0"/>
          </a:p>
        </p:txBody>
      </p:sp>
      <p:sp>
        <p:nvSpPr>
          <p:cNvPr id="6" name="Text 4"/>
          <p:cNvSpPr/>
          <p:nvPr/>
        </p:nvSpPr>
        <p:spPr>
          <a:xfrm>
            <a:off x="822960" y="2514600"/>
            <a:ext cx="4815688" cy="320040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“The infrastructure you already possess — your EAFs, your moulding lines, your heat treatment furnaces — is capable of producing stainless steel, duplex stainless steel, and special alloy castings.”</a:t>
            </a:r>
            <a:endParaRPr lang="en-US" sz="1050" dirty="0"/>
          </a:p>
          <a:p>
            <a:pPr marL="342900" indent="-342900">
              <a:lnSpc>
                <a:spcPct val="120000"/>
              </a:lnSpc>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Datre does not run EAFs. Melting is on induction furnaces (3-ton, 3-ton, 0.5-ton). A basic fact about the plant, stated wrong.</a:t>
            </a:r>
            <a:endParaRPr lang="en-US" sz="1050" dirty="0"/>
          </a:p>
        </p:txBody>
      </p:sp>
      <p:sp>
        <p:nvSpPr>
          <p:cNvPr id="7" name="Shape 5"/>
          <p:cNvSpPr/>
          <p:nvPr/>
        </p:nvSpPr>
        <p:spPr>
          <a:xfrm>
            <a:off x="6278728" y="1737360"/>
            <a:ext cx="5364328" cy="4114800"/>
          </a:xfrm>
          <a:prstGeom prst="roundRect">
            <a:avLst>
              <a:gd name="adj" fmla="val 1778"/>
            </a:avLst>
          </a:prstGeom>
          <a:solidFill>
            <a:srgbClr val="262B34"/>
          </a:solidFill>
          <a:ln/>
        </p:spPr>
      </p:sp>
      <p:sp>
        <p:nvSpPr>
          <p:cNvPr id="8" name="Text 6"/>
          <p:cNvSpPr/>
          <p:nvPr/>
        </p:nvSpPr>
        <p:spPr>
          <a:xfrm>
            <a:off x="6553048" y="1920240"/>
            <a:ext cx="4815688" cy="548640"/>
          </a:xfrm>
          <a:prstGeom prst="rect">
            <a:avLst/>
          </a:prstGeom>
          <a:noFill/>
          <a:ln/>
        </p:spPr>
        <p:txBody>
          <a:bodyPr wrap="square" lIns="0" tIns="0" rIns="0" bIns="0" rtlCol="0" anchor="ctr"/>
          <a:lstStyle/>
          <a:p>
            <a:pPr indent="0" marL="0">
              <a:lnSpc>
                <a:spcPct val="110000"/>
              </a:lnSpc>
              <a:buNone/>
            </a:pPr>
            <a:r>
              <a:rPr lang="en-US" sz="1050" b="1" spc="50" kern="0" dirty="0">
                <a:solidFill>
                  <a:srgbClr val="3F8F5F"/>
                </a:solidFill>
                <a:latin typeface="Calibri" pitchFamily="34" charset="0"/>
                <a:ea typeface="Calibri" pitchFamily="34" charset="-122"/>
                <a:cs typeface="Calibri" pitchFamily="34" charset="-120"/>
              </a:rPr>
              <a:t>WHAT THE SAME PROPOSAL'S SCOPE ACTUALLY ASKS FOR</a:t>
            </a:r>
            <a:endParaRPr lang="en-US" sz="1050" dirty="0"/>
          </a:p>
        </p:txBody>
      </p:sp>
      <p:sp>
        <p:nvSpPr>
          <p:cNvPr id="9" name="Text 7"/>
          <p:cNvSpPr/>
          <p:nvPr/>
        </p:nvSpPr>
        <p:spPr>
          <a:xfrm>
            <a:off x="6553048" y="2514600"/>
            <a:ext cx="4815688" cy="320040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An AOD converter, specifically “for Duplex chemistry control” — new equipment Datre does not have.</a:t>
            </a:r>
            <a:endParaRPr lang="en-US" sz="1050" dirty="0"/>
          </a:p>
          <a:p>
            <a:pPr marL="342900" indent="-342900">
              <a:lnSpc>
                <a:spcPct val="120000"/>
              </a:lnSpc>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An OES spectrometer upgrade and new NDT equipment — again, new capability, not existing capacity.</a:t>
            </a:r>
            <a:endParaRPr lang="en-US" sz="1050" dirty="0"/>
          </a:p>
          <a:p>
            <a:pPr marL="342900" indent="-342900">
              <a:lnSpc>
                <a:spcPct val="120000"/>
              </a:lnSpc>
              <a:spcAft>
                <a:spcPts val="1000"/>
              </a:spcAft>
              <a:buSzPct val="100000"/>
              <a:buChar char="•"/>
            </a:pPr>
            <a:r>
              <a:rPr lang="en-US" sz="1050" dirty="0">
                <a:solidFill>
                  <a:srgbClr val="FFFFFF"/>
                </a:solidFill>
                <a:latin typeface="Calibri" pitchFamily="34" charset="0"/>
                <a:ea typeface="Calibri" pitchFamily="34" charset="-122"/>
                <a:cs typeface="Calibri" pitchFamily="34" charset="-120"/>
              </a:rPr>
              <a:t>₹3.5-5.5 Cr to build this — the proposal's own number.</a:t>
            </a:r>
            <a:endParaRPr lang="en-US" sz="1050" dirty="0"/>
          </a:p>
        </p:txBody>
      </p:sp>
      <p:sp>
        <p:nvSpPr>
          <p:cNvPr id="10" name="Text 8"/>
          <p:cNvSpPr/>
          <p:nvPr/>
        </p:nvSpPr>
        <p:spPr>
          <a:xfrm>
            <a:off x="548640" y="5989320"/>
            <a:ext cx="11094415" cy="457200"/>
          </a:xfrm>
          <a:prstGeom prst="rect">
            <a:avLst/>
          </a:prstGeom>
          <a:noFill/>
          <a:ln/>
        </p:spPr>
        <p:txBody>
          <a:bodyPr wrap="square" lIns="0" tIns="0" rIns="0" bIns="0" rtlCol="0" anchor="ctr"/>
          <a:lstStyle/>
          <a:p>
            <a:pPr indent="0" marL="0">
              <a:lnSpc>
                <a:spcPct val="110000"/>
              </a:lnSpc>
              <a:buNone/>
            </a:pPr>
            <a:r>
              <a:rPr lang="en-US" sz="1050" i="1" dirty="0">
                <a:solidFill>
                  <a:srgbClr val="E8B84B"/>
                </a:solidFill>
                <a:latin typeface="Calibri" pitchFamily="34" charset="0"/>
                <a:ea typeface="Calibri" pitchFamily="34" charset="-122"/>
                <a:cs typeface="Calibri" pitchFamily="34" charset="-120"/>
              </a:rPr>
              <a:t>If new refining equipment is required to even control the chemistry, this is not a capacity-utilization fix — it is a new metallurgical product line, priced and risked accordingly.</a:t>
            </a:r>
            <a:endParaRPr lang="en-US" sz="1050" dirty="0"/>
          </a:p>
        </p:txBody>
      </p:sp>
      <p:sp>
        <p:nvSpPr>
          <p:cNvPr id="11" name="Text 9"/>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2" name="Text 10"/>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REALITY CHECK — TIMELINE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“Fast” is not a word Datre's own track record supports</a:t>
            </a:r>
            <a:endParaRPr lang="en-US" sz="2800" dirty="0"/>
          </a:p>
        </p:txBody>
      </p:sp>
      <p:sp>
        <p:nvSpPr>
          <p:cNvPr id="4" name="Shape 2"/>
          <p:cNvSpPr/>
          <p:nvPr/>
        </p:nvSpPr>
        <p:spPr>
          <a:xfrm>
            <a:off x="548640" y="1737360"/>
            <a:ext cx="384048" cy="384048"/>
          </a:xfrm>
          <a:prstGeom prst="ellipse">
            <a:avLst/>
          </a:prstGeom>
          <a:solidFill>
            <a:srgbClr val="D9622B"/>
          </a:solidFill>
          <a:ln/>
        </p:spPr>
      </p:sp>
      <p:sp>
        <p:nvSpPr>
          <p:cNvPr id="5" name="Text 3"/>
          <p:cNvSpPr/>
          <p:nvPr/>
        </p:nvSpPr>
        <p:spPr>
          <a:xfrm>
            <a:off x="548640" y="1737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09928"/>
            <a:ext cx="10527487" cy="365760"/>
          </a:xfrm>
          <a:prstGeom prst="rect">
            <a:avLst/>
          </a:prstGeom>
          <a:noFill/>
          <a:ln/>
        </p:spPr>
        <p:txBody>
          <a:bodyPr wrap="square" lIns="0" tIns="0" rIns="0" bIns="0" rtlCol="0" anchor="ctr"/>
          <a:lstStyle/>
          <a:p>
            <a:pPr indent="0" marL="0">
              <a:buNone/>
            </a:pPr>
            <a:r>
              <a:rPr lang="en-US" sz="1350" b="1" dirty="0">
                <a:solidFill>
                  <a:srgbClr val="1C1F26"/>
                </a:solidFill>
                <a:latin typeface="Calibri" pitchFamily="34" charset="0"/>
                <a:ea typeface="Calibri" pitchFamily="34" charset="-122"/>
                <a:cs typeface="Calibri" pitchFamily="34" charset="-120"/>
              </a:rPr>
              <a:t>The internal benchmark is four years</a:t>
            </a:r>
            <a:endParaRPr lang="en-US" sz="1350" dirty="0"/>
          </a:p>
        </p:txBody>
      </p:sp>
      <p:sp>
        <p:nvSpPr>
          <p:cNvPr id="7" name="Text 5"/>
          <p:cNvSpPr/>
          <p:nvPr/>
        </p:nvSpPr>
        <p:spPr>
          <a:xfrm>
            <a:off x="1115568" y="2084832"/>
            <a:ext cx="10527487" cy="685800"/>
          </a:xfrm>
          <a:prstGeom prst="rect">
            <a:avLst/>
          </a:prstGeom>
          <a:noFill/>
          <a:ln/>
        </p:spPr>
        <p:txBody>
          <a:bodyPr wrap="square" lIns="0" tIns="0" rIns="0" bIns="0" rtlCol="0" anchor="ctr"/>
          <a:lstStyle/>
          <a:p>
            <a:pPr indent="0" marL="0">
              <a:lnSpc>
                <a:spcPct val="118000"/>
              </a:lnSpc>
              <a:buNone/>
            </a:pPr>
            <a:r>
              <a:rPr lang="en-US" sz="1030" dirty="0">
                <a:solidFill>
                  <a:srgbClr val="3A4553"/>
                </a:solidFill>
                <a:latin typeface="Calibri" pitchFamily="34" charset="0"/>
                <a:ea typeface="Calibri" pitchFamily="34" charset="-122"/>
                <a:cs typeface="Calibri" pitchFamily="34" charset="-120"/>
              </a:rPr>
              <a:t>Datre's own recently concluded Komatsu Himi Plant (Japan) qualification — in a product family Datre already knows — took four years of audits before a direct contract was even signed. NACE MR0175, API 6A/6D and Lloyd's/DNV-GL Marine approvals, in an alloy family Datre has never produced, are not a shorter path.</a:t>
            </a:r>
            <a:endParaRPr lang="en-US" sz="1030" dirty="0"/>
          </a:p>
        </p:txBody>
      </p:sp>
      <p:sp>
        <p:nvSpPr>
          <p:cNvPr id="8" name="Shape 6"/>
          <p:cNvSpPr/>
          <p:nvPr/>
        </p:nvSpPr>
        <p:spPr>
          <a:xfrm>
            <a:off x="548640" y="2926080"/>
            <a:ext cx="384048" cy="384048"/>
          </a:xfrm>
          <a:prstGeom prst="ellipse">
            <a:avLst/>
          </a:prstGeom>
          <a:solidFill>
            <a:srgbClr val="D9622B"/>
          </a:solidFill>
          <a:ln/>
        </p:spPr>
      </p:sp>
      <p:sp>
        <p:nvSpPr>
          <p:cNvPr id="9" name="Text 7"/>
          <p:cNvSpPr/>
          <p:nvPr/>
        </p:nvSpPr>
        <p:spPr>
          <a:xfrm>
            <a:off x="548640" y="29260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898648"/>
            <a:ext cx="10527487" cy="365760"/>
          </a:xfrm>
          <a:prstGeom prst="rect">
            <a:avLst/>
          </a:prstGeom>
          <a:noFill/>
          <a:ln/>
        </p:spPr>
        <p:txBody>
          <a:bodyPr wrap="square" lIns="0" tIns="0" rIns="0" bIns="0" rtlCol="0" anchor="ctr"/>
          <a:lstStyle/>
          <a:p>
            <a:pPr indent="0" marL="0">
              <a:buNone/>
            </a:pPr>
            <a:r>
              <a:rPr lang="en-US" sz="1350" b="1" dirty="0">
                <a:solidFill>
                  <a:srgbClr val="1C1F26"/>
                </a:solidFill>
                <a:latin typeface="Calibri" pitchFamily="34" charset="0"/>
                <a:ea typeface="Calibri" pitchFamily="34" charset="-122"/>
                <a:cs typeface="Calibri" pitchFamily="34" charset="-120"/>
              </a:rPr>
              <a:t>This is a different metallurgical domain</a:t>
            </a:r>
            <a:endParaRPr lang="en-US" sz="1350" dirty="0"/>
          </a:p>
        </p:txBody>
      </p:sp>
      <p:sp>
        <p:nvSpPr>
          <p:cNvPr id="11" name="Text 9"/>
          <p:cNvSpPr/>
          <p:nvPr/>
        </p:nvSpPr>
        <p:spPr>
          <a:xfrm>
            <a:off x="1115568" y="3273552"/>
            <a:ext cx="10527487" cy="685800"/>
          </a:xfrm>
          <a:prstGeom prst="rect">
            <a:avLst/>
          </a:prstGeom>
          <a:noFill/>
          <a:ln/>
        </p:spPr>
        <p:txBody>
          <a:bodyPr wrap="square" lIns="0" tIns="0" rIns="0" bIns="0" rtlCol="0" anchor="ctr"/>
          <a:lstStyle/>
          <a:p>
            <a:pPr indent="0" marL="0">
              <a:lnSpc>
                <a:spcPct val="118000"/>
              </a:lnSpc>
              <a:buNone/>
            </a:pPr>
            <a:r>
              <a:rPr lang="en-US" sz="1030" dirty="0">
                <a:solidFill>
                  <a:srgbClr val="3A4553"/>
                </a:solidFill>
                <a:latin typeface="Calibri" pitchFamily="34" charset="0"/>
                <a:ea typeface="Calibri" pitchFamily="34" charset="-122"/>
                <a:cs typeface="Calibri" pitchFamily="34" charset="-120"/>
              </a:rPr>
              <a:t>Datre's moat is 25-30 years of heat-treatment know-how in high-chrome and CrMo alloys for wear and impact resistance. Corrosion-resistant duplex chemistry for oil &amp; gas valve bodies is a different skill set, different failure mode, different customer qualification standard.</a:t>
            </a:r>
            <a:endParaRPr lang="en-US" sz="1030" dirty="0"/>
          </a:p>
        </p:txBody>
      </p:sp>
      <p:sp>
        <p:nvSpPr>
          <p:cNvPr id="12" name="Shape 10"/>
          <p:cNvSpPr/>
          <p:nvPr/>
        </p:nvSpPr>
        <p:spPr>
          <a:xfrm>
            <a:off x="548640" y="4114800"/>
            <a:ext cx="384048" cy="384048"/>
          </a:xfrm>
          <a:prstGeom prst="ellipse">
            <a:avLst/>
          </a:prstGeom>
          <a:solidFill>
            <a:srgbClr val="D9622B"/>
          </a:solidFill>
          <a:ln/>
        </p:spPr>
      </p:sp>
      <p:sp>
        <p:nvSpPr>
          <p:cNvPr id="13" name="Text 11"/>
          <p:cNvSpPr/>
          <p:nvPr/>
        </p:nvSpPr>
        <p:spPr>
          <a:xfrm>
            <a:off x="548640" y="411480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4087368"/>
            <a:ext cx="10527487" cy="365760"/>
          </a:xfrm>
          <a:prstGeom prst="rect">
            <a:avLst/>
          </a:prstGeom>
          <a:noFill/>
          <a:ln/>
        </p:spPr>
        <p:txBody>
          <a:bodyPr wrap="square" lIns="0" tIns="0" rIns="0" bIns="0" rtlCol="0" anchor="ctr"/>
          <a:lstStyle/>
          <a:p>
            <a:pPr indent="0" marL="0">
              <a:buNone/>
            </a:pPr>
            <a:r>
              <a:rPr lang="en-US" sz="1350" b="1" dirty="0">
                <a:solidFill>
                  <a:srgbClr val="1C1F26"/>
                </a:solidFill>
                <a:latin typeface="Calibri" pitchFamily="34" charset="0"/>
                <a:ea typeface="Calibri" pitchFamily="34" charset="-122"/>
                <a:cs typeface="Calibri" pitchFamily="34" charset="-120"/>
              </a:rPr>
              <a:t>The talent constraint doesn't relax</a:t>
            </a:r>
            <a:endParaRPr lang="en-US" sz="1350" dirty="0"/>
          </a:p>
        </p:txBody>
      </p:sp>
      <p:sp>
        <p:nvSpPr>
          <p:cNvPr id="15" name="Text 13"/>
          <p:cNvSpPr/>
          <p:nvPr/>
        </p:nvSpPr>
        <p:spPr>
          <a:xfrm>
            <a:off x="1115568" y="4462272"/>
            <a:ext cx="10527487" cy="685800"/>
          </a:xfrm>
          <a:prstGeom prst="rect">
            <a:avLst/>
          </a:prstGeom>
          <a:noFill/>
          <a:ln/>
        </p:spPr>
        <p:txBody>
          <a:bodyPr wrap="square" lIns="0" tIns="0" rIns="0" bIns="0" rtlCol="0" anchor="ctr"/>
          <a:lstStyle/>
          <a:p>
            <a:pPr indent="0" marL="0">
              <a:lnSpc>
                <a:spcPct val="118000"/>
              </a:lnSpc>
              <a:buNone/>
            </a:pPr>
            <a:r>
              <a:rPr lang="en-US" sz="1030" dirty="0">
                <a:solidFill>
                  <a:srgbClr val="3A4553"/>
                </a:solidFill>
                <a:latin typeface="Calibri" pitchFamily="34" charset="0"/>
                <a:ea typeface="Calibri" pitchFamily="34" charset="-122"/>
                <a:cs typeface="Calibri" pitchFamily="34" charset="-120"/>
              </a:rPr>
              <a:t>Datre's own documented hardest constraint is attracting specialised metallurgical talent to a semi-rural site — the same constraint that shaped 25 years of building expertise from the base up. It applies at least as hard to an unfamiliar chemistry as to the one Datre already knows.</a:t>
            </a:r>
            <a:endParaRPr lang="en-US" sz="1030" dirty="0"/>
          </a:p>
        </p:txBody>
      </p:sp>
      <p:sp>
        <p:nvSpPr>
          <p:cNvPr id="16" name="Text 14"/>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7" name="Text 15"/>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REALITY CHECK — COMPETITION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Even qualified, Datre would be the new entrant — not the incumbent</a:t>
            </a:r>
            <a:endParaRPr lang="en-US" sz="2800" dirty="0"/>
          </a:p>
        </p:txBody>
      </p:sp>
      <p:sp>
        <p:nvSpPr>
          <p:cNvPr id="4" name="Shape 2"/>
          <p:cNvSpPr/>
          <p:nvPr/>
        </p:nvSpPr>
        <p:spPr>
          <a:xfrm>
            <a:off x="548640" y="1737360"/>
            <a:ext cx="384048" cy="384048"/>
          </a:xfrm>
          <a:prstGeom prst="ellipse">
            <a:avLst/>
          </a:prstGeom>
          <a:solidFill>
            <a:srgbClr val="D9622B"/>
          </a:solidFill>
          <a:ln/>
        </p:spPr>
      </p:sp>
      <p:sp>
        <p:nvSpPr>
          <p:cNvPr id="5" name="Text 3"/>
          <p:cNvSpPr/>
          <p:nvPr/>
        </p:nvSpPr>
        <p:spPr>
          <a:xfrm>
            <a:off x="548640" y="173736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09928"/>
            <a:ext cx="10527487" cy="365760"/>
          </a:xfrm>
          <a:prstGeom prst="rect">
            <a:avLst/>
          </a:prstGeom>
          <a:noFill/>
          <a:ln/>
        </p:spPr>
        <p:txBody>
          <a:bodyPr wrap="square" lIns="0" tIns="0" rIns="0" bIns="0" rtlCol="0" anchor="ctr"/>
          <a:lstStyle/>
          <a:p>
            <a:pPr indent="0" marL="0">
              <a:buNone/>
            </a:pPr>
            <a:r>
              <a:rPr lang="en-US" sz="1300" b="1" dirty="0">
                <a:solidFill>
                  <a:srgbClr val="1C1F26"/>
                </a:solidFill>
                <a:latin typeface="Calibri" pitchFamily="34" charset="0"/>
                <a:ea typeface="Calibri" pitchFamily="34" charset="-122"/>
                <a:cs typeface="Calibri" pitchFamily="34" charset="-120"/>
              </a:rPr>
              <a:t>The moat that protects Datre today works against Datre here</a:t>
            </a:r>
            <a:endParaRPr lang="en-US" sz="1300" dirty="0"/>
          </a:p>
        </p:txBody>
      </p:sp>
      <p:sp>
        <p:nvSpPr>
          <p:cNvPr id="7" name="Text 5"/>
          <p:cNvSpPr/>
          <p:nvPr/>
        </p:nvSpPr>
        <p:spPr>
          <a:xfrm>
            <a:off x="1115568" y="2084832"/>
            <a:ext cx="10527487" cy="658368"/>
          </a:xfrm>
          <a:prstGeom prst="rect">
            <a:avLst/>
          </a:prstGeom>
          <a:noFill/>
          <a:ln/>
        </p:spPr>
        <p:txBody>
          <a:bodyPr wrap="square" lIns="0" tIns="0" rIns="0" bIns="0" rtlCol="0" anchor="ctr"/>
          <a:lstStyle/>
          <a:p>
            <a:pPr indent="0" marL="0">
              <a:lnSpc>
                <a:spcPct val="115000"/>
              </a:lnSpc>
              <a:buNone/>
            </a:pPr>
            <a:r>
              <a:rPr lang="en-US" sz="1010" dirty="0">
                <a:solidFill>
                  <a:srgbClr val="3A4553"/>
                </a:solidFill>
                <a:latin typeface="Calibri" pitchFamily="34" charset="0"/>
                <a:ea typeface="Calibri" pitchFamily="34" charset="-122"/>
                <a:cs typeface="Calibri" pitchFamily="34" charset="-120"/>
              </a:rPr>
              <a:t>This deck's own argument for Datre's existing business is that buyers won't risk requalifying an unproven supplier for a safety- or reliability-critical component, no matter the price. In stainless and duplex castings for Oil &amp; Gas and Marine, that exact dynamic protects the established suppliers IOCL, BPCL, HPCL, ONGC and their EPC contractors already rely on — and it would work against Datre as the unproven new source.</a:t>
            </a:r>
            <a:endParaRPr lang="en-US" sz="1010" dirty="0"/>
          </a:p>
        </p:txBody>
      </p:sp>
      <p:sp>
        <p:nvSpPr>
          <p:cNvPr id="8" name="Shape 6"/>
          <p:cNvSpPr/>
          <p:nvPr/>
        </p:nvSpPr>
        <p:spPr>
          <a:xfrm>
            <a:off x="548640" y="2907792"/>
            <a:ext cx="384048" cy="384048"/>
          </a:xfrm>
          <a:prstGeom prst="ellipse">
            <a:avLst/>
          </a:prstGeom>
          <a:solidFill>
            <a:srgbClr val="D9622B"/>
          </a:solidFill>
          <a:ln/>
        </p:spPr>
      </p:sp>
      <p:sp>
        <p:nvSpPr>
          <p:cNvPr id="9" name="Text 7"/>
          <p:cNvSpPr/>
          <p:nvPr/>
        </p:nvSpPr>
        <p:spPr>
          <a:xfrm>
            <a:off x="548640" y="2907792"/>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880360"/>
            <a:ext cx="10527487" cy="365760"/>
          </a:xfrm>
          <a:prstGeom prst="rect">
            <a:avLst/>
          </a:prstGeom>
          <a:noFill/>
          <a:ln/>
        </p:spPr>
        <p:txBody>
          <a:bodyPr wrap="square" lIns="0" tIns="0" rIns="0" bIns="0" rtlCol="0" anchor="ctr"/>
          <a:lstStyle/>
          <a:p>
            <a:pPr indent="0" marL="0">
              <a:buNone/>
            </a:pPr>
            <a:r>
              <a:rPr lang="en-US" sz="1300" b="1" dirty="0">
                <a:solidFill>
                  <a:srgbClr val="1C1F26"/>
                </a:solidFill>
                <a:latin typeface="Calibri" pitchFamily="34" charset="0"/>
                <a:ea typeface="Calibri" pitchFamily="34" charset="-122"/>
                <a:cs typeface="Calibri" pitchFamily="34" charset="-120"/>
              </a:rPr>
              <a:t>Qualification has not equalled orders even where Datre already fits</a:t>
            </a:r>
            <a:endParaRPr lang="en-US" sz="1300" dirty="0"/>
          </a:p>
        </p:txBody>
      </p:sp>
      <p:sp>
        <p:nvSpPr>
          <p:cNvPr id="11" name="Text 9"/>
          <p:cNvSpPr/>
          <p:nvPr/>
        </p:nvSpPr>
        <p:spPr>
          <a:xfrm>
            <a:off x="1115568" y="3255264"/>
            <a:ext cx="10527487" cy="658368"/>
          </a:xfrm>
          <a:prstGeom prst="rect">
            <a:avLst/>
          </a:prstGeom>
          <a:noFill/>
          <a:ln/>
        </p:spPr>
        <p:txBody>
          <a:bodyPr wrap="square" lIns="0" tIns="0" rIns="0" bIns="0" rtlCol="0" anchor="ctr"/>
          <a:lstStyle/>
          <a:p>
            <a:pPr indent="0" marL="0">
              <a:lnSpc>
                <a:spcPct val="115000"/>
              </a:lnSpc>
              <a:buNone/>
            </a:pPr>
            <a:r>
              <a:rPr lang="en-US" sz="1010" dirty="0">
                <a:solidFill>
                  <a:srgbClr val="3A4553"/>
                </a:solidFill>
                <a:latin typeface="Calibri" pitchFamily="34" charset="0"/>
                <a:ea typeface="Calibri" pitchFamily="34" charset="-122"/>
                <a:cs typeface="Calibri" pitchFamily="34" charset="-120"/>
              </a:rPr>
              <a:t>Datre's own Komatsu experience is the live proof: four years of audits, a direct contract now signed — and the purchase order for trial supplies is still awaited. That is in a product family close to what Datre already builds. A stainless/duplex entry starts further back, against a global field of incumbents with decades of field history in that specific alloy.</a:t>
            </a:r>
            <a:endParaRPr lang="en-US" sz="1010" dirty="0"/>
          </a:p>
        </p:txBody>
      </p:sp>
      <p:sp>
        <p:nvSpPr>
          <p:cNvPr id="12" name="Shape 10"/>
          <p:cNvSpPr/>
          <p:nvPr/>
        </p:nvSpPr>
        <p:spPr>
          <a:xfrm>
            <a:off x="548640" y="4078224"/>
            <a:ext cx="384048" cy="384048"/>
          </a:xfrm>
          <a:prstGeom prst="ellipse">
            <a:avLst/>
          </a:prstGeom>
          <a:solidFill>
            <a:srgbClr val="D9622B"/>
          </a:solidFill>
          <a:ln/>
        </p:spPr>
      </p:sp>
      <p:sp>
        <p:nvSpPr>
          <p:cNvPr id="13" name="Text 11"/>
          <p:cNvSpPr/>
          <p:nvPr/>
        </p:nvSpPr>
        <p:spPr>
          <a:xfrm>
            <a:off x="548640" y="4078224"/>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4050792"/>
            <a:ext cx="10527487" cy="365760"/>
          </a:xfrm>
          <a:prstGeom prst="rect">
            <a:avLst/>
          </a:prstGeom>
          <a:noFill/>
          <a:ln/>
        </p:spPr>
        <p:txBody>
          <a:bodyPr wrap="square" lIns="0" tIns="0" rIns="0" bIns="0" rtlCol="0" anchor="ctr"/>
          <a:lstStyle/>
          <a:p>
            <a:pPr indent="0" marL="0">
              <a:buNone/>
            </a:pPr>
            <a:r>
              <a:rPr lang="en-US" sz="1300" b="1" dirty="0">
                <a:solidFill>
                  <a:srgbClr val="1C1F26"/>
                </a:solidFill>
                <a:latin typeface="Calibri" pitchFamily="34" charset="0"/>
                <a:ea typeface="Calibri" pitchFamily="34" charset="-122"/>
                <a:cs typeface="Calibri" pitchFamily="34" charset="-120"/>
              </a:rPr>
              <a:t>A big global market is not the same as a big addressable one</a:t>
            </a:r>
            <a:endParaRPr lang="en-US" sz="1300" dirty="0"/>
          </a:p>
        </p:txBody>
      </p:sp>
      <p:sp>
        <p:nvSpPr>
          <p:cNvPr id="15" name="Text 13"/>
          <p:cNvSpPr/>
          <p:nvPr/>
        </p:nvSpPr>
        <p:spPr>
          <a:xfrm>
            <a:off x="1115568" y="4425696"/>
            <a:ext cx="10527487" cy="658368"/>
          </a:xfrm>
          <a:prstGeom prst="rect">
            <a:avLst/>
          </a:prstGeom>
          <a:noFill/>
          <a:ln/>
        </p:spPr>
        <p:txBody>
          <a:bodyPr wrap="square" lIns="0" tIns="0" rIns="0" bIns="0" rtlCol="0" anchor="ctr"/>
          <a:lstStyle/>
          <a:p>
            <a:pPr indent="0" marL="0">
              <a:lnSpc>
                <a:spcPct val="115000"/>
              </a:lnSpc>
              <a:buNone/>
            </a:pPr>
            <a:r>
              <a:rPr lang="en-US" sz="1010" dirty="0">
                <a:solidFill>
                  <a:srgbClr val="3A4553"/>
                </a:solidFill>
                <a:latin typeface="Calibri" pitchFamily="34" charset="0"/>
                <a:ea typeface="Calibri" pitchFamily="34" charset="-122"/>
                <a:cs typeface="Calibri" pitchFamily="34" charset="-120"/>
              </a:rPr>
              <a:t>'Oil &amp; Gas, LNG, Marine and Petrochemical' is presented as the market size. The proposal never sizes what share of it a newly-qualified mid-sized Indian foundry, with zero track record in this alloy family, could realistically win against established domestic and international specialty casters already serving those buyers.</a:t>
            </a:r>
            <a:endParaRPr lang="en-US" sz="1010" dirty="0"/>
          </a:p>
        </p:txBody>
      </p:sp>
      <p:sp>
        <p:nvSpPr>
          <p:cNvPr id="16" name="Shape 14"/>
          <p:cNvSpPr/>
          <p:nvPr/>
        </p:nvSpPr>
        <p:spPr>
          <a:xfrm>
            <a:off x="548640" y="5532120"/>
            <a:ext cx="11094415" cy="594360"/>
          </a:xfrm>
          <a:prstGeom prst="roundRect">
            <a:avLst>
              <a:gd name="adj" fmla="val 9231"/>
            </a:avLst>
          </a:prstGeom>
          <a:solidFill>
            <a:srgbClr val="FBEEEC"/>
          </a:solidFill>
          <a:ln/>
        </p:spPr>
      </p:sp>
      <p:sp>
        <p:nvSpPr>
          <p:cNvPr id="17" name="Text 15"/>
          <p:cNvSpPr/>
          <p:nvPr/>
        </p:nvSpPr>
        <p:spPr>
          <a:xfrm>
            <a:off x="777240" y="5532120"/>
            <a:ext cx="10637215" cy="594360"/>
          </a:xfrm>
          <a:prstGeom prst="rect">
            <a:avLst/>
          </a:prstGeom>
          <a:noFill/>
          <a:ln/>
        </p:spPr>
        <p:txBody>
          <a:bodyPr wrap="square" lIns="0" tIns="0" rIns="0" bIns="0" rtlCol="0" anchor="ctr"/>
          <a:lstStyle/>
          <a:p>
            <a:pPr indent="0" marL="0">
              <a:lnSpc>
                <a:spcPct val="110000"/>
              </a:lnSpc>
              <a:buNone/>
            </a:pPr>
            <a:r>
              <a:rPr lang="en-US" sz="1000" i="1" dirty="0">
                <a:solidFill>
                  <a:srgbClr val="B8453F"/>
                </a:solidFill>
                <a:latin typeface="Calibri" pitchFamily="34" charset="0"/>
                <a:ea typeface="Calibri" pitchFamily="34" charset="-122"/>
                <a:cs typeface="Calibri" pitchFamily="34" charset="-120"/>
              </a:rPr>
              <a:t>A ₹400-2,500/kg realisation that looks free for the taking usually isn't. The premium exists because incumbents have already cleared the exact barrier this deck describes as Datre's own moat.</a:t>
            </a:r>
            <a:endParaRPr lang="en-US" sz="1000" dirty="0"/>
          </a:p>
        </p:txBody>
      </p:sp>
      <p:sp>
        <p:nvSpPr>
          <p:cNvPr id="18" name="Text 16"/>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9"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REALITY CHECK — THE BALANCE SHEET</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1C1F26"/>
                </a:solidFill>
                <a:latin typeface="Cambria" pitchFamily="34" charset="0"/>
                <a:ea typeface="Cambria" pitchFamily="34" charset="-122"/>
                <a:cs typeface="Cambria" pitchFamily="34" charset="-120"/>
              </a:rPr>
              <a:t>₹3.5-5.5 Cr, at the exact moment the balance sheet can least absorb it</a:t>
            </a:r>
            <a:endParaRPr lang="en-US" sz="2800" dirty="0"/>
          </a:p>
        </p:txBody>
      </p:sp>
      <p:sp>
        <p:nvSpPr>
          <p:cNvPr id="4" name="Shape 2"/>
          <p:cNvSpPr/>
          <p:nvPr/>
        </p:nvSpPr>
        <p:spPr>
          <a:xfrm>
            <a:off x="548640" y="1783080"/>
            <a:ext cx="2567864" cy="1828800"/>
          </a:xfrm>
          <a:prstGeom prst="roundRect">
            <a:avLst>
              <a:gd name="adj" fmla="val 4000"/>
            </a:avLst>
          </a:prstGeom>
          <a:solidFill>
            <a:srgbClr val="F4F5F7"/>
          </a:solidFill>
          <a:ln/>
        </p:spPr>
      </p:sp>
      <p:sp>
        <p:nvSpPr>
          <p:cNvPr id="5" name="Text 3"/>
          <p:cNvSpPr/>
          <p:nvPr/>
        </p:nvSpPr>
        <p:spPr>
          <a:xfrm>
            <a:off x="713232" y="1956816"/>
            <a:ext cx="2238680" cy="59436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2-3x</a:t>
            </a:r>
            <a:endParaRPr lang="en-US" sz="1700" dirty="0"/>
          </a:p>
        </p:txBody>
      </p:sp>
      <p:sp>
        <p:nvSpPr>
          <p:cNvPr id="6" name="Text 4"/>
          <p:cNvSpPr/>
          <p:nvPr/>
        </p:nvSpPr>
        <p:spPr>
          <a:xfrm>
            <a:off x="713232" y="2606040"/>
            <a:ext cx="2238680" cy="914400"/>
          </a:xfrm>
          <a:prstGeom prst="rect">
            <a:avLst/>
          </a:prstGeom>
          <a:noFill/>
          <a:ln/>
        </p:spPr>
        <p:txBody>
          <a:bodyPr wrap="square" lIns="0" tIns="0" rIns="0" bIns="0" rtlCol="0" anchor="ctr"/>
          <a:lstStyle/>
          <a:p>
            <a:pPr indent="0" marL="0">
              <a:lnSpc>
                <a:spcPct val="115000"/>
              </a:lnSpc>
              <a:buNone/>
            </a:pPr>
            <a:r>
              <a:rPr lang="en-US" sz="900" dirty="0">
                <a:solidFill>
                  <a:srgbClr val="3A4553"/>
                </a:solidFill>
                <a:latin typeface="Calibri" pitchFamily="34" charset="0"/>
                <a:ea typeface="Calibri" pitchFamily="34" charset="-122"/>
                <a:cs typeface="Calibri" pitchFamily="34" charset="-120"/>
              </a:rPr>
              <a:t>The consultant's capex ask against Datre's entire FY 2025-26 capital expenditure (₹1.82 Cr)</a:t>
            </a:r>
            <a:endParaRPr lang="en-US" sz="900" dirty="0"/>
          </a:p>
        </p:txBody>
      </p:sp>
      <p:sp>
        <p:nvSpPr>
          <p:cNvPr id="7" name="Shape 5"/>
          <p:cNvSpPr/>
          <p:nvPr/>
        </p:nvSpPr>
        <p:spPr>
          <a:xfrm>
            <a:off x="3390824" y="1783080"/>
            <a:ext cx="2567864" cy="1828800"/>
          </a:xfrm>
          <a:prstGeom prst="roundRect">
            <a:avLst>
              <a:gd name="adj" fmla="val 4000"/>
            </a:avLst>
          </a:prstGeom>
          <a:solidFill>
            <a:srgbClr val="F4F5F7"/>
          </a:solidFill>
          <a:ln/>
        </p:spPr>
      </p:sp>
      <p:sp>
        <p:nvSpPr>
          <p:cNvPr id="8" name="Text 6"/>
          <p:cNvSpPr/>
          <p:nvPr/>
        </p:nvSpPr>
        <p:spPr>
          <a:xfrm>
            <a:off x="3555416" y="1956816"/>
            <a:ext cx="2238680" cy="59436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14-21%</a:t>
            </a:r>
            <a:endParaRPr lang="en-US" sz="1700" dirty="0"/>
          </a:p>
        </p:txBody>
      </p:sp>
      <p:sp>
        <p:nvSpPr>
          <p:cNvPr id="9" name="Text 7"/>
          <p:cNvSpPr/>
          <p:nvPr/>
        </p:nvSpPr>
        <p:spPr>
          <a:xfrm>
            <a:off x="3555416" y="2606040"/>
            <a:ext cx="2238680" cy="914400"/>
          </a:xfrm>
          <a:prstGeom prst="rect">
            <a:avLst/>
          </a:prstGeom>
          <a:noFill/>
          <a:ln/>
        </p:spPr>
        <p:txBody>
          <a:bodyPr wrap="square" lIns="0" tIns="0" rIns="0" bIns="0" rtlCol="0" anchor="ctr"/>
          <a:lstStyle/>
          <a:p>
            <a:pPr indent="0" marL="0">
              <a:lnSpc>
                <a:spcPct val="115000"/>
              </a:lnSpc>
              <a:buNone/>
            </a:pPr>
            <a:r>
              <a:rPr lang="en-US" sz="900" dirty="0">
                <a:solidFill>
                  <a:srgbClr val="3A4553"/>
                </a:solidFill>
                <a:latin typeface="Calibri" pitchFamily="34" charset="0"/>
                <a:ea typeface="Calibri" pitchFamily="34" charset="-122"/>
                <a:cs typeface="Calibri" pitchFamily="34" charset="-120"/>
              </a:rPr>
              <a:t>The same ask as a share of FY 2025-26 total revenue (₹25.74 Cr)</a:t>
            </a:r>
            <a:endParaRPr lang="en-US" sz="900" dirty="0"/>
          </a:p>
        </p:txBody>
      </p:sp>
      <p:sp>
        <p:nvSpPr>
          <p:cNvPr id="10" name="Shape 8"/>
          <p:cNvSpPr/>
          <p:nvPr/>
        </p:nvSpPr>
        <p:spPr>
          <a:xfrm>
            <a:off x="6233008" y="1783080"/>
            <a:ext cx="2567864" cy="1828800"/>
          </a:xfrm>
          <a:prstGeom prst="roundRect">
            <a:avLst>
              <a:gd name="adj" fmla="val 4000"/>
            </a:avLst>
          </a:prstGeom>
          <a:solidFill>
            <a:srgbClr val="F4F5F7"/>
          </a:solidFill>
          <a:ln/>
        </p:spPr>
      </p:sp>
      <p:sp>
        <p:nvSpPr>
          <p:cNvPr id="11" name="Text 9"/>
          <p:cNvSpPr/>
          <p:nvPr/>
        </p:nvSpPr>
        <p:spPr>
          <a:xfrm>
            <a:off x="6397600" y="1956816"/>
            <a:ext cx="2238680" cy="59436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₹1.82 Cr ≈ ₹1.82 Cr</a:t>
            </a:r>
            <a:endParaRPr lang="en-US" sz="1700" dirty="0"/>
          </a:p>
        </p:txBody>
      </p:sp>
      <p:sp>
        <p:nvSpPr>
          <p:cNvPr id="12" name="Text 10"/>
          <p:cNvSpPr/>
          <p:nvPr/>
        </p:nvSpPr>
        <p:spPr>
          <a:xfrm>
            <a:off x="6397600" y="2606040"/>
            <a:ext cx="2238680" cy="914400"/>
          </a:xfrm>
          <a:prstGeom prst="rect">
            <a:avLst/>
          </a:prstGeom>
          <a:noFill/>
          <a:ln/>
        </p:spPr>
        <p:txBody>
          <a:bodyPr wrap="square" lIns="0" tIns="0" rIns="0" bIns="0" rtlCol="0" anchor="ctr"/>
          <a:lstStyle/>
          <a:p>
            <a:pPr indent="0" marL="0">
              <a:lnSpc>
                <a:spcPct val="115000"/>
              </a:lnSpc>
              <a:buNone/>
            </a:pPr>
            <a:r>
              <a:rPr lang="en-US" sz="900" dirty="0">
                <a:solidFill>
                  <a:srgbClr val="3A4553"/>
                </a:solidFill>
                <a:latin typeface="Calibri" pitchFamily="34" charset="0"/>
                <a:ea typeface="Calibri" pitchFamily="34" charset="-122"/>
                <a:cs typeface="Calibri" pitchFamily="34" charset="-120"/>
              </a:rPr>
              <a:t>FY 2025-26 capex almost exactly equalled FY 2025-26 net profit — this year's cash generation is already fully committed</a:t>
            </a:r>
            <a:endParaRPr lang="en-US" sz="900" dirty="0"/>
          </a:p>
        </p:txBody>
      </p:sp>
      <p:sp>
        <p:nvSpPr>
          <p:cNvPr id="13" name="Shape 11"/>
          <p:cNvSpPr/>
          <p:nvPr/>
        </p:nvSpPr>
        <p:spPr>
          <a:xfrm>
            <a:off x="9075191" y="1783080"/>
            <a:ext cx="2567864" cy="1828800"/>
          </a:xfrm>
          <a:prstGeom prst="roundRect">
            <a:avLst>
              <a:gd name="adj" fmla="val 4000"/>
            </a:avLst>
          </a:prstGeom>
          <a:solidFill>
            <a:srgbClr val="F4F5F7"/>
          </a:solidFill>
          <a:ln/>
        </p:spPr>
      </p:sp>
      <p:sp>
        <p:nvSpPr>
          <p:cNvPr id="14" name="Text 12"/>
          <p:cNvSpPr/>
          <p:nvPr/>
        </p:nvSpPr>
        <p:spPr>
          <a:xfrm>
            <a:off x="9239783" y="1956816"/>
            <a:ext cx="2238680" cy="594360"/>
          </a:xfrm>
          <a:prstGeom prst="rect">
            <a:avLst/>
          </a:prstGeom>
          <a:noFill/>
          <a:ln/>
        </p:spPr>
        <p:txBody>
          <a:bodyPr wrap="square" lIns="0" tIns="0" rIns="0" bIns="0" rtlCol="0" anchor="ctr"/>
          <a:lstStyle/>
          <a:p>
            <a:pPr indent="0" marL="0">
              <a:buNone/>
            </a:pPr>
            <a:r>
              <a:rPr lang="en-US" sz="1700" b="1" dirty="0">
                <a:solidFill>
                  <a:srgbClr val="D9622B"/>
                </a:solidFill>
                <a:latin typeface="Cambria" pitchFamily="34" charset="0"/>
                <a:ea typeface="Cambria" pitchFamily="34" charset="-122"/>
                <a:cs typeface="Cambria" pitchFamily="34" charset="-120"/>
              </a:rPr>
              <a:t>1st year</a:t>
            </a:r>
            <a:endParaRPr lang="en-US" sz="1700" dirty="0"/>
          </a:p>
        </p:txBody>
      </p:sp>
      <p:sp>
        <p:nvSpPr>
          <p:cNvPr id="15" name="Text 13"/>
          <p:cNvSpPr/>
          <p:nvPr/>
        </p:nvSpPr>
        <p:spPr>
          <a:xfrm>
            <a:off x="9239783" y="2606040"/>
            <a:ext cx="2238680" cy="914400"/>
          </a:xfrm>
          <a:prstGeom prst="rect">
            <a:avLst/>
          </a:prstGeom>
          <a:noFill/>
          <a:ln/>
        </p:spPr>
        <p:txBody>
          <a:bodyPr wrap="square" lIns="0" tIns="0" rIns="0" bIns="0" rtlCol="0" anchor="ctr"/>
          <a:lstStyle/>
          <a:p>
            <a:pPr indent="0" marL="0">
              <a:lnSpc>
                <a:spcPct val="115000"/>
              </a:lnSpc>
              <a:buNone/>
            </a:pPr>
            <a:r>
              <a:rPr lang="en-US" sz="900" dirty="0">
                <a:solidFill>
                  <a:srgbClr val="3A4553"/>
                </a:solidFill>
                <a:latin typeface="Calibri" pitchFamily="34" charset="0"/>
                <a:ea typeface="Calibri" pitchFamily="34" charset="-122"/>
                <a:cs typeface="Calibri" pitchFamily="34" charset="-120"/>
              </a:rPr>
              <a:t>Since accumulated losses were fully set off — net worth has been positive for one year, not a decade</a:t>
            </a:r>
            <a:endParaRPr lang="en-US" sz="900" dirty="0"/>
          </a:p>
        </p:txBody>
      </p:sp>
      <p:sp>
        <p:nvSpPr>
          <p:cNvPr id="16" name="Shape 14"/>
          <p:cNvSpPr/>
          <p:nvPr/>
        </p:nvSpPr>
        <p:spPr>
          <a:xfrm>
            <a:off x="548640" y="3931920"/>
            <a:ext cx="11094415" cy="1965960"/>
          </a:xfrm>
          <a:prstGeom prst="roundRect">
            <a:avLst>
              <a:gd name="adj" fmla="val 3721"/>
            </a:avLst>
          </a:prstGeom>
          <a:solidFill>
            <a:srgbClr val="FBEEEC"/>
          </a:solidFill>
          <a:ln/>
        </p:spPr>
      </p:sp>
      <p:sp>
        <p:nvSpPr>
          <p:cNvPr id="17" name="Text 15"/>
          <p:cNvSpPr/>
          <p:nvPr/>
        </p:nvSpPr>
        <p:spPr>
          <a:xfrm>
            <a:off x="822960" y="4114800"/>
            <a:ext cx="10545775" cy="274320"/>
          </a:xfrm>
          <a:prstGeom prst="rect">
            <a:avLst/>
          </a:prstGeom>
          <a:noFill/>
          <a:ln/>
        </p:spPr>
        <p:txBody>
          <a:bodyPr wrap="square" lIns="0" tIns="0" rIns="0" bIns="0" rtlCol="0" anchor="ctr"/>
          <a:lstStyle/>
          <a:p>
            <a:pPr indent="0" marL="0">
              <a:buNone/>
            </a:pPr>
            <a:r>
              <a:rPr lang="en-US" sz="1000" b="1" spc="100" kern="0" dirty="0">
                <a:solidFill>
                  <a:srgbClr val="B8453F"/>
                </a:solidFill>
                <a:latin typeface="Calibri" pitchFamily="34" charset="0"/>
                <a:ea typeface="Calibri" pitchFamily="34" charset="-122"/>
                <a:cs typeface="Calibri" pitchFamily="34" charset="-120"/>
              </a:rPr>
              <a:t>THE POINT</a:t>
            </a:r>
            <a:endParaRPr lang="en-US" sz="1000" dirty="0"/>
          </a:p>
        </p:txBody>
      </p:sp>
      <p:sp>
        <p:nvSpPr>
          <p:cNvPr id="18" name="Text 16"/>
          <p:cNvSpPr/>
          <p:nvPr/>
        </p:nvSpPr>
        <p:spPr>
          <a:xfrm>
            <a:off x="822960" y="4434840"/>
            <a:ext cx="10545775" cy="1371600"/>
          </a:xfrm>
          <a:prstGeom prst="rect">
            <a:avLst/>
          </a:prstGeom>
          <a:noFill/>
          <a:ln/>
        </p:spPr>
        <p:txBody>
          <a:bodyPr wrap="square" lIns="0" tIns="0" rIns="0" bIns="0" rtlCol="0" anchor="t"/>
          <a:lstStyle/>
          <a:p>
            <a:pPr indent="0" marL="0">
              <a:lnSpc>
                <a:spcPct val="118000"/>
              </a:lnSpc>
              <a:buNone/>
            </a:pPr>
            <a:r>
              <a:rPr lang="en-US" sz="1030" dirty="0">
                <a:solidFill>
                  <a:srgbClr val="1C1F26"/>
                </a:solidFill>
                <a:latin typeface="Calibri" pitchFamily="34" charset="0"/>
                <a:ea typeface="Calibri" pitchFamily="34" charset="-122"/>
                <a:cs typeface="Calibri" pitchFamily="34" charset="-120"/>
              </a:rPr>
              <a:t>This capex cannot be funded from this year's cash flow — it was already spent building heat-treatment and testing capacity in the business Datre already runs. A new, unfamiliar-domain product line at this scale would need external financing, precisely when the Board's own stated priority — in the going-concern note and the investor deck's Investment Considerations — is balance-sheet repair and working-capital support, not a new capital programme. Q1 FY 2026-27 revenue is also down 42% year-on-year, which is the wrong backdrop against which to lever up for an unproven line.</a:t>
            </a:r>
            <a:endParaRPr lang="en-US" sz="1030" dirty="0"/>
          </a:p>
        </p:txBody>
      </p:sp>
      <p:sp>
        <p:nvSpPr>
          <p:cNvPr id="19" name="Text 17"/>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9AA2AD"/>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9AA2AD"/>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THE ALTERNATIVE</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The same moat, already converting — at a fraction of the risk</a:t>
            </a:r>
            <a:endParaRPr lang="en-US" sz="2800" dirty="0"/>
          </a:p>
        </p:txBody>
      </p:sp>
      <p:sp>
        <p:nvSpPr>
          <p:cNvPr id="4" name="Shape 2"/>
          <p:cNvSpPr/>
          <p:nvPr/>
        </p:nvSpPr>
        <p:spPr>
          <a:xfrm>
            <a:off x="548640" y="1691640"/>
            <a:ext cx="11094415" cy="786384"/>
          </a:xfrm>
          <a:prstGeom prst="roundRect">
            <a:avLst>
              <a:gd name="adj" fmla="val 6977"/>
            </a:avLst>
          </a:prstGeom>
          <a:solidFill>
            <a:srgbClr val="262B34"/>
          </a:solidFill>
          <a:ln/>
        </p:spPr>
      </p:sp>
      <p:sp>
        <p:nvSpPr>
          <p:cNvPr id="5" name="Text 3"/>
          <p:cNvSpPr/>
          <p:nvPr/>
        </p:nvSpPr>
        <p:spPr>
          <a:xfrm>
            <a:off x="822960" y="1691640"/>
            <a:ext cx="2651760" cy="786384"/>
          </a:xfrm>
          <a:prstGeom prst="rect">
            <a:avLst/>
          </a:prstGeom>
          <a:noFill/>
          <a:ln/>
        </p:spPr>
        <p:txBody>
          <a:bodyPr wrap="square" lIns="0" tIns="0" rIns="0" bIns="0" rtlCol="0" anchor="ctr"/>
          <a:lstStyle/>
          <a:p>
            <a:pPr indent="0" marL="0">
              <a:lnSpc>
                <a:spcPct val="105000"/>
              </a:lnSpc>
              <a:buNone/>
            </a:pPr>
            <a:r>
              <a:rPr lang="en-US" sz="1200" b="1" dirty="0">
                <a:solidFill>
                  <a:srgbClr val="D9622B"/>
                </a:solidFill>
                <a:latin typeface="Calibri" pitchFamily="34" charset="0"/>
                <a:ea typeface="Calibri" pitchFamily="34" charset="-122"/>
                <a:cs typeface="Calibri" pitchFamily="34" charset="-120"/>
              </a:rPr>
              <a:t>RDSO fresh registration</a:t>
            </a:r>
            <a:endParaRPr lang="en-US" sz="1200" dirty="0"/>
          </a:p>
        </p:txBody>
      </p:sp>
      <p:sp>
        <p:nvSpPr>
          <p:cNvPr id="6" name="Text 4"/>
          <p:cNvSpPr/>
          <p:nvPr/>
        </p:nvSpPr>
        <p:spPr>
          <a:xfrm>
            <a:off x="3611880" y="1691640"/>
            <a:ext cx="7756855" cy="786384"/>
          </a:xfrm>
          <a:prstGeom prst="rect">
            <a:avLst/>
          </a:prstGeom>
          <a:noFill/>
          <a:ln/>
        </p:spPr>
        <p:txBody>
          <a:bodyPr wrap="square" lIns="0" tIns="0" rIns="0" bIns="0" rtlCol="0" anchor="ctr"/>
          <a:lstStyle/>
          <a:p>
            <a:pPr indent="0" marL="0">
              <a:lnSpc>
                <a:spcPct val="112000"/>
              </a:lnSpc>
              <a:buNone/>
            </a:pPr>
            <a:r>
              <a:rPr lang="en-US" sz="1030" dirty="0">
                <a:solidFill>
                  <a:srgbClr val="FFFFFF"/>
                </a:solidFill>
                <a:latin typeface="Calibri" pitchFamily="34" charset="0"/>
                <a:ea typeface="Calibri" pitchFamily="34" charset="-122"/>
                <a:cs typeface="Calibri" pitchFamily="34" charset="-120"/>
              </a:rPr>
              <a:t>Cast-steel bogie components (side frames, bolsters, CASNUB) — approval-gated demand, inside Datre's existing RDSO 'A' accreditation, no new metallurgy.</a:t>
            </a:r>
            <a:endParaRPr lang="en-US" sz="1030" dirty="0"/>
          </a:p>
        </p:txBody>
      </p:sp>
      <p:sp>
        <p:nvSpPr>
          <p:cNvPr id="7" name="Shape 5"/>
          <p:cNvSpPr/>
          <p:nvPr/>
        </p:nvSpPr>
        <p:spPr>
          <a:xfrm>
            <a:off x="548640" y="2587752"/>
            <a:ext cx="11094415" cy="786384"/>
          </a:xfrm>
          <a:prstGeom prst="roundRect">
            <a:avLst>
              <a:gd name="adj" fmla="val 6977"/>
            </a:avLst>
          </a:prstGeom>
          <a:solidFill>
            <a:srgbClr val="262B34"/>
          </a:solidFill>
          <a:ln/>
        </p:spPr>
      </p:sp>
      <p:sp>
        <p:nvSpPr>
          <p:cNvPr id="8" name="Text 6"/>
          <p:cNvSpPr/>
          <p:nvPr/>
        </p:nvSpPr>
        <p:spPr>
          <a:xfrm>
            <a:off x="822960" y="2587752"/>
            <a:ext cx="2651760" cy="786384"/>
          </a:xfrm>
          <a:prstGeom prst="rect">
            <a:avLst/>
          </a:prstGeom>
          <a:noFill/>
          <a:ln/>
        </p:spPr>
        <p:txBody>
          <a:bodyPr wrap="square" lIns="0" tIns="0" rIns="0" bIns="0" rtlCol="0" anchor="ctr"/>
          <a:lstStyle/>
          <a:p>
            <a:pPr indent="0" marL="0">
              <a:lnSpc>
                <a:spcPct val="105000"/>
              </a:lnSpc>
              <a:buNone/>
            </a:pPr>
            <a:r>
              <a:rPr lang="en-US" sz="1200" b="1" dirty="0">
                <a:solidFill>
                  <a:srgbClr val="D9622B"/>
                </a:solidFill>
                <a:latin typeface="Calibri" pitchFamily="34" charset="0"/>
                <a:ea typeface="Calibri" pitchFamily="34" charset="-122"/>
                <a:cs typeface="Calibri" pitchFamily="34" charset="-120"/>
              </a:rPr>
              <a:t>Komatsu Himi Plant (Japan)</a:t>
            </a:r>
            <a:endParaRPr lang="en-US" sz="1200" dirty="0"/>
          </a:p>
        </p:txBody>
      </p:sp>
      <p:sp>
        <p:nvSpPr>
          <p:cNvPr id="9" name="Text 7"/>
          <p:cNvSpPr/>
          <p:nvPr/>
        </p:nvSpPr>
        <p:spPr>
          <a:xfrm>
            <a:off x="3611880" y="2587752"/>
            <a:ext cx="7756855" cy="786384"/>
          </a:xfrm>
          <a:prstGeom prst="rect">
            <a:avLst/>
          </a:prstGeom>
          <a:noFill/>
          <a:ln/>
        </p:spPr>
        <p:txBody>
          <a:bodyPr wrap="square" lIns="0" tIns="0" rIns="0" bIns="0" rtlCol="0" anchor="ctr"/>
          <a:lstStyle/>
          <a:p>
            <a:pPr indent="0" marL="0">
              <a:lnSpc>
                <a:spcPct val="112000"/>
              </a:lnSpc>
              <a:buNone/>
            </a:pPr>
            <a:r>
              <a:rPr lang="en-US" sz="1030" dirty="0">
                <a:solidFill>
                  <a:srgbClr val="FFFFFF"/>
                </a:solidFill>
                <a:latin typeface="Calibri" pitchFamily="34" charset="0"/>
                <a:ea typeface="Calibri" pitchFamily="34" charset="-122"/>
                <a:cs typeface="Calibri" pitchFamily="34" charset="-120"/>
              </a:rPr>
              <a:t>Four-year qualification concluded, direct contract executed. The purchase order for trial supplies is the next step — the moment to focus, not dilute, management attention.</a:t>
            </a:r>
            <a:endParaRPr lang="en-US" sz="1030" dirty="0"/>
          </a:p>
        </p:txBody>
      </p:sp>
      <p:sp>
        <p:nvSpPr>
          <p:cNvPr id="10" name="Shape 8"/>
          <p:cNvSpPr/>
          <p:nvPr/>
        </p:nvSpPr>
        <p:spPr>
          <a:xfrm>
            <a:off x="548640" y="3483864"/>
            <a:ext cx="11094415" cy="786384"/>
          </a:xfrm>
          <a:prstGeom prst="roundRect">
            <a:avLst>
              <a:gd name="adj" fmla="val 6977"/>
            </a:avLst>
          </a:prstGeom>
          <a:solidFill>
            <a:srgbClr val="262B34"/>
          </a:solidFill>
          <a:ln/>
        </p:spPr>
      </p:sp>
      <p:sp>
        <p:nvSpPr>
          <p:cNvPr id="11" name="Text 9"/>
          <p:cNvSpPr/>
          <p:nvPr/>
        </p:nvSpPr>
        <p:spPr>
          <a:xfrm>
            <a:off x="822960" y="3483864"/>
            <a:ext cx="2651760" cy="786384"/>
          </a:xfrm>
          <a:prstGeom prst="rect">
            <a:avLst/>
          </a:prstGeom>
          <a:noFill/>
          <a:ln/>
        </p:spPr>
        <p:txBody>
          <a:bodyPr wrap="square" lIns="0" tIns="0" rIns="0" bIns="0" rtlCol="0" anchor="ctr"/>
          <a:lstStyle/>
          <a:p>
            <a:pPr indent="0" marL="0">
              <a:lnSpc>
                <a:spcPct val="105000"/>
              </a:lnSpc>
              <a:buNone/>
            </a:pPr>
            <a:r>
              <a:rPr lang="en-US" sz="1200" b="1" dirty="0">
                <a:solidFill>
                  <a:srgbClr val="D9622B"/>
                </a:solidFill>
                <a:latin typeface="Calibri" pitchFamily="34" charset="0"/>
                <a:ea typeface="Calibri" pitchFamily="34" charset="-122"/>
                <a:cs typeface="Calibri" pitchFamily="34" charset="-120"/>
              </a:rPr>
              <a:t>Sona Comstar</a:t>
            </a:r>
            <a:endParaRPr lang="en-US" sz="1200" dirty="0"/>
          </a:p>
        </p:txBody>
      </p:sp>
      <p:sp>
        <p:nvSpPr>
          <p:cNvPr id="12" name="Text 10"/>
          <p:cNvSpPr/>
          <p:nvPr/>
        </p:nvSpPr>
        <p:spPr>
          <a:xfrm>
            <a:off x="3611880" y="3483864"/>
            <a:ext cx="7756855" cy="786384"/>
          </a:xfrm>
          <a:prstGeom prst="rect">
            <a:avLst/>
          </a:prstGeom>
          <a:noFill/>
          <a:ln/>
        </p:spPr>
        <p:txBody>
          <a:bodyPr wrap="square" lIns="0" tIns="0" rIns="0" bIns="0" rtlCol="0" anchor="ctr"/>
          <a:lstStyle/>
          <a:p>
            <a:pPr indent="0" marL="0">
              <a:lnSpc>
                <a:spcPct val="112000"/>
              </a:lnSpc>
              <a:buNone/>
            </a:pPr>
            <a:r>
              <a:rPr lang="en-US" sz="1030" dirty="0">
                <a:solidFill>
                  <a:srgbClr val="FFFFFF"/>
                </a:solidFill>
                <a:latin typeface="Calibri" pitchFamily="34" charset="0"/>
                <a:ea typeface="Calibri" pitchFamily="34" charset="-122"/>
                <a:cs typeface="Calibri" pitchFamily="34" charset="-120"/>
              </a:rPr>
              <a:t>Revised coupler pricing already concluded this year — margin captured with no new capex, no new qualification.</a:t>
            </a:r>
            <a:endParaRPr lang="en-US" sz="1030" dirty="0"/>
          </a:p>
        </p:txBody>
      </p:sp>
      <p:sp>
        <p:nvSpPr>
          <p:cNvPr id="13" name="Shape 11"/>
          <p:cNvSpPr/>
          <p:nvPr/>
        </p:nvSpPr>
        <p:spPr>
          <a:xfrm>
            <a:off x="548640" y="4379976"/>
            <a:ext cx="11094415" cy="786384"/>
          </a:xfrm>
          <a:prstGeom prst="roundRect">
            <a:avLst>
              <a:gd name="adj" fmla="val 6977"/>
            </a:avLst>
          </a:prstGeom>
          <a:solidFill>
            <a:srgbClr val="262B34"/>
          </a:solidFill>
          <a:ln/>
        </p:spPr>
      </p:sp>
      <p:sp>
        <p:nvSpPr>
          <p:cNvPr id="14" name="Text 12"/>
          <p:cNvSpPr/>
          <p:nvPr/>
        </p:nvSpPr>
        <p:spPr>
          <a:xfrm>
            <a:off x="822960" y="4379976"/>
            <a:ext cx="2651760" cy="786384"/>
          </a:xfrm>
          <a:prstGeom prst="rect">
            <a:avLst/>
          </a:prstGeom>
          <a:noFill/>
          <a:ln/>
        </p:spPr>
        <p:txBody>
          <a:bodyPr wrap="square" lIns="0" tIns="0" rIns="0" bIns="0" rtlCol="0" anchor="ctr"/>
          <a:lstStyle/>
          <a:p>
            <a:pPr indent="0" marL="0">
              <a:lnSpc>
                <a:spcPct val="105000"/>
              </a:lnSpc>
              <a:buNone/>
            </a:pPr>
            <a:r>
              <a:rPr lang="en-US" sz="1200" b="1" dirty="0">
                <a:solidFill>
                  <a:srgbClr val="D9622B"/>
                </a:solidFill>
                <a:latin typeface="Calibri" pitchFamily="34" charset="0"/>
                <a:ea typeface="Calibri" pitchFamily="34" charset="-122"/>
                <a:cs typeface="Calibri" pitchFamily="34" charset="-120"/>
              </a:rPr>
              <a:t>Tega Industries</a:t>
            </a:r>
            <a:endParaRPr lang="en-US" sz="1200" dirty="0"/>
          </a:p>
        </p:txBody>
      </p:sp>
      <p:sp>
        <p:nvSpPr>
          <p:cNvPr id="15" name="Text 13"/>
          <p:cNvSpPr/>
          <p:nvPr/>
        </p:nvSpPr>
        <p:spPr>
          <a:xfrm>
            <a:off x="3611880" y="4379976"/>
            <a:ext cx="7756855" cy="786384"/>
          </a:xfrm>
          <a:prstGeom prst="rect">
            <a:avLst/>
          </a:prstGeom>
          <a:noFill/>
          <a:ln/>
        </p:spPr>
        <p:txBody>
          <a:bodyPr wrap="square" lIns="0" tIns="0" rIns="0" bIns="0" rtlCol="0" anchor="ctr"/>
          <a:lstStyle/>
          <a:p>
            <a:pPr indent="0" marL="0">
              <a:lnSpc>
                <a:spcPct val="112000"/>
              </a:lnSpc>
              <a:buNone/>
            </a:pPr>
            <a:r>
              <a:rPr lang="en-US" sz="1030" dirty="0">
                <a:solidFill>
                  <a:srgbClr val="FFFFFF"/>
                </a:solidFill>
                <a:latin typeface="Calibri" pitchFamily="34" charset="0"/>
                <a:ea typeface="Calibri" pitchFamily="34" charset="-122"/>
                <a:cs typeface="Calibri" pitchFamily="34" charset="-120"/>
              </a:rPr>
              <a:t>New Combi Mill Liner casting, successful field trial in Sweden, repeat orders under discussion — same high-chrome expertise Datre has run for years.</a:t>
            </a:r>
            <a:endParaRPr lang="en-US" sz="1030" dirty="0"/>
          </a:p>
        </p:txBody>
      </p:sp>
      <p:sp>
        <p:nvSpPr>
          <p:cNvPr id="16" name="Shape 14"/>
          <p:cNvSpPr/>
          <p:nvPr/>
        </p:nvSpPr>
        <p:spPr>
          <a:xfrm>
            <a:off x="548640" y="5276088"/>
            <a:ext cx="11094415" cy="786384"/>
          </a:xfrm>
          <a:prstGeom prst="roundRect">
            <a:avLst>
              <a:gd name="adj" fmla="val 6977"/>
            </a:avLst>
          </a:prstGeom>
          <a:solidFill>
            <a:srgbClr val="262B34"/>
          </a:solidFill>
          <a:ln/>
        </p:spPr>
      </p:sp>
      <p:sp>
        <p:nvSpPr>
          <p:cNvPr id="17" name="Text 15"/>
          <p:cNvSpPr/>
          <p:nvPr/>
        </p:nvSpPr>
        <p:spPr>
          <a:xfrm>
            <a:off x="822960" y="5276088"/>
            <a:ext cx="2651760" cy="786384"/>
          </a:xfrm>
          <a:prstGeom prst="rect">
            <a:avLst/>
          </a:prstGeom>
          <a:noFill/>
          <a:ln/>
        </p:spPr>
        <p:txBody>
          <a:bodyPr wrap="square" lIns="0" tIns="0" rIns="0" bIns="0" rtlCol="0" anchor="ctr"/>
          <a:lstStyle/>
          <a:p>
            <a:pPr indent="0" marL="0">
              <a:lnSpc>
                <a:spcPct val="105000"/>
              </a:lnSpc>
              <a:buNone/>
            </a:pPr>
            <a:r>
              <a:rPr lang="en-US" sz="1200" b="1" dirty="0">
                <a:solidFill>
                  <a:srgbClr val="D9622B"/>
                </a:solidFill>
                <a:latin typeface="Calibri" pitchFamily="34" charset="0"/>
                <a:ea typeface="Calibri" pitchFamily="34" charset="-122"/>
                <a:cs typeface="Calibri" pitchFamily="34" charset="-120"/>
              </a:rPr>
              <a:t>Thejo Engineering</a:t>
            </a:r>
            <a:endParaRPr lang="en-US" sz="1200" dirty="0"/>
          </a:p>
        </p:txBody>
      </p:sp>
      <p:sp>
        <p:nvSpPr>
          <p:cNvPr id="18" name="Text 16"/>
          <p:cNvSpPr/>
          <p:nvPr/>
        </p:nvSpPr>
        <p:spPr>
          <a:xfrm>
            <a:off x="3611880" y="5276088"/>
            <a:ext cx="7756855" cy="786384"/>
          </a:xfrm>
          <a:prstGeom prst="rect">
            <a:avLst/>
          </a:prstGeom>
          <a:noFill/>
          <a:ln/>
        </p:spPr>
        <p:txBody>
          <a:bodyPr wrap="square" lIns="0" tIns="0" rIns="0" bIns="0" rtlCol="0" anchor="ctr"/>
          <a:lstStyle/>
          <a:p>
            <a:pPr indent="0" marL="0">
              <a:lnSpc>
                <a:spcPct val="112000"/>
              </a:lnSpc>
              <a:buNone/>
            </a:pPr>
            <a:r>
              <a:rPr lang="en-US" sz="1030" dirty="0">
                <a:solidFill>
                  <a:srgbClr val="FFFFFF"/>
                </a:solidFill>
                <a:latin typeface="Calibri" pitchFamily="34" charset="0"/>
                <a:ea typeface="Calibri" pitchFamily="34" charset="-122"/>
                <a:cs typeface="Calibri" pitchFamily="34" charset="-120"/>
              </a:rPr>
              <a:t>Brazil field trials encouraging, potential five-year fixed-term OEM contract — again, inside the existing product and metallurgy base.</a:t>
            </a:r>
            <a:endParaRPr lang="en-US" sz="1030" dirty="0"/>
          </a:p>
        </p:txBody>
      </p:sp>
      <p:sp>
        <p:nvSpPr>
          <p:cNvPr id="19" name="Text 17"/>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20" name="Text 18"/>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1F26"/>
        </a:solidFill>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100" b="1" spc="200" kern="0" dirty="0">
                <a:solidFill>
                  <a:srgbClr val="D9622B"/>
                </a:solidFill>
                <a:latin typeface="Calibri" pitchFamily="34" charset="0"/>
                <a:ea typeface="Calibri" pitchFamily="34" charset="-122"/>
                <a:cs typeface="Calibri" pitchFamily="34" charset="-120"/>
              </a:rPr>
              <a:t>RECOMMENDATION</a:t>
            </a:r>
            <a:endParaRPr lang="en-US" sz="1100" dirty="0"/>
          </a:p>
        </p:txBody>
      </p:sp>
      <p:sp>
        <p:nvSpPr>
          <p:cNvPr id="3" name="Text 1"/>
          <p:cNvSpPr/>
          <p:nvPr/>
        </p:nvSpPr>
        <p:spPr>
          <a:xfrm>
            <a:off x="548640" y="841248"/>
            <a:ext cx="11094415" cy="68580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Don't fund the pivot. Fund what's already converting.</a:t>
            </a:r>
            <a:endParaRPr lang="en-US" sz="2800" dirty="0"/>
          </a:p>
        </p:txBody>
      </p:sp>
      <p:sp>
        <p:nvSpPr>
          <p:cNvPr id="4" name="Shape 2"/>
          <p:cNvSpPr/>
          <p:nvPr/>
        </p:nvSpPr>
        <p:spPr>
          <a:xfrm>
            <a:off x="548640" y="1783080"/>
            <a:ext cx="384048" cy="384048"/>
          </a:xfrm>
          <a:prstGeom prst="ellipse">
            <a:avLst/>
          </a:prstGeom>
          <a:solidFill>
            <a:srgbClr val="D9622B"/>
          </a:solidFill>
          <a:ln/>
        </p:spPr>
      </p:sp>
      <p:sp>
        <p:nvSpPr>
          <p:cNvPr id="5" name="Text 3"/>
          <p:cNvSpPr/>
          <p:nvPr/>
        </p:nvSpPr>
        <p:spPr>
          <a:xfrm>
            <a:off x="548640" y="178308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1</a:t>
            </a:r>
            <a:endParaRPr lang="en-US" sz="1092" dirty="0"/>
          </a:p>
        </p:txBody>
      </p:sp>
      <p:sp>
        <p:nvSpPr>
          <p:cNvPr id="6" name="Text 4"/>
          <p:cNvSpPr/>
          <p:nvPr/>
        </p:nvSpPr>
        <p:spPr>
          <a:xfrm>
            <a:off x="1115568" y="1755648"/>
            <a:ext cx="10527487" cy="41148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Do not approve the consultant-led stainless/duplex capex now</a:t>
            </a:r>
            <a:endParaRPr lang="en-US" sz="1350" dirty="0"/>
          </a:p>
        </p:txBody>
      </p:sp>
      <p:sp>
        <p:nvSpPr>
          <p:cNvPr id="7" name="Text 5"/>
          <p:cNvSpPr/>
          <p:nvPr/>
        </p:nvSpPr>
        <p:spPr>
          <a:xfrm>
            <a:off x="1115568" y="2167128"/>
            <a:ext cx="10527487" cy="640080"/>
          </a:xfrm>
          <a:prstGeom prst="rect">
            <a:avLst/>
          </a:prstGeom>
          <a:noFill/>
          <a:ln/>
        </p:spPr>
        <p:txBody>
          <a:bodyPr wrap="square" lIns="0" tIns="0" rIns="0" bIns="0" rtlCol="0" anchor="ctr"/>
          <a:lstStyle/>
          <a:p>
            <a:pPr indent="0" marL="0">
              <a:lnSpc>
                <a:spcPct val="118000"/>
              </a:lnSpc>
              <a:buNone/>
            </a:pPr>
            <a:r>
              <a:rPr lang="en-US" sz="1030" dirty="0">
                <a:solidFill>
                  <a:srgbClr val="CBD3DC"/>
                </a:solidFill>
                <a:latin typeface="Calibri" pitchFamily="34" charset="0"/>
                <a:ea typeface="Calibri" pitchFamily="34" charset="-122"/>
                <a:cs typeface="Calibri" pitchFamily="34" charset="-120"/>
              </a:rPr>
              <a:t>The premise (idle capacity) doesn't hold up against Datre's own data, and the scope quietly admits it needs new metallurgical capability, not a capacity switch.</a:t>
            </a:r>
            <a:endParaRPr lang="en-US" sz="1030" dirty="0"/>
          </a:p>
        </p:txBody>
      </p:sp>
      <p:sp>
        <p:nvSpPr>
          <p:cNvPr id="8" name="Shape 6"/>
          <p:cNvSpPr/>
          <p:nvPr/>
        </p:nvSpPr>
        <p:spPr>
          <a:xfrm>
            <a:off x="548640" y="2971800"/>
            <a:ext cx="384048" cy="384048"/>
          </a:xfrm>
          <a:prstGeom prst="ellipse">
            <a:avLst/>
          </a:prstGeom>
          <a:solidFill>
            <a:srgbClr val="D9622B"/>
          </a:solidFill>
          <a:ln/>
        </p:spPr>
      </p:sp>
      <p:sp>
        <p:nvSpPr>
          <p:cNvPr id="9" name="Text 7"/>
          <p:cNvSpPr/>
          <p:nvPr/>
        </p:nvSpPr>
        <p:spPr>
          <a:xfrm>
            <a:off x="548640" y="297180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2</a:t>
            </a:r>
            <a:endParaRPr lang="en-US" sz="1092" dirty="0"/>
          </a:p>
        </p:txBody>
      </p:sp>
      <p:sp>
        <p:nvSpPr>
          <p:cNvPr id="10" name="Text 8"/>
          <p:cNvSpPr/>
          <p:nvPr/>
        </p:nvSpPr>
        <p:spPr>
          <a:xfrm>
            <a:off x="1115568" y="2944368"/>
            <a:ext cx="10527487" cy="41148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Direct capital to balance-sheet repair and the existing pipeline first</a:t>
            </a:r>
            <a:endParaRPr lang="en-US" sz="1350" dirty="0"/>
          </a:p>
        </p:txBody>
      </p:sp>
      <p:sp>
        <p:nvSpPr>
          <p:cNvPr id="11" name="Text 9"/>
          <p:cNvSpPr/>
          <p:nvPr/>
        </p:nvSpPr>
        <p:spPr>
          <a:xfrm>
            <a:off x="1115568" y="3355848"/>
            <a:ext cx="10527487" cy="640080"/>
          </a:xfrm>
          <a:prstGeom prst="rect">
            <a:avLst/>
          </a:prstGeom>
          <a:noFill/>
          <a:ln/>
        </p:spPr>
        <p:txBody>
          <a:bodyPr wrap="square" lIns="0" tIns="0" rIns="0" bIns="0" rtlCol="0" anchor="ctr"/>
          <a:lstStyle/>
          <a:p>
            <a:pPr indent="0" marL="0">
              <a:lnSpc>
                <a:spcPct val="118000"/>
              </a:lnSpc>
              <a:buNone/>
            </a:pPr>
            <a:r>
              <a:rPr lang="en-US" sz="1030" dirty="0">
                <a:solidFill>
                  <a:srgbClr val="CBD3DC"/>
                </a:solidFill>
                <a:latin typeface="Calibri" pitchFamily="34" charset="0"/>
                <a:ea typeface="Calibri" pitchFamily="34" charset="-122"/>
                <a:cs typeface="Calibri" pitchFamily="34" charset="-120"/>
              </a:rPr>
              <a:t>RDSO registration, the Komatsu order conversion, and scaling the Tega/Thejo relationships all use the moat Datre already has, at a fraction of the capital and qualification risk.</a:t>
            </a:r>
            <a:endParaRPr lang="en-US" sz="1030" dirty="0"/>
          </a:p>
        </p:txBody>
      </p:sp>
      <p:sp>
        <p:nvSpPr>
          <p:cNvPr id="12" name="Shape 10"/>
          <p:cNvSpPr/>
          <p:nvPr/>
        </p:nvSpPr>
        <p:spPr>
          <a:xfrm>
            <a:off x="548640" y="4160520"/>
            <a:ext cx="384048" cy="384048"/>
          </a:xfrm>
          <a:prstGeom prst="ellipse">
            <a:avLst/>
          </a:prstGeom>
          <a:solidFill>
            <a:srgbClr val="D9622B"/>
          </a:solidFill>
          <a:ln/>
        </p:spPr>
      </p:sp>
      <p:sp>
        <p:nvSpPr>
          <p:cNvPr id="13" name="Text 11"/>
          <p:cNvSpPr/>
          <p:nvPr/>
        </p:nvSpPr>
        <p:spPr>
          <a:xfrm>
            <a:off x="548640" y="4160520"/>
            <a:ext cx="384048" cy="384048"/>
          </a:xfrm>
          <a:prstGeom prst="rect">
            <a:avLst/>
          </a:prstGeom>
          <a:noFill/>
          <a:ln/>
        </p:spPr>
        <p:txBody>
          <a:bodyPr wrap="square" lIns="0" tIns="0" rIns="0" bIns="0" rtlCol="0" anchor="ctr"/>
          <a:lstStyle/>
          <a:p>
            <a:pPr algn="ctr" indent="0" marL="0">
              <a:buNone/>
            </a:pPr>
            <a:r>
              <a:rPr lang="en-US" sz="1092" b="1" dirty="0">
                <a:solidFill>
                  <a:srgbClr val="FFFFFF"/>
                </a:solidFill>
                <a:latin typeface="Calibri" pitchFamily="34" charset="0"/>
                <a:ea typeface="Calibri" pitchFamily="34" charset="-122"/>
                <a:cs typeface="Calibri" pitchFamily="34" charset="-120"/>
              </a:rPr>
              <a:t>3</a:t>
            </a:r>
            <a:endParaRPr lang="en-US" sz="1092" dirty="0"/>
          </a:p>
        </p:txBody>
      </p:sp>
      <p:sp>
        <p:nvSpPr>
          <p:cNvPr id="14" name="Text 12"/>
          <p:cNvSpPr/>
          <p:nvPr/>
        </p:nvSpPr>
        <p:spPr>
          <a:xfrm>
            <a:off x="1115568" y="4133088"/>
            <a:ext cx="10527487" cy="411480"/>
          </a:xfrm>
          <a:prstGeom prst="rect">
            <a:avLst/>
          </a:prstGeom>
          <a:noFill/>
          <a:ln/>
        </p:spPr>
        <p:txBody>
          <a:bodyPr wrap="square" lIns="0" tIns="0" rIns="0" bIns="0" rtlCol="0" anchor="ctr"/>
          <a:lstStyle/>
          <a:p>
            <a:pPr indent="0" marL="0">
              <a:lnSpc>
                <a:spcPct val="110000"/>
              </a:lnSpc>
              <a:buNone/>
            </a:pPr>
            <a:r>
              <a:rPr lang="en-US" sz="1350" b="1" dirty="0">
                <a:solidFill>
                  <a:srgbClr val="FFFFFF"/>
                </a:solidFill>
                <a:latin typeface="Calibri" pitchFamily="34" charset="0"/>
                <a:ea typeface="Calibri" pitchFamily="34" charset="-122"/>
                <a:cs typeface="Calibri" pitchFamily="34" charset="-120"/>
              </a:rPr>
              <a:t>If diversification into new alloy families is ever pursued</a:t>
            </a:r>
            <a:endParaRPr lang="en-US" sz="1350" dirty="0"/>
          </a:p>
        </p:txBody>
      </p:sp>
      <p:sp>
        <p:nvSpPr>
          <p:cNvPr id="15" name="Text 13"/>
          <p:cNvSpPr/>
          <p:nvPr/>
        </p:nvSpPr>
        <p:spPr>
          <a:xfrm>
            <a:off x="1115568" y="4544568"/>
            <a:ext cx="10527487" cy="640080"/>
          </a:xfrm>
          <a:prstGeom prst="rect">
            <a:avLst/>
          </a:prstGeom>
          <a:noFill/>
          <a:ln/>
        </p:spPr>
        <p:txBody>
          <a:bodyPr wrap="square" lIns="0" tIns="0" rIns="0" bIns="0" rtlCol="0" anchor="ctr"/>
          <a:lstStyle/>
          <a:p>
            <a:pPr indent="0" marL="0">
              <a:lnSpc>
                <a:spcPct val="118000"/>
              </a:lnSpc>
              <a:buNone/>
            </a:pPr>
            <a:r>
              <a:rPr lang="en-US" sz="1030" dirty="0">
                <a:solidFill>
                  <a:srgbClr val="CBD3DC"/>
                </a:solidFill>
                <a:latin typeface="Calibri" pitchFamily="34" charset="0"/>
                <a:ea typeface="Calibri" pitchFamily="34" charset="-122"/>
                <a:cs typeface="Calibri" pitchFamily="34" charset="-120"/>
              </a:rPr>
              <a:t>Run it on Datre's own diligence timeline, competitively bid rather than sole-sourced to a firm that mis-stated the plant's own furnace type and utilization, and sized so it doesn't outrun the balance sheet.</a:t>
            </a:r>
            <a:endParaRPr lang="en-US" sz="1030" dirty="0"/>
          </a:p>
        </p:txBody>
      </p:sp>
      <p:sp>
        <p:nvSpPr>
          <p:cNvPr id="16" name="Shape 14"/>
          <p:cNvSpPr/>
          <p:nvPr/>
        </p:nvSpPr>
        <p:spPr>
          <a:xfrm>
            <a:off x="548640" y="5394960"/>
            <a:ext cx="11094415" cy="777240"/>
          </a:xfrm>
          <a:prstGeom prst="roundRect">
            <a:avLst>
              <a:gd name="adj" fmla="val 9412"/>
            </a:avLst>
          </a:prstGeom>
          <a:solidFill>
            <a:srgbClr val="262B34"/>
          </a:solidFill>
          <a:ln/>
        </p:spPr>
      </p:sp>
      <p:sp>
        <p:nvSpPr>
          <p:cNvPr id="17" name="Text 15"/>
          <p:cNvSpPr/>
          <p:nvPr/>
        </p:nvSpPr>
        <p:spPr>
          <a:xfrm>
            <a:off x="822960" y="5394960"/>
            <a:ext cx="10545775" cy="777240"/>
          </a:xfrm>
          <a:prstGeom prst="rect">
            <a:avLst/>
          </a:prstGeom>
          <a:noFill/>
          <a:ln/>
        </p:spPr>
        <p:txBody>
          <a:bodyPr wrap="square" lIns="0" tIns="0" rIns="0" bIns="0" rtlCol="0" anchor="ctr"/>
          <a:lstStyle/>
          <a:p>
            <a:pPr indent="0" marL="0">
              <a:lnSpc>
                <a:spcPct val="115000"/>
              </a:lnSpc>
              <a:buNone/>
            </a:pPr>
            <a:r>
              <a:rPr lang="en-US" sz="1100" i="1" dirty="0">
                <a:solidFill>
                  <a:srgbClr val="E8B84B"/>
                </a:solidFill>
                <a:latin typeface="Calibri" pitchFamily="34" charset="0"/>
                <a:ea typeface="Calibri" pitchFamily="34" charset="-122"/>
                <a:cs typeface="Calibri" pitchFamily="34" charset="-120"/>
              </a:rPr>
              <a:t>The urgency in the consultant's proposal is theirs, not the business's. Datre's own pipeline is already converting on its own moat — the discipline now is to finish that, not to start a new one.</a:t>
            </a:r>
            <a:endParaRPr lang="en-US" sz="1100" dirty="0"/>
          </a:p>
        </p:txBody>
      </p:sp>
      <p:sp>
        <p:nvSpPr>
          <p:cNvPr id="18" name="Text 16"/>
          <p:cNvSpPr/>
          <p:nvPr/>
        </p:nvSpPr>
        <p:spPr>
          <a:xfrm>
            <a:off x="548640" y="6473952"/>
            <a:ext cx="11094415" cy="274320"/>
          </a:xfrm>
          <a:prstGeom prst="rect">
            <a:avLst/>
          </a:prstGeom>
          <a:noFill/>
          <a:ln/>
        </p:spPr>
        <p:txBody>
          <a:bodyPr wrap="square" lIns="0" tIns="0" rIns="0" bIns="0" rtlCol="0" anchor="ctr"/>
          <a:lstStyle/>
          <a:p>
            <a:pPr algn="l" indent="0" marL="0">
              <a:buNone/>
            </a:pPr>
            <a:r>
              <a:rPr lang="en-US" sz="800" dirty="0">
                <a:solidFill>
                  <a:srgbClr val="8B93A0"/>
                </a:solidFill>
                <a:latin typeface="Calibri" pitchFamily="34" charset="0"/>
                <a:ea typeface="Calibri" pitchFamily="34" charset="-122"/>
                <a:cs typeface="Calibri" pitchFamily="34" charset="-120"/>
              </a:rPr>
              <a:t>DATRE CORPORATION LIMITED  |  CONFIDENTIAL — PREPARED FOR BOARD / INVESTOR DISCUSSION</a:t>
            </a:r>
            <a:endParaRPr lang="en-US" sz="800" dirty="0"/>
          </a:p>
        </p:txBody>
      </p:sp>
      <p:sp>
        <p:nvSpPr>
          <p:cNvPr id="19" name="Text 17"/>
          <p:cNvSpPr/>
          <p:nvPr/>
        </p:nvSpPr>
        <p:spPr>
          <a:xfrm>
            <a:off x="11277295" y="6473952"/>
            <a:ext cx="457200" cy="274320"/>
          </a:xfrm>
          <a:prstGeom prst="rect">
            <a:avLst/>
          </a:prstGeom>
          <a:noFill/>
          <a:ln/>
        </p:spPr>
        <p:txBody>
          <a:bodyPr wrap="square" lIns="0" tIns="0" rIns="0" bIns="0" rtlCol="0" anchor="ctr"/>
          <a:lstStyle/>
          <a:p>
            <a:pPr algn="r" indent="0" marL="0">
              <a:buNone/>
            </a:pPr>
            <a:r>
              <a:rPr lang="en-US" sz="800" dirty="0">
                <a:solidFill>
                  <a:srgbClr val="8B93A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Datre Corporation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Datre Corporation Limited — The Idle-Capacity Pitch, A Reality Check</dc:title>
  <dc:subject>PptxGenJS Presentation</dc:subject>
  <dc:creator>Datre Corporation Limited</dc:creator>
  <cp:lastModifiedBy>Datre Corporation Limited</cp:lastModifiedBy>
  <cp:revision>1</cp:revision>
  <dcterms:created xsi:type="dcterms:W3CDTF">2026-09-03T08:55:35Z</dcterms:created>
  <dcterms:modified xsi:type="dcterms:W3CDTF">2026-09-03T08:55:35Z</dcterms:modified>
</cp:coreProperties>
</file>