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7.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8.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9.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Capacity utilization (%)</c:v>
                </c:pt>
              </c:strCache>
            </c:strRef>
          </c:tx>
          <c:spPr>
            <a:solidFill>
              <a:srgbClr val="E8B84B"/>
            </a:solidFill>
            <a:ln w="38100" cap="flat">
              <a:solidFill>
                <a:srgbClr val="E8B84B"/>
              </a:solidFill>
              <a:prstDash val="solid"/>
              <a:round/>
            </a:ln>
            <a:effectLst/>
          </c:spPr>
          <c:invertIfNegative val="0"/>
          <c:dLbls>
            <c:numFmt formatCode="#,##0" sourceLinked="0"/>
            <c:txPr>
              <a:bodyPr/>
              <a:lstStyle/>
              <a:p>
                <a:pPr>
                  <a:defRPr b="0" i="0" strike="noStrike" sz="1050" u="none">
                    <a:solidFill>
                      <a:srgbClr val="E8B84B"/>
                    </a:solidFill>
                    <a:latin typeface="Arial"/>
                  </a:defRPr>
                </a:pPr>
              </a:p>
            </c:txPr>
            <c:dLblPos val="t"/>
            <c:showLegendKey val="0"/>
            <c:showVal val="1"/>
            <c:showCatName val="0"/>
            <c:showSerName val="0"/>
            <c:showPercent val="0"/>
            <c:showBubbleSize val="0"/>
            <c:showLeaderLines val="0"/>
          </c:dLbls>
          <c:marker>
            <c:symbol val="circle"/>
            <c:size val="8"/>
            <c:spPr>
              <a:solidFill>
                <a:srgbClr val="E8B84B"/>
              </a:solidFill>
              <a:ln w="9525" cap="flat">
                <a:solidFill>
                  <a:srgbClr val="E8B84B"/>
                </a:solidFill>
                <a:prstDash val="solid"/>
                <a:round/>
              </a:ln>
              <a:effectLst/>
            </c:spPr>
          </c:marker>
          <c:cat>
            <c:multiLvlStrRef>
              <c:f>Sheet1!$A$2:$A$5</c:f>
              <c:multiLvlStrCache>
                <c:ptCount val="4"/>
                <c:lvl>
                  <c:pt idx="0">
                    <c:v>2018</c:v>
                  </c:pt>
                  <c:pt idx="1">
                    <c:v>2024</c:v>
                  </c:pt>
                  <c:pt idx="2">
                    <c:v>May '25</c:v>
                  </c:pt>
                  <c:pt idx="3">
                    <c:v>Aug '25</c:v>
                  </c:pt>
                </c:lvl>
              </c:multiLvlStrCache>
            </c:multiLvlStrRef>
          </c:cat>
          <c:val>
            <c:numRef>
              <c:f>Sheet1!$B$2:$B$5</c:f>
              <c:numCache>
                <c:formatCode>General</c:formatCode>
                <c:ptCount val="4"/>
                <c:pt idx="0">
                  <c:v>55</c:v>
                </c:pt>
                <c:pt idx="1">
                  <c:v>60</c:v>
                </c:pt>
                <c:pt idx="2">
                  <c:v>75</c:v>
                </c:pt>
                <c:pt idx="3">
                  <c:v>81</c:v>
                </c:pt>
              </c:numCache>
            </c:numRef>
          </c:val>
          <c:smooth val="0"/>
        </c:ser>
        <c:dLbls>
          <c:numFmt formatCode="#,##0" sourceLinked="0"/>
          <c:txPr>
            <a:bodyPr/>
            <a:lstStyle/>
            <a:p>
              <a:pPr>
                <a:defRPr b="0" i="0" strike="noStrike" sz="1050" u="none">
                  <a:solidFill>
                    <a:srgbClr val="E8B84B"/>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9AA2AD"/>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3A4553"/>
              </a:solidFill>
              <a:prstDash val="solid"/>
              <a:round/>
            </a:ln>
          </c:spPr>
        </c:majorGridlines>
        <c:title>
          <c:tx>
            <c:rich>
              <a:bodyPr/>
              <a:lstStyle/>
              <a:p>
                <a:pPr>
                  <a:defRPr sz="900" b="0" i="0" u="none" strike="noStrike">
                    <a:solidFill>
                      <a:srgbClr val="9AA2AD"/>
                    </a:solidFill>
                    <a:latin typeface="Arial"/>
                  </a:defRPr>
                </a:pPr>
                <a:r>
                  <a:rPr sz="900" b="0" i="0" u="none" strike="noStrike">
                    <a:solidFill>
                      <a:srgbClr val="9AA2AD"/>
                    </a:solidFill>
                    <a:latin typeface="Arial"/>
                  </a:rPr>
                  <a:t>% of installed capacity</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AA2AD"/>
                </a:solidFill>
                <a:latin typeface="Arial"/>
              </a:defRPr>
            </a:pPr>
            <a:endParaRPr lang="en-US"/>
          </a:p>
        </c:txPr>
        <c:crossAx val="2094734554"/>
        <c:crosses val="autoZero"/>
        <c:crossBetween val="between"/>
      </c:valAx>
      <c:spPr>
        <a:solidFill>
          <a:srgbClr val="1C1F26"/>
        </a:solidFill>
        <a:ln>
          <a:noFill/>
        </a:ln>
        <a:effectLst/>
      </c:spPr>
    </c:plotArea>
    <c:plotVisOnly val="1"/>
    <c:dispBlanksAs val="span"/>
  </c:chart>
  <c:spPr>
    <a:solidFill>
      <a:srgbClr val="1C1F2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 Cr)</c:v>
                </c:pt>
              </c:strCache>
            </c:strRef>
          </c:tx>
          <c:spPr>
            <a:solidFill>
              <a:srgbClr val="6B7684"/>
            </a:solidFill>
            <a:effectLst/>
          </c:spPr>
          <c:invertIfNegative val="0"/>
          <c:dLbls>
            <c:numFmt formatCode="#,##0" sourceLinked="0"/>
            <c:txPr>
              <a:bodyPr/>
              <a:lstStyle/>
              <a:p>
                <a:pPr>
                  <a:defRPr b="0" i="0" strike="noStrike" sz="900" u="none">
                    <a:solidFill>
                      <a:srgbClr val="1C1F26"/>
                    </a:solidFill>
                    <a:latin typeface="Arial"/>
                  </a:defRPr>
                </a:pPr>
              </a:p>
            </c:txPr>
            <c:dLblPos val="outEnd"/>
            <c:showLegendKey val="0"/>
            <c:showVal val="1"/>
            <c:showCatName val="0"/>
            <c:showSerName val="0"/>
            <c:showPercent val="0"/>
            <c:showBubbleSize val="0"/>
            <c:showLeaderLines val="0"/>
          </c:dLbls>
          <c:dPt>
            <c:idx val="0"/>
            <c:invertIfNegative val="0"/>
            <c:bubble3D val="0"/>
            <c:spPr>
              <a:solidFill>
                <a:srgbClr val="6B7684"/>
              </a:solidFill>
              <a:effectLst/>
            </c:spPr>
          </c:dPt>
          <c:dPt>
            <c:idx val="1"/>
            <c:invertIfNegative val="0"/>
            <c:bubble3D val="0"/>
            <c:spPr>
              <a:solidFill>
                <a:srgbClr val="D9622B"/>
              </a:solidFill>
              <a:effectLst/>
            </c:spPr>
          </c:dPt>
          <c:dPt>
            <c:idx val="2"/>
            <c:invertIfNegative val="0"/>
            <c:bubble3D val="0"/>
            <c:spPr>
              <a:solidFill>
                <a:srgbClr val="6B7684"/>
              </a:solidFill>
              <a:effectLst/>
            </c:spPr>
          </c:dPt>
          <c:dPt>
            <c:idx val="3"/>
            <c:invertIfNegative val="0"/>
            <c:bubble3D val="0"/>
            <c:spPr>
              <a:solidFill>
                <a:srgbClr val="D9622B"/>
              </a:solidFill>
              <a:effectLst/>
            </c:spPr>
          </c:dPt>
          <c:dPt>
            <c:idx val="4"/>
            <c:invertIfNegative val="0"/>
            <c:bubble3D val="0"/>
            <c:spPr>
              <a:solidFill>
                <a:srgbClr val="6B7684"/>
              </a:solidFill>
              <a:effectLst/>
            </c:spPr>
          </c:dPt>
          <c:dPt>
            <c:idx val="5"/>
            <c:invertIfNegative val="0"/>
            <c:bubble3D val="0"/>
            <c:spPr>
              <a:solidFill>
                <a:srgbClr val="D9622B"/>
              </a:solidFill>
              <a:effectLst/>
            </c:spPr>
          </c:dPt>
          <c:cat>
            <c:multiLvlStrRef>
              <c:f>Sheet1!$A$2:$A$7</c:f>
              <c:multiLvlStrCache>
                <c:ptCount val="6"/>
                <c:lvl>
                  <c:pt idx="0">
                    <c:v>FY20</c:v>
                  </c:pt>
                  <c:pt idx="1">
                    <c:v>FY21</c:v>
                  </c:pt>
                  <c:pt idx="2">
                    <c:v>FY22</c:v>
                  </c:pt>
                  <c:pt idx="3">
                    <c:v>FY23</c:v>
                  </c:pt>
                  <c:pt idx="4">
                    <c:v>FY24</c:v>
                  </c:pt>
                  <c:pt idx="5">
                    <c:v>FY25</c:v>
                  </c:pt>
                </c:lvl>
              </c:multiLvlStrCache>
            </c:multiLvlStrRef>
          </c:cat>
          <c:val>
            <c:numRef>
              <c:f>Sheet1!$B$2:$B$7</c:f>
              <c:numCache>
                <c:formatCode>General</c:formatCode>
                <c:ptCount val="6"/>
                <c:pt idx="0">
                  <c:v>12.51</c:v>
                </c:pt>
                <c:pt idx="1">
                  <c:v>8.49</c:v>
                </c:pt>
                <c:pt idx="2">
                  <c:v>9.34</c:v>
                </c:pt>
                <c:pt idx="3">
                  <c:v>17.26</c:v>
                </c:pt>
                <c:pt idx="4">
                  <c:v>21.42</c:v>
                </c:pt>
                <c:pt idx="5">
                  <c:v>20.41</c:v>
                </c:pt>
              </c:numCache>
            </c:numRef>
          </c:val>
        </c:ser>
        <c:dLbls>
          <c:numFmt formatCode="#,##0" sourceLinked="0"/>
          <c:txPr>
            <a:bodyPr/>
            <a:lstStyle/>
            <a:p>
              <a:pPr>
                <a:defRPr b="0" i="0" strike="noStrike" sz="900" u="none">
                  <a:solidFill>
                    <a:srgbClr val="1C1F26"/>
                  </a:solidFill>
                  <a:latin typeface="Arial"/>
                </a:defRPr>
              </a:pPr>
            </a:p>
          </c:txPr>
          <c:dLblPos val="outEnd"/>
          <c:showLegendKey val="0"/>
          <c:showVal val="1"/>
          <c:showCatName val="0"/>
          <c:showSerName val="0"/>
          <c:showPercent val="0"/>
          <c:showBubbleSize val="0"/>
          <c:showLeaderLines val="0"/>
        </c:dLbls>
        <c:gapWidth val="45"/>
        <c:overlap val="0"/>
        <c:axId val="2094734554"/>
        <c:axId val="2094734552"/>
        <c:axId val="2094734556"/>
      </c:barChart>
      <c:lineChart>
        <c:varyColors val="0"/>
        <c:ser>
          <c:idx val="1"/>
          <c:order val="1"/>
          <c:tx>
            <c:strRef>
              <c:f>Sheet1!$C$1</c:f>
              <c:strCache>
                <c:ptCount val="1"/>
                <c:pt idx="0">
                  <c:v>Net Profit / (Loss) (₹ Cr)</c:v>
                </c:pt>
              </c:strCache>
            </c:strRef>
          </c:tx>
          <c:spPr>
            <a:solidFill>
              <a:srgbClr val="6B7684"/>
            </a:solidFill>
            <a:ln w="31750" cap="flat">
              <a:solidFill>
                <a:srgbClr val="6B7684"/>
              </a:solidFill>
              <a:prstDash val="solid"/>
              <a:round/>
            </a:ln>
            <a:effectLst/>
          </c:spPr>
          <c:invertIfNegative val="0"/>
          <c:dLbls>
            <c:numFmt formatCode="#,##0" sourceLinked="0"/>
            <c:txPr>
              <a:bodyPr/>
              <a:lstStyle/>
              <a:p>
                <a:pPr>
                  <a:defRPr b="0" i="0" strike="noStrike" sz="900" u="none">
                    <a:solidFill>
                      <a:srgbClr val="1C1F26"/>
                    </a:solidFill>
                    <a:latin typeface="Arial"/>
                  </a:defRPr>
                </a:pPr>
              </a:p>
            </c:txPr>
            <c:dLblPos val="outEnd"/>
            <c:showLegendKey val="0"/>
            <c:showVal val="1"/>
            <c:showCatName val="0"/>
            <c:showSerName val="0"/>
            <c:showPercent val="0"/>
            <c:showBubbleSize val="0"/>
            <c:showLeaderLines val="0"/>
          </c:dLbls>
          <c:marker>
            <c:symbol val="circle"/>
            <c:size val="7"/>
            <c:spPr>
              <a:solidFill>
                <a:srgbClr val="D9622B"/>
              </a:solidFill>
              <a:ln w="9525" cap="flat">
                <a:solidFill>
                  <a:srgbClr val="6B7684"/>
                </a:solidFill>
                <a:prstDash val="solid"/>
                <a:round/>
              </a:ln>
              <a:effectLst/>
            </c:spPr>
          </c:marker>
          <c:cat>
            <c:multiLvlStrRef>
              <c:f>Sheet1!$A$2:$A$7</c:f>
              <c:multiLvlStrCache>
                <c:ptCount val="6"/>
                <c:lvl>
                  <c:pt idx="0">
                    <c:v>FY20</c:v>
                  </c:pt>
                  <c:pt idx="1">
                    <c:v>FY21</c:v>
                  </c:pt>
                  <c:pt idx="2">
                    <c:v>FY22</c:v>
                  </c:pt>
                  <c:pt idx="3">
                    <c:v>FY23</c:v>
                  </c:pt>
                  <c:pt idx="4">
                    <c:v>FY24</c:v>
                  </c:pt>
                  <c:pt idx="5">
                    <c:v>FY25</c:v>
                  </c:pt>
                </c:lvl>
              </c:multiLvlStrCache>
            </c:multiLvlStrRef>
          </c:cat>
          <c:val>
            <c:numRef>
              <c:f>Sheet1!$C$2:$C$7</c:f>
              <c:numCache>
                <c:formatCode>General</c:formatCode>
                <c:ptCount val="6"/>
                <c:pt idx="0">
                  <c:v>-2.33</c:v>
                </c:pt>
                <c:pt idx="1">
                  <c:v>-3.74</c:v>
                </c:pt>
                <c:pt idx="2">
                  <c:v>-0.05</c:v>
                </c:pt>
                <c:pt idx="3">
                  <c:v>1.47</c:v>
                </c:pt>
                <c:pt idx="4">
                  <c:v>1.45</c:v>
                </c:pt>
                <c:pt idx="5">
                  <c:v>1.38</c:v>
                </c:pt>
              </c:numCache>
            </c:numRef>
          </c:val>
          <c:smooth val="0"/>
        </c:ser>
        <c:dLbls>
          <c:numFmt formatCode="#,##0" sourceLinked="0"/>
          <c:txPr>
            <a:bodyPr/>
            <a:lstStyle/>
            <a:p>
              <a:pPr>
                <a:defRPr b="0" i="0" strike="noStrike" sz="900" u="none">
                  <a:solidFill>
                    <a:srgbClr val="1C1F26"/>
                  </a:solidFill>
                  <a:latin typeface="Arial"/>
                </a:defRPr>
              </a:pPr>
            </a:p>
          </c:txPr>
          <c:dLblPos val="outEnd"/>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3A455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1E4E9"/>
              </a:solidFill>
              <a:prstDash val="solid"/>
              <a:round/>
            </a:ln>
          </c:spPr>
        </c:majorGridlines>
        <c:title>
          <c:tx>
            <c:rich>
              <a:bodyPr/>
              <a:lstStyle/>
              <a:p>
                <a:pPr>
                  <a:defRPr sz="900" b="0" i="0" u="none" strike="noStrike">
                    <a:solidFill>
                      <a:srgbClr val="6B7684"/>
                    </a:solidFill>
                    <a:latin typeface="Arial"/>
                  </a:defRPr>
                </a:pPr>
                <a:r>
                  <a:rPr sz="900" b="0" i="0" u="none" strike="noStrike">
                    <a:solidFill>
                      <a:srgbClr val="6B7684"/>
                    </a:solidFill>
                    <a:latin typeface="Arial"/>
                  </a:rPr>
                  <a:t>₹ Crore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3A4553"/>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FY24-25 Net Sales (₹ Cr)</c:v>
                </c:pt>
              </c:strCache>
            </c:strRef>
          </c:tx>
          <c:spPr>
            <a:solidFill>
              <a:srgbClr val="CBD3DC"/>
            </a:solidFill>
            <a:effectLst/>
          </c:spPr>
          <c:invertIfNegative val="0"/>
          <c:dLbls>
            <c:numFmt formatCode="#,##0" sourceLinked="0"/>
            <c:txPr>
              <a:bodyPr/>
              <a:lstStyle/>
              <a:p>
                <a:pPr>
                  <a:defRPr b="0" i="0" strike="noStrike" sz="900" u="none">
                    <a:solidFill>
                      <a:srgbClr val="1C1F26"/>
                    </a:solidFill>
                    <a:latin typeface="Arial"/>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3.87</c:v>
                </c:pt>
                <c:pt idx="1">
                  <c:v>4.76</c:v>
                </c:pt>
                <c:pt idx="2">
                  <c:v>4.39</c:v>
                </c:pt>
                <c:pt idx="3">
                  <c:v>6.51</c:v>
                </c:pt>
              </c:numCache>
            </c:numRef>
          </c:val>
        </c:ser>
        <c:ser>
          <c:idx val="1"/>
          <c:order val="1"/>
          <c:tx>
            <c:strRef>
              <c:f>Sheet1!$C$1</c:f>
              <c:strCache>
                <c:ptCount val="1"/>
                <c:pt idx="0">
                  <c:v>FY25-26 Net Sales (₹ Cr)</c:v>
                </c:pt>
              </c:strCache>
            </c:strRef>
          </c:tx>
          <c:spPr>
            <a:solidFill>
              <a:srgbClr val="D9622B"/>
            </a:solidFill>
            <a:effectLst/>
          </c:spPr>
          <c:invertIfNegative val="0"/>
          <c:dLbls>
            <c:numFmt formatCode="#,##0" sourceLinked="0"/>
            <c:txPr>
              <a:bodyPr/>
              <a:lstStyle/>
              <a:p>
                <a:pPr>
                  <a:defRPr b="0" i="0" strike="noStrike" sz="900" u="none">
                    <a:solidFill>
                      <a:srgbClr val="1C1F26"/>
                    </a:solidFill>
                    <a:latin typeface="Arial"/>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Sheet1!$C$2:$C$5</c:f>
              <c:numCache>
                <c:formatCode>General</c:formatCode>
                <c:ptCount val="4"/>
                <c:pt idx="0">
                  <c:v>8.39</c:v>
                </c:pt>
                <c:pt idx="1">
                  <c:v>6.37</c:v>
                </c:pt>
                <c:pt idx="2">
                  <c:v>7.85</c:v>
                </c:pt>
                <c:pt idx="3">
                  <c:v>2.29</c:v>
                </c:pt>
              </c:numCache>
            </c:numRef>
          </c:val>
        </c:ser>
        <c:dLbls>
          <c:numFmt formatCode="#,##0" sourceLinked="0"/>
          <c:txPr>
            <a:bodyPr/>
            <a:lstStyle/>
            <a:p>
              <a:pPr>
                <a:defRPr b="0" i="0" strike="noStrike" sz="900" u="none">
                  <a:solidFill>
                    <a:srgbClr val="1C1F26"/>
                  </a:solidFill>
                  <a:latin typeface="Arial"/>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55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1E4E9"/>
              </a:solidFill>
              <a:prstDash val="solid"/>
              <a:round/>
            </a:ln>
          </c:spPr>
        </c:majorGridlines>
        <c:title>
          <c:tx>
            <c:rich>
              <a:bodyPr/>
              <a:lstStyle/>
              <a:p>
                <a:pPr>
                  <a:defRPr sz="900" b="0" i="0" u="none" strike="noStrike">
                    <a:solidFill>
                      <a:srgbClr val="6B7684"/>
                    </a:solidFill>
                    <a:latin typeface="Arial"/>
                  </a:defRPr>
                </a:pPr>
                <a:r>
                  <a:rPr sz="900" b="0" i="0" u="none" strike="noStrike">
                    <a:solidFill>
                      <a:srgbClr val="6B7684"/>
                    </a:solidFill>
                    <a:latin typeface="Arial"/>
                  </a:rPr>
                  <a:t>₹ Crore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3A4553"/>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Net Worth (₹ Cr)</c:v>
                </c:pt>
              </c:strCache>
            </c:strRef>
          </c:tx>
          <c:spPr>
            <a:solidFill>
              <a:srgbClr val="B8453F"/>
            </a:solidFill>
            <a:effectLst/>
          </c:spPr>
          <c:invertIfNegative val="0"/>
          <c:dLbls>
            <c:numFmt formatCode="#,##0" sourceLinked="0"/>
            <c:txPr>
              <a:bodyPr/>
              <a:lstStyle/>
              <a:p>
                <a:pPr>
                  <a:defRPr b="0" i="0" strike="noStrike" sz="1000" u="none">
                    <a:solidFill>
                      <a:srgbClr val="1C1F26"/>
                    </a:solidFill>
                    <a:latin typeface="Arial"/>
                  </a:defRPr>
                </a:pPr>
              </a:p>
            </c:txPr>
            <c:showLegendKey val="0"/>
            <c:showVal val="1"/>
            <c:showCatName val="0"/>
            <c:showSerName val="0"/>
            <c:showPercent val="0"/>
            <c:showBubbleSize val="0"/>
            <c:showLeaderLines val="0"/>
          </c:dLbls>
          <c:cat>
            <c:multiLvlStrRef>
              <c:f>Sheet1!$A$2:$A$5</c:f>
              <c:multiLvlStrCache>
                <c:ptCount val="4"/>
                <c:lvl>
                  <c:pt idx="0">
                    <c:v>FY22</c:v>
                  </c:pt>
                  <c:pt idx="1">
                    <c:v>FY23</c:v>
                  </c:pt>
                  <c:pt idx="2">
                    <c:v>FY24</c:v>
                  </c:pt>
                  <c:pt idx="3">
                    <c:v>FY25</c:v>
                  </c:pt>
                </c:lvl>
              </c:multiLvlStrCache>
            </c:multiLvlStrRef>
          </c:cat>
          <c:val>
            <c:numRef>
              <c:f>Sheet1!$B$2:$B$5</c:f>
              <c:numCache>
                <c:formatCode>General</c:formatCode>
                <c:ptCount val="4"/>
                <c:pt idx="0">
                  <c:v>-5.94</c:v>
                </c:pt>
                <c:pt idx="1">
                  <c:v>-4.46</c:v>
                </c:pt>
                <c:pt idx="2">
                  <c:v>-2.92</c:v>
                </c:pt>
                <c:pt idx="3">
                  <c:v>-1.54</c:v>
                </c:pt>
              </c:numCache>
            </c:numRef>
          </c:val>
        </c:ser>
        <c:dLbls>
          <c:numFmt formatCode="#,##0" sourceLinked="0"/>
          <c:txPr>
            <a:bodyPr/>
            <a:lstStyle/>
            <a:p>
              <a:pPr>
                <a:defRPr b="0" i="0" strike="noStrike" sz="1000" u="none">
                  <a:solidFill>
                    <a:srgbClr val="1C1F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55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1E4E9"/>
              </a:solidFill>
              <a:prstDash val="solid"/>
              <a:round/>
            </a:ln>
          </c:spPr>
        </c:majorGridlines>
        <c:title>
          <c:tx>
            <c:rich>
              <a:bodyPr/>
              <a:lstStyle/>
              <a:p>
                <a:pPr>
                  <a:defRPr sz="900" b="0" i="0" u="none" strike="noStrike">
                    <a:solidFill>
                      <a:srgbClr val="6B7684"/>
                    </a:solidFill>
                    <a:latin typeface="Arial"/>
                  </a:defRPr>
                </a:pPr>
                <a:r>
                  <a:rPr sz="900" b="0" i="0" u="none" strike="noStrike">
                    <a:solidFill>
                      <a:srgbClr val="6B7684"/>
                    </a:solidFill>
                    <a:latin typeface="Arial"/>
                  </a:rPr>
                  <a:t>₹ Crore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3A4553"/>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CEO CTC as % of turnover</c:v>
                </c:pt>
              </c:strCache>
            </c:strRef>
          </c:tx>
          <c:spPr>
            <a:solidFill>
              <a:srgbClr val="D9622B"/>
            </a:solidFill>
            <a:effectLst/>
          </c:spPr>
          <c:invertIfNegative val="0"/>
          <c:dLbls>
            <c:numFmt formatCode="0.00&quot;%&quot;" sourceLinked="0"/>
            <c:txPr>
              <a:bodyPr/>
              <a:lstStyle/>
              <a:p>
                <a:pPr>
                  <a:defRPr b="0" i="0" strike="noStrike" sz="1100" u="none">
                    <a:solidFill>
                      <a:srgbClr val="1C1F26"/>
                    </a:solidFill>
                    <a:latin typeface="Arial"/>
                  </a:defRPr>
                </a:pPr>
              </a:p>
            </c:txPr>
            <c:showLegendKey val="0"/>
            <c:showVal val="1"/>
            <c:showCatName val="0"/>
            <c:showSerName val="0"/>
            <c:showPercent val="0"/>
            <c:showBubbleSize val="0"/>
            <c:showLeaderLines val="0"/>
          </c:dLbls>
          <c:cat>
            <c:multiLvlStrRef>
              <c:f>Sheet1!$A$2:$A$6</c:f>
              <c:multiLvlStrCache>
                <c:ptCount val="5"/>
                <c:lvl>
                  <c:pt idx="0">
                    <c:v>FY22</c:v>
                  </c:pt>
                  <c:pt idx="1">
                    <c:v>FY23</c:v>
                  </c:pt>
                  <c:pt idx="2">
                    <c:v>FY24</c:v>
                  </c:pt>
                  <c:pt idx="3">
                    <c:v>FY25</c:v>
                  </c:pt>
                  <c:pt idx="4">
                    <c:v>FY25-26</c:v>
                  </c:pt>
                </c:lvl>
              </c:multiLvlStrCache>
            </c:multiLvlStrRef>
          </c:cat>
          <c:val>
            <c:numRef>
              <c:f>Sheet1!$B$2:$B$6</c:f>
              <c:numCache>
                <c:formatCode>General</c:formatCode>
                <c:ptCount val="5"/>
                <c:pt idx="0">
                  <c:v>1.72</c:v>
                </c:pt>
                <c:pt idx="1">
                  <c:v>1.52</c:v>
                </c:pt>
                <c:pt idx="2">
                  <c:v>1.26</c:v>
                </c:pt>
                <c:pt idx="3">
                  <c:v>1.59</c:v>
                </c:pt>
                <c:pt idx="4">
                  <c:v>1.51</c:v>
                </c:pt>
              </c:numCache>
            </c:numRef>
          </c:val>
        </c:ser>
        <c:dLbls>
          <c:numFmt formatCode="0.00&quot;%&quot;" sourceLinked="0"/>
          <c:txPr>
            <a:bodyPr/>
            <a:lstStyle/>
            <a:p>
              <a:pPr>
                <a:defRPr b="0" i="0" strike="noStrike" sz="1100" u="none">
                  <a:solidFill>
                    <a:srgbClr val="1C1F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553"/>
                </a:solidFill>
                <a:latin typeface="Arial"/>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9525" cap="flat">
              <a:solidFill>
                <a:srgbClr val="E1E4E9"/>
              </a:solidFill>
              <a:prstDash val="solid"/>
              <a:round/>
            </a:ln>
          </c:spPr>
        </c:majorGridlines>
        <c:title>
          <c:tx>
            <c:rich>
              <a:bodyPr/>
              <a:lstStyle/>
              <a:p>
                <a:pPr>
                  <a:defRPr sz="900" b="0" i="0" u="none" strike="noStrike">
                    <a:solidFill>
                      <a:srgbClr val="6B7684"/>
                    </a:solidFill>
                    <a:latin typeface="Arial"/>
                  </a:defRPr>
                </a:pPr>
                <a:r>
                  <a:rPr sz="900" b="0" i="0" u="none" strike="noStrike">
                    <a:solidFill>
                      <a:srgbClr val="6B7684"/>
                    </a:solidFill>
                    <a:latin typeface="Arial"/>
                  </a:rPr>
                  <a:t>% of turnover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3A4553"/>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Tega's share of total business contribution (%)</c:v>
                </c:pt>
              </c:strCache>
            </c:strRef>
          </c:tx>
          <c:spPr>
            <a:solidFill>
              <a:srgbClr val="D9622B"/>
            </a:solidFill>
            <a:ln w="38100" cap="flat">
              <a:solidFill>
                <a:srgbClr val="D9622B"/>
              </a:solidFill>
              <a:prstDash val="solid"/>
              <a:round/>
            </a:ln>
            <a:effectLst/>
          </c:spPr>
          <c:invertIfNegative val="0"/>
          <c:dLbls>
            <c:numFmt formatCode="#,##0" sourceLinked="0"/>
            <c:txPr>
              <a:bodyPr/>
              <a:lstStyle/>
              <a:p>
                <a:pPr>
                  <a:defRPr b="0" i="0" strike="noStrike" sz="1100" u="none">
                    <a:solidFill>
                      <a:srgbClr val="D9622B"/>
                    </a:solidFill>
                    <a:latin typeface="Arial"/>
                  </a:defRPr>
                </a:pPr>
              </a:p>
            </c:txPr>
            <c:dLblPos val="t"/>
            <c:showLegendKey val="0"/>
            <c:showVal val="1"/>
            <c:showCatName val="0"/>
            <c:showSerName val="0"/>
            <c:showPercent val="0"/>
            <c:showBubbleSize val="0"/>
            <c:showLeaderLines val="0"/>
          </c:dLbls>
          <c:marker>
            <c:symbol val="circle"/>
            <c:size val="9"/>
            <c:spPr>
              <a:solidFill>
                <a:srgbClr val="D9622B"/>
              </a:solidFill>
              <a:ln w="9525" cap="flat">
                <a:solidFill>
                  <a:srgbClr val="D9622B"/>
                </a:solidFill>
                <a:prstDash val="solid"/>
                <a:round/>
              </a:ln>
              <a:effectLst/>
            </c:spPr>
          </c:marker>
          <c:cat>
            <c:multiLvlStrRef>
              <c:f>Sheet1!$A$2:$A$4</c:f>
              <c:multiLvlStrCache>
                <c:ptCount val="3"/>
                <c:lvl>
                  <c:pt idx="0">
                    <c:v>FY22</c:v>
                  </c:pt>
                  <c:pt idx="1">
                    <c:v>FY24</c:v>
                  </c:pt>
                  <c:pt idx="2">
                    <c:v>FY26 (proj.)</c:v>
                  </c:pt>
                </c:lvl>
              </c:multiLvlStrCache>
            </c:multiLvlStrRef>
          </c:cat>
          <c:val>
            <c:numRef>
              <c:f>Sheet1!$B$2:$B$4</c:f>
              <c:numCache>
                <c:formatCode>General</c:formatCode>
                <c:ptCount val="3"/>
                <c:pt idx="0">
                  <c:v>14.3</c:v>
                </c:pt>
                <c:pt idx="1">
                  <c:v>53.5</c:v>
                </c:pt>
                <c:pt idx="2">
                  <c:v>76.4</c:v>
                </c:pt>
              </c:numCache>
            </c:numRef>
          </c:val>
          <c:smooth val="0"/>
        </c:ser>
        <c:dLbls>
          <c:numFmt formatCode="#,##0" sourceLinked="0"/>
          <c:txPr>
            <a:bodyPr/>
            <a:lstStyle/>
            <a:p>
              <a:pPr>
                <a:defRPr b="0" i="0" strike="noStrike" sz="1100" u="none">
                  <a:solidFill>
                    <a:srgbClr val="D9622B"/>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553"/>
                </a:solidFill>
                <a:latin typeface="Arial"/>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9525" cap="flat">
              <a:solidFill>
                <a:srgbClr val="E1E4E9"/>
              </a:solidFill>
              <a:prstDash val="solid"/>
              <a:round/>
            </a:ln>
          </c:spPr>
        </c:majorGridlines>
        <c:title>
          <c:tx>
            <c:rich>
              <a:bodyPr/>
              <a:lstStyle/>
              <a:p>
                <a:pPr>
                  <a:defRPr sz="900" b="0" i="0" u="none" strike="noStrike">
                    <a:solidFill>
                      <a:srgbClr val="6B7684"/>
                    </a:solidFill>
                    <a:latin typeface="Arial"/>
                  </a:defRPr>
                </a:pPr>
                <a:r>
                  <a:rPr sz="900" b="0" i="0" u="none" strike="noStrike">
                    <a:solidFill>
                      <a:srgbClr val="6B7684"/>
                    </a:solidFill>
                    <a:latin typeface="Arial"/>
                  </a:rPr>
                  <a:t>% of contribution</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3A4553"/>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In-house rejection rate (% of production)</c:v>
                </c:pt>
              </c:strCache>
            </c:strRef>
          </c:tx>
          <c:spPr>
            <a:solidFill>
              <a:srgbClr val="B8453F"/>
            </a:solidFill>
            <a:effectLst/>
          </c:spPr>
          <c:invertIfNegative val="0"/>
          <c:dLbls>
            <c:numFmt formatCode="#,##0" sourceLinked="0"/>
            <c:txPr>
              <a:bodyPr/>
              <a:lstStyle/>
              <a:p>
                <a:pPr>
                  <a:defRPr b="0" i="0" strike="noStrike" sz="1000" u="none">
                    <a:solidFill>
                      <a:srgbClr val="1C1F26"/>
                    </a:solidFill>
                    <a:latin typeface="Arial"/>
                  </a:defRPr>
                </a:pPr>
              </a:p>
            </c:txPr>
            <c:showLegendKey val="0"/>
            <c:showVal val="1"/>
            <c:showCatName val="0"/>
            <c:showSerName val="0"/>
            <c:showPercent val="0"/>
            <c:showBubbleSize val="0"/>
            <c:showLeaderLines val="0"/>
          </c:dLbls>
          <c:cat>
            <c:multiLvlStrRef>
              <c:f>Sheet1!$A$2:$A$6</c:f>
              <c:multiLvlStrCache>
                <c:ptCount val="5"/>
                <c:lvl>
                  <c:pt idx="0">
                    <c:v>FY22-23</c:v>
                  </c:pt>
                  <c:pt idx="1">
                    <c:v>FY23-24</c:v>
                  </c:pt>
                  <c:pt idx="2">
                    <c:v>FY24-25</c:v>
                  </c:pt>
                  <c:pt idx="3">
                    <c:v>FY25-26</c:v>
                  </c:pt>
                  <c:pt idx="4">
                    <c:v>FY26-27 YTD</c:v>
                  </c:pt>
                </c:lvl>
              </c:multiLvlStrCache>
            </c:multiLvlStrRef>
          </c:cat>
          <c:val>
            <c:numRef>
              <c:f>Sheet1!$B$2:$B$6</c:f>
              <c:numCache>
                <c:formatCode>General</c:formatCode>
                <c:ptCount val="5"/>
                <c:pt idx="0">
                  <c:v>2.59</c:v>
                </c:pt>
                <c:pt idx="1">
                  <c:v>6.54</c:v>
                </c:pt>
                <c:pt idx="2">
                  <c:v>5.41</c:v>
                </c:pt>
                <c:pt idx="3">
                  <c:v>6.75</c:v>
                </c:pt>
                <c:pt idx="4">
                  <c:v>10.12</c:v>
                </c:pt>
              </c:numCache>
            </c:numRef>
          </c:val>
        </c:ser>
        <c:dLbls>
          <c:numFmt formatCode="#,##0" sourceLinked="0"/>
          <c:txPr>
            <a:bodyPr/>
            <a:lstStyle/>
            <a:p>
              <a:pPr>
                <a:defRPr b="0" i="0" strike="noStrike" sz="1000" u="none">
                  <a:solidFill>
                    <a:srgbClr val="1C1F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A455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1E4E9"/>
              </a:solidFill>
              <a:prstDash val="solid"/>
              <a:round/>
            </a:ln>
          </c:spPr>
        </c:majorGridlines>
        <c:title>
          <c:tx>
            <c:rich>
              <a:bodyPr/>
              <a:lstStyle/>
              <a:p>
                <a:pPr>
                  <a:defRPr sz="900" b="0" i="0" u="none" strike="noStrike">
                    <a:solidFill>
                      <a:srgbClr val="6B7684"/>
                    </a:solidFill>
                    <a:latin typeface="Arial"/>
                  </a:defRPr>
                </a:pPr>
                <a:r>
                  <a:rPr sz="900" b="0" i="0" u="none" strike="noStrike">
                    <a:solidFill>
                      <a:srgbClr val="6B7684"/>
                    </a:solidFill>
                    <a:latin typeface="Arial"/>
                  </a:rPr>
                  <a:t>% rejected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3A4553"/>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Contribution (₹/kg)</c:v>
                </c:pt>
              </c:strCache>
            </c:strRef>
          </c:tx>
          <c:spPr>
            <a:solidFill>
              <a:srgbClr val="D9622B"/>
            </a:solidFill>
            <a:effectLst/>
          </c:spPr>
          <c:invertIfNegative val="0"/>
          <c:dLbls>
            <c:numFmt formatCode="#,##0" sourceLinked="0"/>
            <c:txPr>
              <a:bodyPr/>
              <a:lstStyle/>
              <a:p>
                <a:pPr>
                  <a:defRPr b="0" i="0" strike="noStrike" sz="1000" u="none">
                    <a:solidFill>
                      <a:srgbClr val="1C1F26"/>
                    </a:solidFill>
                    <a:latin typeface="Arial"/>
                  </a:defRPr>
                </a:pPr>
              </a:p>
            </c:txPr>
            <c:showLegendKey val="0"/>
            <c:showVal val="1"/>
            <c:showCatName val="0"/>
            <c:showSerName val="0"/>
            <c:showPercent val="0"/>
            <c:showBubbleSize val="0"/>
            <c:showLeaderLines val="0"/>
          </c:dLbls>
          <c:cat>
            <c:multiLvlStrRef>
              <c:f>Sheet1!$A$2:$A$6</c:f>
              <c:multiLvlStrCache>
                <c:ptCount val="5"/>
                <c:lvl>
                  <c:pt idx="0">
                    <c:v>Escorts MB</c:v>
                  </c:pt>
                  <c:pt idx="1">
                    <c:v>Escorts KN</c:v>
                  </c:pt>
                  <c:pt idx="2">
                    <c:v>Tega Small</c:v>
                  </c:pt>
                  <c:pt idx="3">
                    <c:v>Tega Big</c:v>
                  </c:pt>
                  <c:pt idx="4">
                    <c:v>Komatsu idler (avg.)</c:v>
                  </c:pt>
                </c:lvl>
              </c:multiLvlStrCache>
            </c:multiLvlStrRef>
          </c:cat>
          <c:val>
            <c:numRef>
              <c:f>Sheet1!$B$2:$B$6</c:f>
              <c:numCache>
                <c:formatCode>General</c:formatCode>
                <c:ptCount val="5"/>
                <c:pt idx="0">
                  <c:v>30</c:v>
                </c:pt>
                <c:pt idx="1">
                  <c:v>58</c:v>
                </c:pt>
                <c:pt idx="2">
                  <c:v>58</c:v>
                </c:pt>
                <c:pt idx="3">
                  <c:v>60</c:v>
                </c:pt>
                <c:pt idx="4">
                  <c:v>88</c:v>
                </c:pt>
              </c:numCache>
            </c:numRef>
          </c:val>
        </c:ser>
        <c:dLbls>
          <c:numFmt formatCode="#,##0" sourceLinked="0"/>
          <c:txPr>
            <a:bodyPr/>
            <a:lstStyle/>
            <a:p>
              <a:pPr>
                <a:defRPr b="0" i="0" strike="noStrike" sz="1000" u="none">
                  <a:solidFill>
                    <a:srgbClr val="1C1F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A455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1E4E9"/>
              </a:solidFill>
              <a:prstDash val="solid"/>
              <a:round/>
            </a:ln>
          </c:spPr>
        </c:majorGridlines>
        <c:title>
          <c:tx>
            <c:rich>
              <a:bodyPr/>
              <a:lstStyle/>
              <a:p>
                <a:pPr>
                  <a:defRPr sz="900" b="0" i="0" u="none" strike="noStrike">
                    <a:solidFill>
                      <a:srgbClr val="6B7684"/>
                    </a:solidFill>
                    <a:latin typeface="Arial"/>
                  </a:defRPr>
                </a:pPr>
                <a:r>
                  <a:rPr sz="900" b="0" i="0" u="none" strike="noStrike">
                    <a:solidFill>
                      <a:srgbClr val="6B7684"/>
                    </a:solidFill>
                    <a:latin typeface="Arial"/>
                  </a:rPr>
                  <a:t>₹ per kg</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3A4553"/>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Cr</c:v>
                </c:pt>
              </c:strCache>
            </c:strRef>
          </c:tx>
          <c:spPr>
            <a:solidFill>
              <a:srgbClr val="6B7684"/>
            </a:solidFill>
            <a:effectLst/>
          </c:spPr>
          <c:invertIfNegative val="0"/>
          <c:dLbls>
            <c:numFmt formatCode="0.00" sourceLinked="0"/>
            <c:txPr>
              <a:bodyPr/>
              <a:lstStyle/>
              <a:p>
                <a:pPr>
                  <a:defRPr b="0" i="0" strike="noStrike" sz="1050" u="none">
                    <a:solidFill>
                      <a:srgbClr val="1C1F26"/>
                    </a:solidFill>
                    <a:latin typeface="Arial"/>
                  </a:defRPr>
                </a:pPr>
              </a:p>
            </c:txPr>
            <c:showLegendKey val="0"/>
            <c:showVal val="1"/>
            <c:showCatName val="0"/>
            <c:showSerName val="0"/>
            <c:showPercent val="0"/>
            <c:showBubbleSize val="0"/>
            <c:showLeaderLines val="0"/>
          </c:dLbls>
          <c:dPt>
            <c:idx val="0"/>
            <c:invertIfNegative val="0"/>
            <c:bubble3D val="0"/>
            <c:spPr>
              <a:solidFill>
                <a:srgbClr val="6B7684"/>
              </a:solidFill>
              <a:effectLst/>
            </c:spPr>
          </c:dPt>
          <c:dPt>
            <c:idx val="1"/>
            <c:invertIfNegative val="0"/>
            <c:bubble3D val="0"/>
            <c:spPr>
              <a:solidFill>
                <a:srgbClr val="6B7684"/>
              </a:solidFill>
              <a:effectLst/>
            </c:spPr>
          </c:dPt>
          <c:dPt>
            <c:idx val="2"/>
            <c:invertIfNegative val="0"/>
            <c:bubble3D val="0"/>
            <c:spPr>
              <a:solidFill>
                <a:srgbClr val="D9622B"/>
              </a:solidFill>
              <a:effectLst/>
            </c:spPr>
          </c:dPt>
          <c:dPt>
            <c:idx val="3"/>
            <c:invertIfNegative val="0"/>
            <c:bubble3D val="0"/>
            <c:spPr>
              <a:solidFill>
                <a:srgbClr val="D9622B"/>
              </a:solidFill>
              <a:effectLst/>
            </c:spPr>
          </c:dPt>
          <c:dPt>
            <c:idx val="4"/>
            <c:invertIfNegative val="0"/>
            <c:bubble3D val="0"/>
            <c:spPr>
              <a:solidFill>
                <a:srgbClr val="D9622B"/>
              </a:solidFill>
              <a:effectLst/>
            </c:spPr>
          </c:dPt>
          <c:cat>
            <c:multiLvlStrRef>
              <c:f>Sheet1!$A$2:$A$6</c:f>
              <c:multiLvlStrCache>
                <c:ptCount val="5"/>
                <c:lvl>
                  <c:pt idx="0">
                    <c:v>P&amp;M net book
value</c:v>
                  </c:pt>
                  <c:pt idx="1">
                    <c:v>Land
(historical cost)</c:v>
                  </c:pt>
                  <c:pt idx="2">
                    <c:v>FMV @ 4x
avg. PAT</c:v>
                  </c:pt>
                  <c:pt idx="3">
                    <c:v>FMV @ 6x
avg. PAT</c:v>
                  </c:pt>
                  <c:pt idx="4">
                    <c:v>FMV @ 8x
avg. PAT</c:v>
                  </c:pt>
                </c:lvl>
              </c:multiLvlStrCache>
            </c:multiLvlStrRef>
          </c:cat>
          <c:val>
            <c:numRef>
              <c:f>Sheet1!$B$2:$B$6</c:f>
              <c:numCache>
                <c:formatCode>General</c:formatCode>
                <c:ptCount val="5"/>
                <c:pt idx="0">
                  <c:v>1.8</c:v>
                </c:pt>
                <c:pt idx="1">
                  <c:v>0.79</c:v>
                </c:pt>
                <c:pt idx="2">
                  <c:v>5.7</c:v>
                </c:pt>
                <c:pt idx="3">
                  <c:v>8.6</c:v>
                </c:pt>
                <c:pt idx="4">
                  <c:v>11.4</c:v>
                </c:pt>
              </c:numCache>
            </c:numRef>
          </c:val>
        </c:ser>
        <c:dLbls>
          <c:numFmt formatCode="0.00" sourceLinked="0"/>
          <c:txPr>
            <a:bodyPr/>
            <a:lstStyle/>
            <a:p>
              <a:pPr>
                <a:defRPr b="0" i="0" strike="noStrike" sz="1050" u="none">
                  <a:solidFill>
                    <a:srgbClr val="1C1F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A4553"/>
                </a:solidFill>
                <a:latin typeface="Arial"/>
              </a:defRPr>
            </a:pPr>
            <a:endParaRPr lang="en-US"/>
          </a:p>
        </c:txPr>
        <c:crossAx val="2094734552"/>
        <c:crosses val="autoZero"/>
        <c:auto val="1"/>
        <c:lblAlgn val="ctr"/>
        <c:noMultiLvlLbl val="1"/>
      </c:catAx>
      <c:valAx>
        <c:axId val="2094734552"/>
        <c:scaling>
          <c:orientation val="minMax"/>
          <c:max val="13"/>
          <c:min val="0"/>
        </c:scaling>
        <c:delete val="0"/>
        <c:axPos val="l"/>
        <c:majorGridlines>
          <c:spPr>
            <a:ln w="9525" cap="flat">
              <a:solidFill>
                <a:srgbClr val="E1E4E9"/>
              </a:solidFill>
              <a:prstDash val="solid"/>
              <a:round/>
            </a:ln>
          </c:spPr>
        </c:majorGridlines>
        <c:title>
          <c:tx>
            <c:rich>
              <a:bodyPr/>
              <a:lstStyle/>
              <a:p>
                <a:pPr>
                  <a:defRPr sz="900" b="0" i="0" u="none" strike="noStrike">
                    <a:solidFill>
                      <a:srgbClr val="6B7684"/>
                    </a:solidFill>
                    <a:latin typeface="Arial"/>
                  </a:defRPr>
                </a:pPr>
                <a:r>
                  <a:rPr sz="900" b="0" i="0" u="none" strike="noStrike">
                    <a:solidFill>
                      <a:srgbClr val="6B7684"/>
                    </a:solidFill>
                    <a:latin typeface="Arial"/>
                  </a:rPr>
                  <a:t>₹ Cr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3A4553"/>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C1F26"/>
          </a:solidFill>
          <a:ln/>
        </p:spPr>
      </p:sp>
      <p:sp>
        <p:nvSpPr>
          <p:cNvPr id="3" name="Shape 1"/>
          <p:cNvSpPr/>
          <p:nvPr/>
        </p:nvSpPr>
        <p:spPr>
          <a:xfrm>
            <a:off x="9692640" y="-1280160"/>
            <a:ext cx="4754880" cy="4754880"/>
          </a:xfrm>
          <a:prstGeom prst="ellipse">
            <a:avLst/>
          </a:prstGeom>
          <a:solidFill>
            <a:srgbClr val="262B34"/>
          </a:solidFill>
          <a:ln/>
        </p:spPr>
      </p:sp>
      <p:sp>
        <p:nvSpPr>
          <p:cNvPr id="4" name="Shape 2"/>
          <p:cNvSpPr/>
          <p:nvPr/>
        </p:nvSpPr>
        <p:spPr>
          <a:xfrm>
            <a:off x="10607040" y="-548640"/>
            <a:ext cx="2743200" cy="2743200"/>
          </a:xfrm>
          <a:prstGeom prst="ellipse">
            <a:avLst/>
          </a:prstGeom>
          <a:solidFill>
            <a:srgbClr val="2E2116"/>
          </a:solidFill>
          <a:ln/>
        </p:spPr>
      </p:sp>
      <p:sp>
        <p:nvSpPr>
          <p:cNvPr id="5" name="Shape 3"/>
          <p:cNvSpPr/>
          <p:nvPr/>
        </p:nvSpPr>
        <p:spPr>
          <a:xfrm>
            <a:off x="-1463040" y="4937760"/>
            <a:ext cx="3657600" cy="3657600"/>
          </a:xfrm>
          <a:prstGeom prst="ellipse">
            <a:avLst/>
          </a:prstGeom>
          <a:solidFill>
            <a:srgbClr val="262B34"/>
          </a:solidFill>
          <a:ln/>
        </p:spPr>
      </p:sp>
      <p:sp>
        <p:nvSpPr>
          <p:cNvPr id="6" name="Text 4"/>
          <p:cNvSpPr/>
          <p:nvPr/>
        </p:nvSpPr>
        <p:spPr>
          <a:xfrm>
            <a:off x="548640" y="1554480"/>
            <a:ext cx="7315200" cy="365760"/>
          </a:xfrm>
          <a:prstGeom prst="rect">
            <a:avLst/>
          </a:prstGeom>
          <a:noFill/>
          <a:ln/>
        </p:spPr>
        <p:txBody>
          <a:bodyPr wrap="square" lIns="0" tIns="0" rIns="0" bIns="0" rtlCol="0" anchor="ctr"/>
          <a:lstStyle/>
          <a:p>
            <a:pPr indent="0" marL="0">
              <a:buNone/>
            </a:pPr>
            <a:r>
              <a:rPr lang="en-US" sz="1300" b="1" spc="300" kern="0" dirty="0">
                <a:solidFill>
                  <a:srgbClr val="D9622B"/>
                </a:solidFill>
                <a:latin typeface="Calibri" pitchFamily="34" charset="0"/>
                <a:ea typeface="Calibri" pitchFamily="34" charset="-122"/>
                <a:cs typeface="Calibri" pitchFamily="34" charset="-120"/>
              </a:rPr>
              <a:t>INVESTOR BRIEFING</a:t>
            </a:r>
            <a:endParaRPr lang="en-US" sz="1300" dirty="0"/>
          </a:p>
        </p:txBody>
      </p:sp>
      <p:sp>
        <p:nvSpPr>
          <p:cNvPr id="7" name="Text 5"/>
          <p:cNvSpPr/>
          <p:nvPr/>
        </p:nvSpPr>
        <p:spPr>
          <a:xfrm>
            <a:off x="548640" y="1965960"/>
            <a:ext cx="105156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Datre Corporation Limited</a:t>
            </a:r>
            <a:endParaRPr lang="en-US" sz="4600" dirty="0"/>
          </a:p>
        </p:txBody>
      </p:sp>
      <p:sp>
        <p:nvSpPr>
          <p:cNvPr id="8" name="Text 6"/>
          <p:cNvSpPr/>
          <p:nvPr/>
        </p:nvSpPr>
        <p:spPr>
          <a:xfrm>
            <a:off x="548640" y="3063240"/>
            <a:ext cx="9144000" cy="457200"/>
          </a:xfrm>
          <a:prstGeom prst="rect">
            <a:avLst/>
          </a:prstGeom>
          <a:noFill/>
          <a:ln/>
        </p:spPr>
        <p:txBody>
          <a:bodyPr wrap="square" lIns="0" tIns="0" rIns="0" bIns="0" rtlCol="0" anchor="ctr"/>
          <a:lstStyle/>
          <a:p>
            <a:pPr indent="0" marL="0">
              <a:buNone/>
            </a:pPr>
            <a:r>
              <a:rPr lang="en-US" sz="1800" i="1" dirty="0">
                <a:solidFill>
                  <a:srgbClr val="CBD3DC"/>
                </a:solidFill>
                <a:latin typeface="Calibri" pitchFamily="34" charset="0"/>
                <a:ea typeface="Calibri" pitchFamily="34" charset="-122"/>
                <a:cs typeface="Calibri" pitchFamily="34" charset="-120"/>
              </a:rPr>
              <a:t>Engineering Essence, Manufacturing Personified</a:t>
            </a:r>
            <a:endParaRPr lang="en-US" sz="1800" dirty="0"/>
          </a:p>
        </p:txBody>
      </p:sp>
      <p:sp>
        <p:nvSpPr>
          <p:cNvPr id="9" name="Shape 7"/>
          <p:cNvSpPr/>
          <p:nvPr/>
        </p:nvSpPr>
        <p:spPr>
          <a:xfrm>
            <a:off x="548640" y="3703320"/>
            <a:ext cx="0" cy="0"/>
          </a:xfrm>
          <a:prstGeom prst="line">
            <a:avLst/>
          </a:prstGeom>
          <a:noFill/>
          <a:ln/>
        </p:spPr>
      </p:sp>
      <p:sp>
        <p:nvSpPr>
          <p:cNvPr id="10" name="Text 8"/>
          <p:cNvSpPr/>
          <p:nvPr/>
        </p:nvSpPr>
        <p:spPr>
          <a:xfrm>
            <a:off x="548640" y="3794760"/>
            <a:ext cx="9144000" cy="365760"/>
          </a:xfrm>
          <a:prstGeom prst="rect">
            <a:avLst/>
          </a:prstGeom>
          <a:noFill/>
          <a:ln/>
        </p:spPr>
        <p:txBody>
          <a:bodyPr wrap="square" lIns="0" tIns="0" rIns="0" bIns="0" rtlCol="0" anchor="ctr"/>
          <a:lstStyle/>
          <a:p>
            <a:pPr indent="0" marL="0">
              <a:buNone/>
            </a:pPr>
            <a:r>
              <a:rPr lang="en-US" sz="1500" dirty="0">
                <a:solidFill>
                  <a:srgbClr val="6B7684"/>
                </a:solidFill>
                <a:latin typeface="Calibri" pitchFamily="34" charset="0"/>
                <a:ea typeface="Calibri" pitchFamily="34" charset="-122"/>
                <a:cs typeface="Calibri" pitchFamily="34" charset="-120"/>
              </a:rPr>
              <a:t>USP, Financial Performance &amp; Critical Analysis</a:t>
            </a:r>
            <a:endParaRPr lang="en-US" sz="1500" dirty="0"/>
          </a:p>
        </p:txBody>
      </p:sp>
      <p:sp>
        <p:nvSpPr>
          <p:cNvPr id="11" name="Text 9"/>
          <p:cNvSpPr/>
          <p:nvPr/>
        </p:nvSpPr>
        <p:spPr>
          <a:xfrm>
            <a:off x="548640" y="5806440"/>
            <a:ext cx="3291840" cy="256032"/>
          </a:xfrm>
          <a:prstGeom prst="rect">
            <a:avLst/>
          </a:prstGeom>
          <a:noFill/>
          <a:ln/>
        </p:spPr>
        <p:txBody>
          <a:bodyPr wrap="square" lIns="0" tIns="0" rIns="0" bIns="0" rtlCol="0" anchor="ctr"/>
          <a:lstStyle/>
          <a:p>
            <a:pPr indent="0" marL="0">
              <a:buNone/>
            </a:pPr>
            <a:r>
              <a:rPr lang="en-US" sz="900" b="1" spc="150" kern="0" dirty="0">
                <a:solidFill>
                  <a:srgbClr val="D9622B"/>
                </a:solidFill>
                <a:latin typeface="Calibri" pitchFamily="34" charset="0"/>
                <a:ea typeface="Calibri" pitchFamily="34" charset="-122"/>
                <a:cs typeface="Calibri" pitchFamily="34" charset="-120"/>
              </a:rPr>
              <a:t>EST.</a:t>
            </a:r>
            <a:endParaRPr lang="en-US" sz="900" dirty="0"/>
          </a:p>
        </p:txBody>
      </p:sp>
      <p:sp>
        <p:nvSpPr>
          <p:cNvPr id="12" name="Text 10"/>
          <p:cNvSpPr/>
          <p:nvPr/>
        </p:nvSpPr>
        <p:spPr>
          <a:xfrm>
            <a:off x="548640" y="6053328"/>
            <a:ext cx="329184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1996</a:t>
            </a:r>
            <a:endParaRPr lang="en-US" sz="1200" dirty="0"/>
          </a:p>
        </p:txBody>
      </p:sp>
      <p:sp>
        <p:nvSpPr>
          <p:cNvPr id="13" name="Text 11"/>
          <p:cNvSpPr/>
          <p:nvPr/>
        </p:nvSpPr>
        <p:spPr>
          <a:xfrm>
            <a:off x="3931920" y="5806440"/>
            <a:ext cx="3291840" cy="256032"/>
          </a:xfrm>
          <a:prstGeom prst="rect">
            <a:avLst/>
          </a:prstGeom>
          <a:noFill/>
          <a:ln/>
        </p:spPr>
        <p:txBody>
          <a:bodyPr wrap="square" lIns="0" tIns="0" rIns="0" bIns="0" rtlCol="0" anchor="ctr"/>
          <a:lstStyle/>
          <a:p>
            <a:pPr indent="0" marL="0">
              <a:buNone/>
            </a:pPr>
            <a:r>
              <a:rPr lang="en-US" sz="900" b="1" spc="150" kern="0" dirty="0">
                <a:solidFill>
                  <a:srgbClr val="D9622B"/>
                </a:solidFill>
                <a:latin typeface="Calibri" pitchFamily="34" charset="0"/>
                <a:ea typeface="Calibri" pitchFamily="34" charset="-122"/>
                <a:cs typeface="Calibri" pitchFamily="34" charset="-120"/>
              </a:rPr>
              <a:t>PLANT</a:t>
            </a:r>
            <a:endParaRPr lang="en-US" sz="900" dirty="0"/>
          </a:p>
        </p:txBody>
      </p:sp>
      <p:sp>
        <p:nvSpPr>
          <p:cNvPr id="14" name="Text 12"/>
          <p:cNvSpPr/>
          <p:nvPr/>
        </p:nvSpPr>
        <p:spPr>
          <a:xfrm>
            <a:off x="3931920" y="6053328"/>
            <a:ext cx="329184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Falta, West Bengal</a:t>
            </a:r>
            <a:endParaRPr lang="en-US" sz="1200" dirty="0"/>
          </a:p>
        </p:txBody>
      </p:sp>
      <p:sp>
        <p:nvSpPr>
          <p:cNvPr id="15" name="Text 13"/>
          <p:cNvSpPr/>
          <p:nvPr/>
        </p:nvSpPr>
        <p:spPr>
          <a:xfrm>
            <a:off x="7315200" y="5806440"/>
            <a:ext cx="3291840" cy="256032"/>
          </a:xfrm>
          <a:prstGeom prst="rect">
            <a:avLst/>
          </a:prstGeom>
          <a:noFill/>
          <a:ln/>
        </p:spPr>
        <p:txBody>
          <a:bodyPr wrap="square" lIns="0" tIns="0" rIns="0" bIns="0" rtlCol="0" anchor="ctr"/>
          <a:lstStyle/>
          <a:p>
            <a:pPr indent="0" marL="0">
              <a:buNone/>
            </a:pPr>
            <a:r>
              <a:rPr lang="en-US" sz="900" b="1" spc="150" kern="0" dirty="0">
                <a:solidFill>
                  <a:srgbClr val="D9622B"/>
                </a:solidFill>
                <a:latin typeface="Calibri" pitchFamily="34" charset="0"/>
                <a:ea typeface="Calibri" pitchFamily="34" charset="-122"/>
                <a:cs typeface="Calibri" pitchFamily="34" charset="-120"/>
              </a:rPr>
              <a:t>CERTIFICATION</a:t>
            </a:r>
            <a:endParaRPr lang="en-US" sz="900" dirty="0"/>
          </a:p>
        </p:txBody>
      </p:sp>
      <p:sp>
        <p:nvSpPr>
          <p:cNvPr id="16" name="Text 14"/>
          <p:cNvSpPr/>
          <p:nvPr/>
        </p:nvSpPr>
        <p:spPr>
          <a:xfrm>
            <a:off x="7315200" y="6053328"/>
            <a:ext cx="329184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ISO 9001:2015 · RDSO Class 'A' · ZED Gold</a:t>
            </a:r>
            <a:endParaRPr lang="en-US" sz="1200" dirty="0"/>
          </a:p>
        </p:txBody>
      </p:sp>
      <p:sp>
        <p:nvSpPr>
          <p:cNvPr id="17" name="Text 15"/>
          <p:cNvSpPr/>
          <p:nvPr/>
        </p:nvSpPr>
        <p:spPr>
          <a:xfrm>
            <a:off x="548640" y="6355080"/>
            <a:ext cx="9144000" cy="274320"/>
          </a:xfrm>
          <a:prstGeom prst="rect">
            <a:avLst/>
          </a:prstGeom>
          <a:noFill/>
          <a:ln/>
        </p:spPr>
        <p:txBody>
          <a:bodyPr wrap="square" lIns="0" tIns="0" rIns="0" bIns="0" rtlCol="0" anchor="ctr"/>
          <a:lstStyle/>
          <a:p>
            <a:pPr indent="0" marL="0">
              <a:buNone/>
            </a:pPr>
            <a:r>
              <a:rPr lang="en-US" sz="900" dirty="0">
                <a:solidFill>
                  <a:srgbClr val="7A828E"/>
                </a:solidFill>
                <a:latin typeface="Calibri" pitchFamily="34" charset="0"/>
                <a:ea typeface="Calibri" pitchFamily="34" charset="-122"/>
                <a:cs typeface="Calibri" pitchFamily="34" charset="-120"/>
              </a:rPr>
              <a:t>August 2026  ·  Prepared for internal investor discussion  ·  Confidential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EXECUTIVE SUMMARY</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1C1F26"/>
                </a:solidFill>
                <a:latin typeface="Cambria" pitchFamily="34" charset="0"/>
                <a:ea typeface="Cambria" pitchFamily="34" charset="-122"/>
                <a:cs typeface="Cambria" pitchFamily="34" charset="-120"/>
              </a:rPr>
              <a:t>A paradigm Datre built deliberately — now running harder on an aging plant</a:t>
            </a:r>
            <a:endParaRPr lang="en-US" sz="3000" dirty="0"/>
          </a:p>
        </p:txBody>
      </p:sp>
      <p:sp>
        <p:nvSpPr>
          <p:cNvPr id="4" name="Shape 2"/>
          <p:cNvSpPr/>
          <p:nvPr/>
        </p:nvSpPr>
        <p:spPr>
          <a:xfrm>
            <a:off x="548640" y="1783080"/>
            <a:ext cx="2567864" cy="1600200"/>
          </a:xfrm>
          <a:prstGeom prst="roundRect">
            <a:avLst>
              <a:gd name="adj" fmla="val 4571"/>
            </a:avLst>
          </a:prstGeom>
          <a:solidFill>
            <a:srgbClr val="F4F5F7"/>
          </a:solidFill>
          <a:ln/>
          <a:effectLst>
            <a:outerShdw sx="100000" sy="100000" kx="0" ky="0" algn="bl" rotWithShape="0" blurRad="76200" dist="25400" dir="5400000">
              <a:srgbClr val="1C1F26">
                <a:alpha val="10000"/>
              </a:srgbClr>
            </a:outerShdw>
          </a:effectLst>
        </p:spPr>
      </p:sp>
      <p:sp>
        <p:nvSpPr>
          <p:cNvPr id="5" name="Text 3"/>
          <p:cNvSpPr/>
          <p:nvPr/>
        </p:nvSpPr>
        <p:spPr>
          <a:xfrm>
            <a:off x="713232" y="1920240"/>
            <a:ext cx="2238680" cy="566928"/>
          </a:xfrm>
          <a:prstGeom prst="rect">
            <a:avLst/>
          </a:prstGeom>
          <a:noFill/>
          <a:ln/>
        </p:spPr>
        <p:txBody>
          <a:bodyPr wrap="square" lIns="0" tIns="0" rIns="0" bIns="0" rtlCol="0" anchor="ctr"/>
          <a:lstStyle/>
          <a:p>
            <a:pPr indent="0" marL="0">
              <a:buNone/>
            </a:pPr>
            <a:r>
              <a:rPr lang="en-US" sz="2700" b="1" dirty="0">
                <a:solidFill>
                  <a:srgbClr val="3F8F5F"/>
                </a:solidFill>
                <a:latin typeface="Cambria" pitchFamily="34" charset="0"/>
                <a:ea typeface="Cambria" pitchFamily="34" charset="-122"/>
                <a:cs typeface="Cambria" pitchFamily="34" charset="-120"/>
              </a:rPr>
              <a:t>₹25.9 Cr</a:t>
            </a:r>
            <a:endParaRPr lang="en-US" sz="2700" dirty="0"/>
          </a:p>
        </p:txBody>
      </p:sp>
      <p:sp>
        <p:nvSpPr>
          <p:cNvPr id="6" name="Text 4"/>
          <p:cNvSpPr/>
          <p:nvPr/>
        </p:nvSpPr>
        <p:spPr>
          <a:xfrm>
            <a:off x="713232" y="2487168"/>
            <a:ext cx="2238680" cy="411480"/>
          </a:xfrm>
          <a:prstGeom prst="rect">
            <a:avLst/>
          </a:prstGeom>
          <a:noFill/>
          <a:ln/>
        </p:spPr>
        <p:txBody>
          <a:bodyPr wrap="square" lIns="0" tIns="0" rIns="0" bIns="0" rtlCol="0" anchor="ctr"/>
          <a:lstStyle/>
          <a:p>
            <a:pPr indent="0" marL="0">
              <a:buNone/>
            </a:pPr>
            <a:r>
              <a:rPr lang="en-US" sz="1150" b="1" dirty="0">
                <a:solidFill>
                  <a:srgbClr val="1C1F26"/>
                </a:solidFill>
                <a:latin typeface="Calibri" pitchFamily="34" charset="0"/>
                <a:ea typeface="Calibri" pitchFamily="34" charset="-122"/>
                <a:cs typeface="Calibri" pitchFamily="34" charset="-120"/>
              </a:rPr>
              <a:t>FY25-26 revenue</a:t>
            </a:r>
            <a:endParaRPr lang="en-US" sz="1150" dirty="0"/>
          </a:p>
        </p:txBody>
      </p:sp>
      <p:sp>
        <p:nvSpPr>
          <p:cNvPr id="7" name="Text 5"/>
          <p:cNvSpPr/>
          <p:nvPr/>
        </p:nvSpPr>
        <p:spPr>
          <a:xfrm>
            <a:off x="713232" y="2871216"/>
            <a:ext cx="2238680" cy="457200"/>
          </a:xfrm>
          <a:prstGeom prst="rect">
            <a:avLst/>
          </a:prstGeom>
          <a:noFill/>
          <a:ln/>
        </p:spPr>
        <p:txBody>
          <a:bodyPr wrap="square" lIns="0" tIns="0" rIns="0" bIns="0" rtlCol="0" anchor="ctr"/>
          <a:lstStyle/>
          <a:p>
            <a:pPr indent="0" marL="0">
              <a:buNone/>
            </a:pPr>
            <a:r>
              <a:rPr lang="en-US" sz="950" dirty="0">
                <a:solidFill>
                  <a:srgbClr val="6B7684"/>
                </a:solidFill>
                <a:latin typeface="Calibri" pitchFamily="34" charset="0"/>
                <a:ea typeface="Calibri" pitchFamily="34" charset="-122"/>
                <a:cs typeface="Calibri" pitchFamily="34" charset="-120"/>
              </a:rPr>
              <a:t>Record year, +26% YoY — also a record ₹1.82 Cr profit</a:t>
            </a:r>
            <a:endParaRPr lang="en-US" sz="950" dirty="0"/>
          </a:p>
        </p:txBody>
      </p:sp>
      <p:sp>
        <p:nvSpPr>
          <p:cNvPr id="8" name="Shape 6"/>
          <p:cNvSpPr/>
          <p:nvPr/>
        </p:nvSpPr>
        <p:spPr>
          <a:xfrm>
            <a:off x="3390824" y="1783080"/>
            <a:ext cx="2567864" cy="1600200"/>
          </a:xfrm>
          <a:prstGeom prst="roundRect">
            <a:avLst>
              <a:gd name="adj" fmla="val 4571"/>
            </a:avLst>
          </a:prstGeom>
          <a:solidFill>
            <a:srgbClr val="F4F5F7"/>
          </a:solidFill>
          <a:ln/>
          <a:effectLst>
            <a:outerShdw sx="100000" sy="100000" kx="0" ky="0" algn="bl" rotWithShape="0" blurRad="76200" dist="25400" dir="5400000">
              <a:srgbClr val="1C1F26">
                <a:alpha val="10000"/>
              </a:srgbClr>
            </a:outerShdw>
          </a:effectLst>
        </p:spPr>
      </p:sp>
      <p:sp>
        <p:nvSpPr>
          <p:cNvPr id="9" name="Text 7"/>
          <p:cNvSpPr/>
          <p:nvPr/>
        </p:nvSpPr>
        <p:spPr>
          <a:xfrm>
            <a:off x="3555416" y="1920240"/>
            <a:ext cx="2238680" cy="566928"/>
          </a:xfrm>
          <a:prstGeom prst="rect">
            <a:avLst/>
          </a:prstGeom>
          <a:noFill/>
          <a:ln/>
        </p:spPr>
        <p:txBody>
          <a:bodyPr wrap="square" lIns="0" tIns="0" rIns="0" bIns="0" rtlCol="0" anchor="ctr"/>
          <a:lstStyle/>
          <a:p>
            <a:pPr indent="0" marL="0">
              <a:buNone/>
            </a:pPr>
            <a:r>
              <a:rPr lang="en-US" sz="2700" b="1" dirty="0">
                <a:solidFill>
                  <a:srgbClr val="3F8F5F"/>
                </a:solidFill>
                <a:latin typeface="Cambria" pitchFamily="34" charset="0"/>
                <a:ea typeface="Cambria" pitchFamily="34" charset="-122"/>
                <a:cs typeface="Cambria" pitchFamily="34" charset="-120"/>
              </a:rPr>
              <a:t>2.9x</a:t>
            </a:r>
            <a:endParaRPr lang="en-US" sz="2700" dirty="0"/>
          </a:p>
        </p:txBody>
      </p:sp>
      <p:sp>
        <p:nvSpPr>
          <p:cNvPr id="10" name="Text 8"/>
          <p:cNvSpPr/>
          <p:nvPr/>
        </p:nvSpPr>
        <p:spPr>
          <a:xfrm>
            <a:off x="3555416" y="2487168"/>
            <a:ext cx="2238680" cy="411480"/>
          </a:xfrm>
          <a:prstGeom prst="rect">
            <a:avLst/>
          </a:prstGeom>
          <a:noFill/>
          <a:ln/>
        </p:spPr>
        <p:txBody>
          <a:bodyPr wrap="square" lIns="0" tIns="0" rIns="0" bIns="0" rtlCol="0" anchor="ctr"/>
          <a:lstStyle/>
          <a:p>
            <a:pPr indent="0" marL="0">
              <a:buNone/>
            </a:pPr>
            <a:r>
              <a:rPr lang="en-US" sz="1150" b="1" dirty="0">
                <a:solidFill>
                  <a:srgbClr val="1C1F26"/>
                </a:solidFill>
                <a:latin typeface="Calibri" pitchFamily="34" charset="0"/>
                <a:ea typeface="Calibri" pitchFamily="34" charset="-122"/>
                <a:cs typeface="Calibri" pitchFamily="34" charset="-120"/>
              </a:rPr>
              <a:t>Revenue growth on the same plant</a:t>
            </a:r>
            <a:endParaRPr lang="en-US" sz="1150" dirty="0"/>
          </a:p>
        </p:txBody>
      </p:sp>
      <p:sp>
        <p:nvSpPr>
          <p:cNvPr id="11" name="Text 9"/>
          <p:cNvSpPr/>
          <p:nvPr/>
        </p:nvSpPr>
        <p:spPr>
          <a:xfrm>
            <a:off x="3555416" y="2871216"/>
            <a:ext cx="2238680" cy="457200"/>
          </a:xfrm>
          <a:prstGeom prst="rect">
            <a:avLst/>
          </a:prstGeom>
          <a:noFill/>
          <a:ln/>
        </p:spPr>
        <p:txBody>
          <a:bodyPr wrap="square" lIns="0" tIns="0" rIns="0" bIns="0" rtlCol="0" anchor="ctr"/>
          <a:lstStyle/>
          <a:p>
            <a:pPr indent="0" marL="0">
              <a:buNone/>
            </a:pPr>
            <a:r>
              <a:rPr lang="en-US" sz="950" dirty="0">
                <a:solidFill>
                  <a:srgbClr val="6B7684"/>
                </a:solidFill>
                <a:latin typeface="Calibri" pitchFamily="34" charset="0"/>
                <a:ea typeface="Calibri" pitchFamily="34" charset="-122"/>
                <a:cs typeface="Calibri" pitchFamily="34" charset="-120"/>
              </a:rPr>
              <a:t>FY21 trough to FY25-26, no expansion</a:t>
            </a:r>
            <a:endParaRPr lang="en-US" sz="950" dirty="0"/>
          </a:p>
        </p:txBody>
      </p:sp>
      <p:sp>
        <p:nvSpPr>
          <p:cNvPr id="12" name="Shape 10"/>
          <p:cNvSpPr/>
          <p:nvPr/>
        </p:nvSpPr>
        <p:spPr>
          <a:xfrm>
            <a:off x="6233008" y="1783080"/>
            <a:ext cx="2567864" cy="1600200"/>
          </a:xfrm>
          <a:prstGeom prst="roundRect">
            <a:avLst>
              <a:gd name="adj" fmla="val 4571"/>
            </a:avLst>
          </a:prstGeom>
          <a:solidFill>
            <a:srgbClr val="F4F5F7"/>
          </a:solidFill>
          <a:ln/>
          <a:effectLst>
            <a:outerShdw sx="100000" sy="100000" kx="0" ky="0" algn="bl" rotWithShape="0" blurRad="76200" dist="25400" dir="5400000">
              <a:srgbClr val="1C1F26">
                <a:alpha val="10000"/>
              </a:srgbClr>
            </a:outerShdw>
          </a:effectLst>
        </p:spPr>
      </p:sp>
      <p:sp>
        <p:nvSpPr>
          <p:cNvPr id="13" name="Text 11"/>
          <p:cNvSpPr/>
          <p:nvPr/>
        </p:nvSpPr>
        <p:spPr>
          <a:xfrm>
            <a:off x="6397600" y="1920240"/>
            <a:ext cx="2238680" cy="566928"/>
          </a:xfrm>
          <a:prstGeom prst="rect">
            <a:avLst/>
          </a:prstGeom>
          <a:noFill/>
          <a:ln/>
        </p:spPr>
        <p:txBody>
          <a:bodyPr wrap="square" lIns="0" tIns="0" rIns="0" bIns="0" rtlCol="0" anchor="ctr"/>
          <a:lstStyle/>
          <a:p>
            <a:pPr indent="0" marL="0">
              <a:buNone/>
            </a:pPr>
            <a:r>
              <a:rPr lang="en-US" sz="2700" b="1" dirty="0">
                <a:solidFill>
                  <a:srgbClr val="1C1F26"/>
                </a:solidFill>
                <a:latin typeface="Cambria" pitchFamily="34" charset="0"/>
                <a:ea typeface="Cambria" pitchFamily="34" charset="-122"/>
                <a:cs typeface="Cambria" pitchFamily="34" charset="-120"/>
              </a:rPr>
              <a:t>₹4.4 Cr</a:t>
            </a:r>
            <a:endParaRPr lang="en-US" sz="2700" dirty="0"/>
          </a:p>
        </p:txBody>
      </p:sp>
      <p:sp>
        <p:nvSpPr>
          <p:cNvPr id="14" name="Text 12"/>
          <p:cNvSpPr/>
          <p:nvPr/>
        </p:nvSpPr>
        <p:spPr>
          <a:xfrm>
            <a:off x="6397600" y="2487168"/>
            <a:ext cx="2238680" cy="411480"/>
          </a:xfrm>
          <a:prstGeom prst="rect">
            <a:avLst/>
          </a:prstGeom>
          <a:noFill/>
          <a:ln/>
        </p:spPr>
        <p:txBody>
          <a:bodyPr wrap="square" lIns="0" tIns="0" rIns="0" bIns="0" rtlCol="0" anchor="ctr"/>
          <a:lstStyle/>
          <a:p>
            <a:pPr indent="0" marL="0">
              <a:buNone/>
            </a:pPr>
            <a:r>
              <a:rPr lang="en-US" sz="1150" b="1" dirty="0">
                <a:solidFill>
                  <a:srgbClr val="1C1F26"/>
                </a:solidFill>
                <a:latin typeface="Calibri" pitchFamily="34" charset="0"/>
                <a:ea typeface="Calibri" pitchFamily="34" charset="-122"/>
                <a:cs typeface="Calibri" pitchFamily="34" charset="-120"/>
              </a:rPr>
              <a:t>Net worth recovered since FY22</a:t>
            </a:r>
            <a:endParaRPr lang="en-US" sz="1150" dirty="0"/>
          </a:p>
        </p:txBody>
      </p:sp>
      <p:sp>
        <p:nvSpPr>
          <p:cNvPr id="15" name="Text 13"/>
          <p:cNvSpPr/>
          <p:nvPr/>
        </p:nvSpPr>
        <p:spPr>
          <a:xfrm>
            <a:off x="6397600" y="2871216"/>
            <a:ext cx="2238680" cy="457200"/>
          </a:xfrm>
          <a:prstGeom prst="rect">
            <a:avLst/>
          </a:prstGeom>
          <a:noFill/>
          <a:ln/>
        </p:spPr>
        <p:txBody>
          <a:bodyPr wrap="square" lIns="0" tIns="0" rIns="0" bIns="0" rtlCol="0" anchor="ctr"/>
          <a:lstStyle/>
          <a:p>
            <a:pPr indent="0" marL="0">
              <a:buNone/>
            </a:pPr>
            <a:r>
              <a:rPr lang="en-US" sz="950" dirty="0">
                <a:solidFill>
                  <a:srgbClr val="6B7684"/>
                </a:solidFill>
                <a:latin typeface="Calibri" pitchFamily="34" charset="0"/>
                <a:ea typeface="Calibri" pitchFamily="34" charset="-122"/>
                <a:cs typeface="Calibri" pitchFamily="34" charset="-120"/>
              </a:rPr>
              <a:t>-₹5.94 Cr → -₹1.54 Cr (FY25)</a:t>
            </a:r>
            <a:endParaRPr lang="en-US" sz="950" dirty="0"/>
          </a:p>
        </p:txBody>
      </p:sp>
      <p:sp>
        <p:nvSpPr>
          <p:cNvPr id="16" name="Shape 14"/>
          <p:cNvSpPr/>
          <p:nvPr/>
        </p:nvSpPr>
        <p:spPr>
          <a:xfrm>
            <a:off x="9075191" y="1783080"/>
            <a:ext cx="2567864" cy="1600200"/>
          </a:xfrm>
          <a:prstGeom prst="roundRect">
            <a:avLst>
              <a:gd name="adj" fmla="val 4571"/>
            </a:avLst>
          </a:prstGeom>
          <a:solidFill>
            <a:srgbClr val="F4F5F7"/>
          </a:solidFill>
          <a:ln/>
          <a:effectLst>
            <a:outerShdw sx="100000" sy="100000" kx="0" ky="0" algn="bl" rotWithShape="0" blurRad="76200" dist="25400" dir="5400000">
              <a:srgbClr val="1C1F26">
                <a:alpha val="10000"/>
              </a:srgbClr>
            </a:outerShdw>
          </a:effectLst>
        </p:spPr>
      </p:sp>
      <p:sp>
        <p:nvSpPr>
          <p:cNvPr id="17" name="Text 15"/>
          <p:cNvSpPr/>
          <p:nvPr/>
        </p:nvSpPr>
        <p:spPr>
          <a:xfrm>
            <a:off x="9239783" y="1920240"/>
            <a:ext cx="2238680" cy="566928"/>
          </a:xfrm>
          <a:prstGeom prst="rect">
            <a:avLst/>
          </a:prstGeom>
          <a:noFill/>
          <a:ln/>
        </p:spPr>
        <p:txBody>
          <a:bodyPr wrap="square" lIns="0" tIns="0" rIns="0" bIns="0" rtlCol="0" anchor="ctr"/>
          <a:lstStyle/>
          <a:p>
            <a:pPr indent="0" marL="0">
              <a:buNone/>
            </a:pPr>
            <a:r>
              <a:rPr lang="en-US" sz="2700" b="1" dirty="0">
                <a:solidFill>
                  <a:srgbClr val="B8453F"/>
                </a:solidFill>
                <a:latin typeface="Cambria" pitchFamily="34" charset="0"/>
                <a:ea typeface="Cambria" pitchFamily="34" charset="-122"/>
                <a:cs typeface="Cambria" pitchFamily="34" charset="-120"/>
              </a:rPr>
              <a:t>~80%</a:t>
            </a:r>
            <a:endParaRPr lang="en-US" sz="2700" dirty="0"/>
          </a:p>
        </p:txBody>
      </p:sp>
      <p:sp>
        <p:nvSpPr>
          <p:cNvPr id="18" name="Text 16"/>
          <p:cNvSpPr/>
          <p:nvPr/>
        </p:nvSpPr>
        <p:spPr>
          <a:xfrm>
            <a:off x="9239783" y="2487168"/>
            <a:ext cx="2238680" cy="411480"/>
          </a:xfrm>
          <a:prstGeom prst="rect">
            <a:avLst/>
          </a:prstGeom>
          <a:noFill/>
          <a:ln/>
        </p:spPr>
        <p:txBody>
          <a:bodyPr wrap="square" lIns="0" tIns="0" rIns="0" bIns="0" rtlCol="0" anchor="ctr"/>
          <a:lstStyle/>
          <a:p>
            <a:pPr indent="0" marL="0">
              <a:buNone/>
            </a:pPr>
            <a:r>
              <a:rPr lang="en-US" sz="1150" b="1" dirty="0">
                <a:solidFill>
                  <a:srgbClr val="1C1F26"/>
                </a:solidFill>
                <a:latin typeface="Calibri" pitchFamily="34" charset="0"/>
                <a:ea typeface="Calibri" pitchFamily="34" charset="-122"/>
                <a:cs typeface="Calibri" pitchFamily="34" charset="-120"/>
              </a:rPr>
              <a:t>Revenue from 2 customers</a:t>
            </a:r>
            <a:endParaRPr lang="en-US" sz="1150" dirty="0"/>
          </a:p>
        </p:txBody>
      </p:sp>
      <p:sp>
        <p:nvSpPr>
          <p:cNvPr id="19" name="Text 17"/>
          <p:cNvSpPr/>
          <p:nvPr/>
        </p:nvSpPr>
        <p:spPr>
          <a:xfrm>
            <a:off x="9239783" y="2871216"/>
            <a:ext cx="2238680" cy="457200"/>
          </a:xfrm>
          <a:prstGeom prst="rect">
            <a:avLst/>
          </a:prstGeom>
          <a:noFill/>
          <a:ln/>
        </p:spPr>
        <p:txBody>
          <a:bodyPr wrap="square" lIns="0" tIns="0" rIns="0" bIns="0" rtlCol="0" anchor="ctr"/>
          <a:lstStyle/>
          <a:p>
            <a:pPr indent="0" marL="0">
              <a:buNone/>
            </a:pPr>
            <a:r>
              <a:rPr lang="en-US" sz="950" dirty="0">
                <a:solidFill>
                  <a:srgbClr val="6B7684"/>
                </a:solidFill>
                <a:latin typeface="Calibri" pitchFamily="34" charset="0"/>
                <a:ea typeface="Calibri" pitchFamily="34" charset="-122"/>
                <a:cs typeface="Calibri" pitchFamily="34" charset="-120"/>
              </a:rPr>
              <a:t>Tega + Escorts — key risk</a:t>
            </a:r>
            <a:endParaRPr lang="en-US" sz="950" dirty="0"/>
          </a:p>
        </p:txBody>
      </p:sp>
      <p:sp>
        <p:nvSpPr>
          <p:cNvPr id="20" name="Shape 18"/>
          <p:cNvSpPr/>
          <p:nvPr/>
        </p:nvSpPr>
        <p:spPr>
          <a:xfrm>
            <a:off x="548640" y="3749040"/>
            <a:ext cx="5364328" cy="2331720"/>
          </a:xfrm>
          <a:prstGeom prst="roundRect">
            <a:avLst>
              <a:gd name="adj" fmla="val 3137"/>
            </a:avLst>
          </a:prstGeom>
          <a:solidFill>
            <a:srgbClr val="EDF5EF"/>
          </a:solidFill>
          <a:ln/>
        </p:spPr>
      </p:sp>
      <p:sp>
        <p:nvSpPr>
          <p:cNvPr id="21" name="Shape 19"/>
          <p:cNvSpPr/>
          <p:nvPr/>
        </p:nvSpPr>
        <p:spPr>
          <a:xfrm>
            <a:off x="777240" y="3977640"/>
            <a:ext cx="384048" cy="384048"/>
          </a:xfrm>
          <a:prstGeom prst="ellipse">
            <a:avLst/>
          </a:prstGeom>
          <a:solidFill>
            <a:srgbClr val="3F8F5F"/>
          </a:solidFill>
          <a:ln/>
        </p:spPr>
      </p:sp>
      <p:sp>
        <p:nvSpPr>
          <p:cNvPr id="22" name="Text 20"/>
          <p:cNvSpPr/>
          <p:nvPr/>
        </p:nvSpPr>
        <p:spPr>
          <a:xfrm>
            <a:off x="777240" y="397764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a:t>
            </a:r>
            <a:endParaRPr lang="en-US" sz="1092" dirty="0"/>
          </a:p>
        </p:txBody>
      </p:sp>
      <p:sp>
        <p:nvSpPr>
          <p:cNvPr id="23" name="Text 21"/>
          <p:cNvSpPr/>
          <p:nvPr/>
        </p:nvSpPr>
        <p:spPr>
          <a:xfrm>
            <a:off x="1325880" y="3977640"/>
            <a:ext cx="4358488" cy="365760"/>
          </a:xfrm>
          <a:prstGeom prst="rect">
            <a:avLst/>
          </a:prstGeom>
          <a:noFill/>
          <a:ln/>
        </p:spPr>
        <p:txBody>
          <a:bodyPr wrap="square" lIns="0" tIns="0" rIns="0" bIns="0" rtlCol="0" anchor="ctr"/>
          <a:lstStyle/>
          <a:p>
            <a:pPr indent="0" marL="0">
              <a:buNone/>
            </a:pPr>
            <a:r>
              <a:rPr lang="en-US" sz="1400" b="1" dirty="0">
                <a:solidFill>
                  <a:srgbClr val="1C1F26"/>
                </a:solidFill>
                <a:latin typeface="Calibri" pitchFamily="34" charset="0"/>
                <a:ea typeface="Calibri" pitchFamily="34" charset="-122"/>
                <a:cs typeface="Calibri" pitchFamily="34" charset="-120"/>
              </a:rPr>
              <a:t>The Investment Case</a:t>
            </a:r>
            <a:endParaRPr lang="en-US" sz="1400" dirty="0"/>
          </a:p>
        </p:txBody>
      </p:sp>
      <p:sp>
        <p:nvSpPr>
          <p:cNvPr id="24" name="Text 22"/>
          <p:cNvSpPr/>
          <p:nvPr/>
        </p:nvSpPr>
        <p:spPr>
          <a:xfrm>
            <a:off x="822960" y="4434840"/>
            <a:ext cx="4815688" cy="1508760"/>
          </a:xfrm>
          <a:prstGeom prst="rect">
            <a:avLst/>
          </a:prstGeom>
          <a:noFill/>
          <a:ln/>
        </p:spPr>
        <p:txBody>
          <a:bodyPr wrap="square" lIns="0" tIns="0" rIns="0" bIns="0" rtlCol="0" anchor="ctr"/>
          <a:lstStyle/>
          <a:p>
            <a:pPr marL="342900" indent="-342900">
              <a:lnSpc>
                <a:spcPct val="105000"/>
              </a:lnSpc>
              <a:spcAft>
                <a:spcPts val="800"/>
              </a:spcAft>
              <a:buSzPct val="100000"/>
              <a:buChar char="•"/>
            </a:pPr>
            <a:r>
              <a:rPr lang="en-US" sz="1100" dirty="0">
                <a:solidFill>
                  <a:srgbClr val="1C1F26"/>
                </a:solidFill>
                <a:latin typeface="Calibri" pitchFamily="34" charset="0"/>
                <a:ea typeface="Calibri" pitchFamily="34" charset="-122"/>
                <a:cs typeface="Calibri" pitchFamily="34" charset="-120"/>
              </a:rPr>
              <a:t>A paradigm built deliberately, not inherited: repositioned from commodity foundry to engineering company, then protected the one thing that couldn't be commoditized — heat-treatment know-how.</a:t>
            </a:r>
            <a:endParaRPr lang="en-US" sz="1100" dirty="0"/>
          </a:p>
          <a:p>
            <a:pPr marL="342900" indent="-342900">
              <a:lnSpc>
                <a:spcPct val="105000"/>
              </a:lnSpc>
              <a:spcAft>
                <a:spcPts val="800"/>
              </a:spcAft>
              <a:buSzPct val="100000"/>
              <a:buChar char="•"/>
            </a:pPr>
            <a:r>
              <a:rPr lang="en-US" sz="1100" dirty="0">
                <a:solidFill>
                  <a:srgbClr val="1C1F26"/>
                </a:solidFill>
                <a:latin typeface="Calibri" pitchFamily="34" charset="0"/>
                <a:ea typeface="Calibri" pitchFamily="34" charset="-122"/>
                <a:cs typeface="Calibri" pitchFamily="34" charset="-120"/>
              </a:rPr>
              <a:t>The moat now runs on operations: utilization has climbed from ~55% (2018) to ~81% (Aug 2025) on the same 1990s-era plant — revenue has more than tripled without a new factory.</a:t>
            </a:r>
            <a:endParaRPr lang="en-US" sz="1100" dirty="0"/>
          </a:p>
          <a:p>
            <a:pPr marL="342900" indent="-342900">
              <a:lnSpc>
                <a:spcPct val="105000"/>
              </a:lnSpc>
              <a:buSzPct val="100000"/>
              <a:buChar char="•"/>
            </a:pPr>
            <a:r>
              <a:rPr lang="en-US" sz="1100" dirty="0">
                <a:solidFill>
                  <a:srgbClr val="1C1F26"/>
                </a:solidFill>
                <a:latin typeface="Calibri" pitchFamily="34" charset="0"/>
                <a:ea typeface="Calibri" pitchFamily="34" charset="-122"/>
                <a:cs typeface="Calibri" pitchFamily="34" charset="-120"/>
              </a:rPr>
              <a:t>Tier-1 OEM integration (Tega, Escorts, Komatsu-qualified) at industry-leading contribution per kg on select parts.</a:t>
            </a:r>
            <a:endParaRPr lang="en-US" sz="1100" dirty="0"/>
          </a:p>
        </p:txBody>
      </p:sp>
      <p:sp>
        <p:nvSpPr>
          <p:cNvPr id="25" name="Shape 23"/>
          <p:cNvSpPr/>
          <p:nvPr/>
        </p:nvSpPr>
        <p:spPr>
          <a:xfrm>
            <a:off x="6278728" y="3749040"/>
            <a:ext cx="5364328" cy="2331720"/>
          </a:xfrm>
          <a:prstGeom prst="roundRect">
            <a:avLst>
              <a:gd name="adj" fmla="val 3137"/>
            </a:avLst>
          </a:prstGeom>
          <a:solidFill>
            <a:srgbClr val="FBEEEC"/>
          </a:solidFill>
          <a:ln/>
        </p:spPr>
      </p:sp>
      <p:sp>
        <p:nvSpPr>
          <p:cNvPr id="26" name="Shape 24"/>
          <p:cNvSpPr/>
          <p:nvPr/>
        </p:nvSpPr>
        <p:spPr>
          <a:xfrm>
            <a:off x="6507328" y="3977640"/>
            <a:ext cx="384048" cy="384048"/>
          </a:xfrm>
          <a:prstGeom prst="ellipse">
            <a:avLst/>
          </a:prstGeom>
          <a:solidFill>
            <a:srgbClr val="B8453F"/>
          </a:solidFill>
          <a:ln/>
        </p:spPr>
      </p:sp>
      <p:sp>
        <p:nvSpPr>
          <p:cNvPr id="27" name="Text 25"/>
          <p:cNvSpPr/>
          <p:nvPr/>
        </p:nvSpPr>
        <p:spPr>
          <a:xfrm>
            <a:off x="6507328" y="397764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a:t>
            </a:r>
            <a:endParaRPr lang="en-US" sz="1092" dirty="0"/>
          </a:p>
        </p:txBody>
      </p:sp>
      <p:sp>
        <p:nvSpPr>
          <p:cNvPr id="28" name="Text 26"/>
          <p:cNvSpPr/>
          <p:nvPr/>
        </p:nvSpPr>
        <p:spPr>
          <a:xfrm>
            <a:off x="7055968" y="3977640"/>
            <a:ext cx="4358488" cy="365760"/>
          </a:xfrm>
          <a:prstGeom prst="rect">
            <a:avLst/>
          </a:prstGeom>
          <a:noFill/>
          <a:ln/>
        </p:spPr>
        <p:txBody>
          <a:bodyPr wrap="square" lIns="0" tIns="0" rIns="0" bIns="0" rtlCol="0" anchor="ctr"/>
          <a:lstStyle/>
          <a:p>
            <a:pPr indent="0" marL="0">
              <a:buNone/>
            </a:pPr>
            <a:r>
              <a:rPr lang="en-US" sz="1400" b="1" dirty="0">
                <a:solidFill>
                  <a:srgbClr val="1C1F26"/>
                </a:solidFill>
                <a:latin typeface="Calibri" pitchFamily="34" charset="0"/>
                <a:ea typeface="Calibri" pitchFamily="34" charset="-122"/>
                <a:cs typeface="Calibri" pitchFamily="34" charset="-120"/>
              </a:rPr>
              <a:t>What Investors Should Probe</a:t>
            </a:r>
            <a:endParaRPr lang="en-US" sz="1400" dirty="0"/>
          </a:p>
        </p:txBody>
      </p:sp>
      <p:sp>
        <p:nvSpPr>
          <p:cNvPr id="29" name="Text 27"/>
          <p:cNvSpPr/>
          <p:nvPr/>
        </p:nvSpPr>
        <p:spPr>
          <a:xfrm>
            <a:off x="6553048" y="4434840"/>
            <a:ext cx="4815688" cy="1508760"/>
          </a:xfrm>
          <a:prstGeom prst="rect">
            <a:avLst/>
          </a:prstGeom>
          <a:noFill/>
          <a:ln/>
        </p:spPr>
        <p:txBody>
          <a:bodyPr wrap="square" lIns="0" tIns="0" rIns="0" bIns="0" rtlCol="0" anchor="ctr"/>
          <a:lstStyle/>
          <a:p>
            <a:pPr marL="342900" indent="-342900">
              <a:lnSpc>
                <a:spcPct val="105000"/>
              </a:lnSpc>
              <a:spcAft>
                <a:spcPts val="800"/>
              </a:spcAft>
              <a:buSzPct val="100000"/>
              <a:buChar char="•"/>
            </a:pPr>
            <a:r>
              <a:rPr lang="en-US" sz="1100" dirty="0">
                <a:solidFill>
                  <a:srgbClr val="1C1F26"/>
                </a:solidFill>
                <a:latin typeface="Calibri" pitchFamily="34" charset="0"/>
                <a:ea typeface="Calibri" pitchFamily="34" charset="-122"/>
                <a:cs typeface="Calibri" pitchFamily="34" charset="-120"/>
              </a:rPr>
              <a:t>Net worth is still negative (-₹1.54 Cr, FY25) and the most recent quarter (Q1 FY26-27) shows sales down 42% YoY.</a:t>
            </a:r>
            <a:endParaRPr lang="en-US" sz="1100" dirty="0"/>
          </a:p>
          <a:p>
            <a:pPr marL="342900" indent="-342900">
              <a:lnSpc>
                <a:spcPct val="105000"/>
              </a:lnSpc>
              <a:spcAft>
                <a:spcPts val="800"/>
              </a:spcAft>
              <a:buSzPct val="100000"/>
              <a:buChar char="•"/>
            </a:pPr>
            <a:r>
              <a:rPr lang="en-US" sz="1100" dirty="0">
                <a:solidFill>
                  <a:srgbClr val="1C1F26"/>
                </a:solidFill>
                <a:latin typeface="Calibri" pitchFamily="34" charset="0"/>
                <a:ea typeface="Calibri" pitchFamily="34" charset="-122"/>
                <a:cs typeface="Calibri" pitchFamily="34" charset="-120"/>
              </a:rPr>
              <a:t>Rejection/scrap rate has climbed for four straight periods, reaching 10.1% — the operational skill behind the moat hasn't visibly fixed this yet.</a:t>
            </a:r>
            <a:endParaRPr lang="en-US" sz="1100" dirty="0"/>
          </a:p>
          <a:p>
            <a:pPr marL="342900" indent="-342900">
              <a:lnSpc>
                <a:spcPct val="105000"/>
              </a:lnSpc>
              <a:buSzPct val="100000"/>
              <a:buChar char="•"/>
            </a:pPr>
            <a:r>
              <a:rPr lang="en-US" sz="1100" dirty="0">
                <a:solidFill>
                  <a:srgbClr val="1C1F26"/>
                </a:solidFill>
                <a:latin typeface="Calibri" pitchFamily="34" charset="0"/>
                <a:ea typeface="Calibri" pitchFamily="34" charset="-122"/>
                <a:cs typeface="Calibri" pitchFamily="34" charset="-120"/>
              </a:rPr>
              <a:t>Two customers drive ~80% of contribution; recurring auditor qualification remains open.</a:t>
            </a:r>
            <a:endParaRPr lang="en-US" sz="1100" dirty="0"/>
          </a:p>
        </p:txBody>
      </p:sp>
      <p:sp>
        <p:nvSpPr>
          <p:cNvPr id="30" name="Text 28"/>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31" name="Text 2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COMPANY SNAPSHOT</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1C1F26"/>
                </a:solidFill>
                <a:latin typeface="Cambria" pitchFamily="34" charset="0"/>
                <a:ea typeface="Cambria" pitchFamily="34" charset="-122"/>
                <a:cs typeface="Cambria" pitchFamily="34" charset="-120"/>
              </a:rPr>
              <a:t>A niche engineering foundry, not a commodity caster</a:t>
            </a:r>
            <a:endParaRPr lang="en-US" sz="3000" dirty="0"/>
          </a:p>
        </p:txBody>
      </p:sp>
      <p:sp>
        <p:nvSpPr>
          <p:cNvPr id="4" name="Text 2"/>
          <p:cNvSpPr/>
          <p:nvPr/>
        </p:nvSpPr>
        <p:spPr>
          <a:xfrm>
            <a:off x="548640" y="1783080"/>
            <a:ext cx="5272888" cy="237744"/>
          </a:xfrm>
          <a:prstGeom prst="rect">
            <a:avLst/>
          </a:prstGeom>
          <a:noFill/>
          <a:ln/>
        </p:spPr>
        <p:txBody>
          <a:bodyPr wrap="square" lIns="0" tIns="0" rIns="0" bIns="0" rtlCol="0" anchor="ctr"/>
          <a:lstStyle/>
          <a:p>
            <a:pPr indent="0" marL="0">
              <a:buNone/>
            </a:pPr>
            <a:r>
              <a:rPr lang="en-US" sz="950" b="1" spc="100" kern="0" dirty="0">
                <a:solidFill>
                  <a:srgbClr val="D9622B"/>
                </a:solidFill>
                <a:latin typeface="Calibri" pitchFamily="34" charset="0"/>
                <a:ea typeface="Calibri" pitchFamily="34" charset="-122"/>
                <a:cs typeface="Calibri" pitchFamily="34" charset="-120"/>
              </a:rPr>
              <a:t>FOUNDED</a:t>
            </a:r>
            <a:endParaRPr lang="en-US" sz="950" dirty="0"/>
          </a:p>
        </p:txBody>
      </p:sp>
      <p:sp>
        <p:nvSpPr>
          <p:cNvPr id="5" name="Text 3"/>
          <p:cNvSpPr/>
          <p:nvPr/>
        </p:nvSpPr>
        <p:spPr>
          <a:xfrm>
            <a:off x="548640" y="2029968"/>
            <a:ext cx="5272888" cy="457200"/>
          </a:xfrm>
          <a:prstGeom prst="rect">
            <a:avLst/>
          </a:prstGeom>
          <a:noFill/>
          <a:ln/>
        </p:spPr>
        <p:txBody>
          <a:bodyPr wrap="square" lIns="0" tIns="0" rIns="0" bIns="0" rtlCol="0" anchor="ctr"/>
          <a:lstStyle/>
          <a:p>
            <a:pPr indent="0" marL="0">
              <a:buNone/>
            </a:pPr>
            <a:r>
              <a:rPr lang="en-US" sz="1150" dirty="0">
                <a:solidFill>
                  <a:srgbClr val="1C1F26"/>
                </a:solidFill>
                <a:latin typeface="Calibri" pitchFamily="34" charset="0"/>
                <a:ea typeface="Calibri" pitchFamily="34" charset="-122"/>
                <a:cs typeface="Calibri" pitchFamily="34" charset="-120"/>
              </a:rPr>
              <a:t>1996 · Falta Industrial Growth Centre, South 24 Parganas, West Bengal</a:t>
            </a:r>
            <a:endParaRPr lang="en-US" sz="1150" dirty="0"/>
          </a:p>
        </p:txBody>
      </p:sp>
      <p:sp>
        <p:nvSpPr>
          <p:cNvPr id="6" name="Text 4"/>
          <p:cNvSpPr/>
          <p:nvPr/>
        </p:nvSpPr>
        <p:spPr>
          <a:xfrm>
            <a:off x="6095848" y="1783080"/>
            <a:ext cx="5272888" cy="237744"/>
          </a:xfrm>
          <a:prstGeom prst="rect">
            <a:avLst/>
          </a:prstGeom>
          <a:noFill/>
          <a:ln/>
        </p:spPr>
        <p:txBody>
          <a:bodyPr wrap="square" lIns="0" tIns="0" rIns="0" bIns="0" rtlCol="0" anchor="ctr"/>
          <a:lstStyle/>
          <a:p>
            <a:pPr indent="0" marL="0">
              <a:buNone/>
            </a:pPr>
            <a:r>
              <a:rPr lang="en-US" sz="950" b="1" spc="100" kern="0" dirty="0">
                <a:solidFill>
                  <a:srgbClr val="D9622B"/>
                </a:solidFill>
                <a:latin typeface="Calibri" pitchFamily="34" charset="0"/>
                <a:ea typeface="Calibri" pitchFamily="34" charset="-122"/>
                <a:cs typeface="Calibri" pitchFamily="34" charset="-120"/>
              </a:rPr>
              <a:t>STRUCTURE</a:t>
            </a:r>
            <a:endParaRPr lang="en-US" sz="950" dirty="0"/>
          </a:p>
        </p:txBody>
      </p:sp>
      <p:sp>
        <p:nvSpPr>
          <p:cNvPr id="7" name="Text 5"/>
          <p:cNvSpPr/>
          <p:nvPr/>
        </p:nvSpPr>
        <p:spPr>
          <a:xfrm>
            <a:off x="6095848" y="2029968"/>
            <a:ext cx="5272888" cy="457200"/>
          </a:xfrm>
          <a:prstGeom prst="rect">
            <a:avLst/>
          </a:prstGeom>
          <a:noFill/>
          <a:ln/>
        </p:spPr>
        <p:txBody>
          <a:bodyPr wrap="square" lIns="0" tIns="0" rIns="0" bIns="0" rtlCol="0" anchor="ctr"/>
          <a:lstStyle/>
          <a:p>
            <a:pPr indent="0" marL="0">
              <a:buNone/>
            </a:pPr>
            <a:r>
              <a:rPr lang="en-US" sz="1150" dirty="0">
                <a:solidFill>
                  <a:srgbClr val="1C1F26"/>
                </a:solidFill>
                <a:latin typeface="Calibri" pitchFamily="34" charset="0"/>
                <a:ea typeface="Calibri" pitchFamily="34" charset="-122"/>
                <a:cs typeface="Calibri" pitchFamily="34" charset="-120"/>
              </a:rPr>
              <a:t>100% privately held; 6.1 acres leased from WBIIDC (99-yr lease from 1995)</a:t>
            </a:r>
            <a:endParaRPr lang="en-US" sz="1150" dirty="0"/>
          </a:p>
        </p:txBody>
      </p:sp>
      <p:sp>
        <p:nvSpPr>
          <p:cNvPr id="8" name="Text 6"/>
          <p:cNvSpPr/>
          <p:nvPr/>
        </p:nvSpPr>
        <p:spPr>
          <a:xfrm>
            <a:off x="548640" y="2569464"/>
            <a:ext cx="5272888" cy="237744"/>
          </a:xfrm>
          <a:prstGeom prst="rect">
            <a:avLst/>
          </a:prstGeom>
          <a:noFill/>
          <a:ln/>
        </p:spPr>
        <p:txBody>
          <a:bodyPr wrap="square" lIns="0" tIns="0" rIns="0" bIns="0" rtlCol="0" anchor="ctr"/>
          <a:lstStyle/>
          <a:p>
            <a:pPr indent="0" marL="0">
              <a:buNone/>
            </a:pPr>
            <a:r>
              <a:rPr lang="en-US" sz="950" b="1" spc="100" kern="0" dirty="0">
                <a:solidFill>
                  <a:srgbClr val="D9622B"/>
                </a:solidFill>
                <a:latin typeface="Calibri" pitchFamily="34" charset="0"/>
                <a:ea typeface="Calibri" pitchFamily="34" charset="-122"/>
                <a:cs typeface="Calibri" pitchFamily="34" charset="-120"/>
              </a:rPr>
              <a:t>CERTIFICATIONS</a:t>
            </a:r>
            <a:endParaRPr lang="en-US" sz="950" dirty="0"/>
          </a:p>
        </p:txBody>
      </p:sp>
      <p:sp>
        <p:nvSpPr>
          <p:cNvPr id="9" name="Text 7"/>
          <p:cNvSpPr/>
          <p:nvPr/>
        </p:nvSpPr>
        <p:spPr>
          <a:xfrm>
            <a:off x="548640" y="2816352"/>
            <a:ext cx="5272888" cy="457200"/>
          </a:xfrm>
          <a:prstGeom prst="rect">
            <a:avLst/>
          </a:prstGeom>
          <a:noFill/>
          <a:ln/>
        </p:spPr>
        <p:txBody>
          <a:bodyPr wrap="square" lIns="0" tIns="0" rIns="0" bIns="0" rtlCol="0" anchor="ctr"/>
          <a:lstStyle/>
          <a:p>
            <a:pPr indent="0" marL="0">
              <a:buNone/>
            </a:pPr>
            <a:r>
              <a:rPr lang="en-US" sz="1150" dirty="0">
                <a:solidFill>
                  <a:srgbClr val="1C1F26"/>
                </a:solidFill>
                <a:latin typeface="Calibri" pitchFamily="34" charset="0"/>
                <a:ea typeface="Calibri" pitchFamily="34" charset="-122"/>
                <a:cs typeface="Calibri" pitchFamily="34" charset="-120"/>
              </a:rPr>
              <a:t>ISO 9001:2015 (DNV GL) · Indian Railways RDSO Class 'A' foundry · ZED Gold</a:t>
            </a:r>
            <a:endParaRPr lang="en-US" sz="1150" dirty="0"/>
          </a:p>
        </p:txBody>
      </p:sp>
      <p:sp>
        <p:nvSpPr>
          <p:cNvPr id="10" name="Text 8"/>
          <p:cNvSpPr/>
          <p:nvPr/>
        </p:nvSpPr>
        <p:spPr>
          <a:xfrm>
            <a:off x="6095848" y="2569464"/>
            <a:ext cx="5272888" cy="237744"/>
          </a:xfrm>
          <a:prstGeom prst="rect">
            <a:avLst/>
          </a:prstGeom>
          <a:noFill/>
          <a:ln/>
        </p:spPr>
        <p:txBody>
          <a:bodyPr wrap="square" lIns="0" tIns="0" rIns="0" bIns="0" rtlCol="0" anchor="ctr"/>
          <a:lstStyle/>
          <a:p>
            <a:pPr indent="0" marL="0">
              <a:buNone/>
            </a:pPr>
            <a:r>
              <a:rPr lang="en-US" sz="950" b="1" spc="100" kern="0" dirty="0">
                <a:solidFill>
                  <a:srgbClr val="D9622B"/>
                </a:solidFill>
                <a:latin typeface="Calibri" pitchFamily="34" charset="0"/>
                <a:ea typeface="Calibri" pitchFamily="34" charset="-122"/>
                <a:cs typeface="Calibri" pitchFamily="34" charset="-120"/>
              </a:rPr>
              <a:t>INSTALLED CAPACITY</a:t>
            </a:r>
            <a:endParaRPr lang="en-US" sz="950" dirty="0"/>
          </a:p>
        </p:txBody>
      </p:sp>
      <p:sp>
        <p:nvSpPr>
          <p:cNvPr id="11" name="Text 9"/>
          <p:cNvSpPr/>
          <p:nvPr/>
        </p:nvSpPr>
        <p:spPr>
          <a:xfrm>
            <a:off x="6095848" y="2816352"/>
            <a:ext cx="5272888" cy="457200"/>
          </a:xfrm>
          <a:prstGeom prst="rect">
            <a:avLst/>
          </a:prstGeom>
          <a:noFill/>
          <a:ln/>
        </p:spPr>
        <p:txBody>
          <a:bodyPr wrap="square" lIns="0" tIns="0" rIns="0" bIns="0" rtlCol="0" anchor="ctr"/>
          <a:lstStyle/>
          <a:p>
            <a:pPr indent="0" marL="0">
              <a:buNone/>
            </a:pPr>
            <a:r>
              <a:rPr lang="en-US" sz="1150" dirty="0">
                <a:solidFill>
                  <a:srgbClr val="1C1F26"/>
                </a:solidFill>
                <a:latin typeface="Calibri" pitchFamily="34" charset="0"/>
                <a:ea typeface="Calibri" pitchFamily="34" charset="-122"/>
                <a:cs typeface="Calibri" pitchFamily="34" charset="-120"/>
              </a:rPr>
              <a:t>7,000 MT/yr (valve-era rating); current output ~1,000-1,300 MT/yr</a:t>
            </a:r>
            <a:endParaRPr lang="en-US" sz="1150" dirty="0"/>
          </a:p>
        </p:txBody>
      </p:sp>
      <p:sp>
        <p:nvSpPr>
          <p:cNvPr id="12" name="Text 10"/>
          <p:cNvSpPr/>
          <p:nvPr/>
        </p:nvSpPr>
        <p:spPr>
          <a:xfrm>
            <a:off x="548640" y="3355848"/>
            <a:ext cx="5272888" cy="237744"/>
          </a:xfrm>
          <a:prstGeom prst="rect">
            <a:avLst/>
          </a:prstGeom>
          <a:noFill/>
          <a:ln/>
        </p:spPr>
        <p:txBody>
          <a:bodyPr wrap="square" lIns="0" tIns="0" rIns="0" bIns="0" rtlCol="0" anchor="ctr"/>
          <a:lstStyle/>
          <a:p>
            <a:pPr indent="0" marL="0">
              <a:buNone/>
            </a:pPr>
            <a:r>
              <a:rPr lang="en-US" sz="950" b="1" spc="100" kern="0" dirty="0">
                <a:solidFill>
                  <a:srgbClr val="D9622B"/>
                </a:solidFill>
                <a:latin typeface="Calibri" pitchFamily="34" charset="0"/>
                <a:ea typeface="Calibri" pitchFamily="34" charset="-122"/>
                <a:cs typeface="Calibri" pitchFamily="34" charset="-120"/>
              </a:rPr>
              <a:t>WORKFORCE</a:t>
            </a:r>
            <a:endParaRPr lang="en-US" sz="950" dirty="0"/>
          </a:p>
        </p:txBody>
      </p:sp>
      <p:sp>
        <p:nvSpPr>
          <p:cNvPr id="13" name="Text 11"/>
          <p:cNvSpPr/>
          <p:nvPr/>
        </p:nvSpPr>
        <p:spPr>
          <a:xfrm>
            <a:off x="548640" y="3602736"/>
            <a:ext cx="5272888" cy="457200"/>
          </a:xfrm>
          <a:prstGeom prst="rect">
            <a:avLst/>
          </a:prstGeom>
          <a:noFill/>
          <a:ln/>
        </p:spPr>
        <p:txBody>
          <a:bodyPr wrap="square" lIns="0" tIns="0" rIns="0" bIns="0" rtlCol="0" anchor="ctr"/>
          <a:lstStyle/>
          <a:p>
            <a:pPr indent="0" marL="0">
              <a:buNone/>
            </a:pPr>
            <a:r>
              <a:rPr lang="en-US" sz="1150" dirty="0">
                <a:solidFill>
                  <a:srgbClr val="1C1F26"/>
                </a:solidFill>
                <a:latin typeface="Calibri" pitchFamily="34" charset="0"/>
                <a:ea typeface="Calibri" pitchFamily="34" charset="-122"/>
                <a:cs typeface="Calibri" pitchFamily="34" charset="-120"/>
              </a:rPr>
              <a:t>~100+ employees · 140+ supply partners</a:t>
            </a:r>
            <a:endParaRPr lang="en-US" sz="1150" dirty="0"/>
          </a:p>
        </p:txBody>
      </p:sp>
      <p:sp>
        <p:nvSpPr>
          <p:cNvPr id="14" name="Text 12"/>
          <p:cNvSpPr/>
          <p:nvPr/>
        </p:nvSpPr>
        <p:spPr>
          <a:xfrm>
            <a:off x="6095848" y="3355848"/>
            <a:ext cx="5272888" cy="237744"/>
          </a:xfrm>
          <a:prstGeom prst="rect">
            <a:avLst/>
          </a:prstGeom>
          <a:noFill/>
          <a:ln/>
        </p:spPr>
        <p:txBody>
          <a:bodyPr wrap="square" lIns="0" tIns="0" rIns="0" bIns="0" rtlCol="0" anchor="ctr"/>
          <a:lstStyle/>
          <a:p>
            <a:pPr indent="0" marL="0">
              <a:buNone/>
            </a:pPr>
            <a:r>
              <a:rPr lang="en-US" sz="950" b="1" spc="100" kern="0" dirty="0">
                <a:solidFill>
                  <a:srgbClr val="D9622B"/>
                </a:solidFill>
                <a:latin typeface="Calibri" pitchFamily="34" charset="0"/>
                <a:ea typeface="Calibri" pitchFamily="34" charset="-122"/>
                <a:cs typeface="Calibri" pitchFamily="34" charset="-120"/>
              </a:rPr>
              <a:t>CUSTOMER BASE</a:t>
            </a:r>
            <a:endParaRPr lang="en-US" sz="950" dirty="0"/>
          </a:p>
        </p:txBody>
      </p:sp>
      <p:sp>
        <p:nvSpPr>
          <p:cNvPr id="15" name="Text 13"/>
          <p:cNvSpPr/>
          <p:nvPr/>
        </p:nvSpPr>
        <p:spPr>
          <a:xfrm>
            <a:off x="6095848" y="3602736"/>
            <a:ext cx="5272888" cy="457200"/>
          </a:xfrm>
          <a:prstGeom prst="rect">
            <a:avLst/>
          </a:prstGeom>
          <a:noFill/>
          <a:ln/>
        </p:spPr>
        <p:txBody>
          <a:bodyPr wrap="square" lIns="0" tIns="0" rIns="0" bIns="0" rtlCol="0" anchor="ctr"/>
          <a:lstStyle/>
          <a:p>
            <a:pPr indent="0" marL="0">
              <a:buNone/>
            </a:pPr>
            <a:r>
              <a:rPr lang="en-US" sz="1150" dirty="0">
                <a:solidFill>
                  <a:srgbClr val="1C1F26"/>
                </a:solidFill>
                <a:latin typeface="Calibri" pitchFamily="34" charset="0"/>
                <a:ea typeface="Calibri" pitchFamily="34" charset="-122"/>
                <a:cs typeface="Calibri" pitchFamily="34" charset="-120"/>
              </a:rPr>
              <a:t>22+ active accounts, ~90% Tier-1 OEMs / Indian MNCs</a:t>
            </a:r>
            <a:endParaRPr lang="en-US" sz="1150" dirty="0"/>
          </a:p>
        </p:txBody>
      </p:sp>
      <p:sp>
        <p:nvSpPr>
          <p:cNvPr id="16" name="Text 14"/>
          <p:cNvSpPr/>
          <p:nvPr/>
        </p:nvSpPr>
        <p:spPr>
          <a:xfrm>
            <a:off x="548640" y="4142232"/>
            <a:ext cx="5272888" cy="237744"/>
          </a:xfrm>
          <a:prstGeom prst="rect">
            <a:avLst/>
          </a:prstGeom>
          <a:noFill/>
          <a:ln/>
        </p:spPr>
        <p:txBody>
          <a:bodyPr wrap="square" lIns="0" tIns="0" rIns="0" bIns="0" rtlCol="0" anchor="ctr"/>
          <a:lstStyle/>
          <a:p>
            <a:pPr indent="0" marL="0">
              <a:buNone/>
            </a:pPr>
            <a:r>
              <a:rPr lang="en-US" sz="950" b="1" spc="100" kern="0" dirty="0">
                <a:solidFill>
                  <a:srgbClr val="D9622B"/>
                </a:solidFill>
                <a:latin typeface="Calibri" pitchFamily="34" charset="0"/>
                <a:ea typeface="Calibri" pitchFamily="34" charset="-122"/>
                <a:cs typeface="Calibri" pitchFamily="34" charset="-120"/>
              </a:rPr>
              <a:t>BALANCE SHEET</a:t>
            </a:r>
            <a:endParaRPr lang="en-US" sz="950" dirty="0"/>
          </a:p>
        </p:txBody>
      </p:sp>
      <p:sp>
        <p:nvSpPr>
          <p:cNvPr id="17" name="Text 15"/>
          <p:cNvSpPr/>
          <p:nvPr/>
        </p:nvSpPr>
        <p:spPr>
          <a:xfrm>
            <a:off x="548640" y="4389120"/>
            <a:ext cx="5272888" cy="457200"/>
          </a:xfrm>
          <a:prstGeom prst="rect">
            <a:avLst/>
          </a:prstGeom>
          <a:noFill/>
          <a:ln/>
        </p:spPr>
        <p:txBody>
          <a:bodyPr wrap="square" lIns="0" tIns="0" rIns="0" bIns="0" rtlCol="0" anchor="ctr"/>
          <a:lstStyle/>
          <a:p>
            <a:pPr indent="0" marL="0">
              <a:buNone/>
            </a:pPr>
            <a:r>
              <a:rPr lang="en-US" sz="1150" dirty="0">
                <a:solidFill>
                  <a:srgbClr val="1C1F26"/>
                </a:solidFill>
                <a:latin typeface="Calibri" pitchFamily="34" charset="0"/>
                <a:ea typeface="Calibri" pitchFamily="34" charset="-122"/>
                <a:cs typeface="Calibri" pitchFamily="34" charset="-120"/>
              </a:rPr>
              <a:t>Operationally debt-free — finance cost is nil in recent filings</a:t>
            </a:r>
            <a:endParaRPr lang="en-US" sz="1150" dirty="0"/>
          </a:p>
        </p:txBody>
      </p:sp>
      <p:sp>
        <p:nvSpPr>
          <p:cNvPr id="18" name="Text 16"/>
          <p:cNvSpPr/>
          <p:nvPr/>
        </p:nvSpPr>
        <p:spPr>
          <a:xfrm>
            <a:off x="6095848" y="4142232"/>
            <a:ext cx="5272888" cy="237744"/>
          </a:xfrm>
          <a:prstGeom prst="rect">
            <a:avLst/>
          </a:prstGeom>
          <a:noFill/>
          <a:ln/>
        </p:spPr>
        <p:txBody>
          <a:bodyPr wrap="square" lIns="0" tIns="0" rIns="0" bIns="0" rtlCol="0" anchor="ctr"/>
          <a:lstStyle/>
          <a:p>
            <a:pPr indent="0" marL="0">
              <a:buNone/>
            </a:pPr>
            <a:r>
              <a:rPr lang="en-US" sz="950" b="1" spc="100" kern="0" dirty="0">
                <a:solidFill>
                  <a:srgbClr val="D9622B"/>
                </a:solidFill>
                <a:latin typeface="Calibri" pitchFamily="34" charset="0"/>
                <a:ea typeface="Calibri" pitchFamily="34" charset="-122"/>
                <a:cs typeface="Calibri" pitchFamily="34" charset="-120"/>
              </a:rPr>
              <a:t>LOGISTICS</a:t>
            </a:r>
            <a:endParaRPr lang="en-US" sz="950" dirty="0"/>
          </a:p>
        </p:txBody>
      </p:sp>
      <p:sp>
        <p:nvSpPr>
          <p:cNvPr id="19" name="Text 17"/>
          <p:cNvSpPr/>
          <p:nvPr/>
        </p:nvSpPr>
        <p:spPr>
          <a:xfrm>
            <a:off x="6095848" y="4389120"/>
            <a:ext cx="5272888" cy="457200"/>
          </a:xfrm>
          <a:prstGeom prst="rect">
            <a:avLst/>
          </a:prstGeom>
          <a:noFill/>
          <a:ln/>
        </p:spPr>
        <p:txBody>
          <a:bodyPr wrap="square" lIns="0" tIns="0" rIns="0" bIns="0" rtlCol="0" anchor="ctr"/>
          <a:lstStyle/>
          <a:p>
            <a:pPr indent="0" marL="0">
              <a:buNone/>
            </a:pPr>
            <a:r>
              <a:rPr lang="en-US" sz="1150" dirty="0">
                <a:solidFill>
                  <a:srgbClr val="1C1F26"/>
                </a:solidFill>
                <a:latin typeface="Calibri" pitchFamily="34" charset="0"/>
                <a:ea typeface="Calibri" pitchFamily="34" charset="-122"/>
                <a:cs typeface="Calibri" pitchFamily="34" charset="-120"/>
              </a:rPr>
              <a:t>65 km to Kolkata Airport · 19 km to Diamond Harbour rail · Haldia/Kolkata ports ~46-48 km</a:t>
            </a:r>
            <a:endParaRPr lang="en-US" sz="1150" dirty="0"/>
          </a:p>
        </p:txBody>
      </p:sp>
      <p:sp>
        <p:nvSpPr>
          <p:cNvPr id="20" name="Shape 18"/>
          <p:cNvSpPr/>
          <p:nvPr/>
        </p:nvSpPr>
        <p:spPr>
          <a:xfrm>
            <a:off x="548640" y="5349240"/>
            <a:ext cx="11094415" cy="0"/>
          </a:xfrm>
          <a:prstGeom prst="line">
            <a:avLst/>
          </a:prstGeom>
          <a:noFill/>
          <a:ln w="12700">
            <a:solidFill>
              <a:srgbClr val="E1E4E9"/>
            </a:solidFill>
            <a:prstDash val="solid"/>
          </a:ln>
        </p:spPr>
      </p:sp>
      <p:sp>
        <p:nvSpPr>
          <p:cNvPr id="21" name="Text 19"/>
          <p:cNvSpPr/>
          <p:nvPr/>
        </p:nvSpPr>
        <p:spPr>
          <a:xfrm>
            <a:off x="548640" y="5486400"/>
            <a:ext cx="3657600" cy="274320"/>
          </a:xfrm>
          <a:prstGeom prst="rect">
            <a:avLst/>
          </a:prstGeom>
          <a:noFill/>
          <a:ln/>
        </p:spPr>
        <p:txBody>
          <a:bodyPr wrap="square" lIns="0" tIns="0" rIns="0" bIns="0" rtlCol="0" anchor="ctr"/>
          <a:lstStyle/>
          <a:p>
            <a:pPr indent="0" marL="0">
              <a:buNone/>
            </a:pPr>
            <a:r>
              <a:rPr lang="en-US" sz="1000" b="1" spc="150" kern="0" dirty="0">
                <a:solidFill>
                  <a:srgbClr val="D9622B"/>
                </a:solidFill>
                <a:latin typeface="Calibri" pitchFamily="34" charset="0"/>
                <a:ea typeface="Calibri" pitchFamily="34" charset="-122"/>
                <a:cs typeface="Calibri" pitchFamily="34" charset="-120"/>
              </a:rPr>
              <a:t>LEADERSHIP</a:t>
            </a:r>
            <a:endParaRPr lang="en-US" sz="1000" dirty="0"/>
          </a:p>
        </p:txBody>
      </p:sp>
      <p:sp>
        <p:nvSpPr>
          <p:cNvPr id="22" name="Text 20"/>
          <p:cNvSpPr/>
          <p:nvPr/>
        </p:nvSpPr>
        <p:spPr>
          <a:xfrm>
            <a:off x="548640" y="5760720"/>
            <a:ext cx="11094415" cy="548640"/>
          </a:xfrm>
          <a:prstGeom prst="rect">
            <a:avLst/>
          </a:prstGeom>
          <a:noFill/>
          <a:ln/>
        </p:spPr>
        <p:txBody>
          <a:bodyPr wrap="square" lIns="0" tIns="0" rIns="0" bIns="0" rtlCol="0" anchor="ctr"/>
          <a:lstStyle/>
          <a:p>
            <a:pPr indent="0" marL="0">
              <a:lnSpc>
                <a:spcPct val="115000"/>
              </a:lnSpc>
              <a:buNone/>
            </a:pPr>
            <a:r>
              <a:rPr lang="en-US" sz="1050" dirty="0">
                <a:solidFill>
                  <a:srgbClr val="3A4553"/>
                </a:solidFill>
                <a:latin typeface="Calibri" pitchFamily="34" charset="0"/>
                <a:ea typeface="Calibri" pitchFamily="34" charset="-122"/>
                <a:cs typeface="Calibri" pitchFamily="34" charset="-120"/>
              </a:rPr>
              <a:t>Indranil Dutta, CEO (33 yrs; BE IIEST Howrah, PGDBM IISWBM) · Sanjoy Banka, CFO (CA, 30+ yrs) · Sitangshu K. Saha, Director (IIT-Kharagpur metallurgy, 42 yrs) · S.N. Chaudhury, Director (IIT-Kharagpur metallurgy, 40 yrs, Railways specialist)</a:t>
            </a:r>
            <a:endParaRPr lang="en-US" sz="1050" dirty="0"/>
          </a:p>
        </p:txBody>
      </p:sp>
      <p:sp>
        <p:nvSpPr>
          <p:cNvPr id="23" name="Text 21"/>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24" name="Text 2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COMPANY HISTORY</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1C1F26"/>
                </a:solidFill>
                <a:latin typeface="Cambria" pitchFamily="34" charset="0"/>
                <a:ea typeface="Cambria" pitchFamily="34" charset="-122"/>
                <a:cs typeface="Cambria" pitchFamily="34" charset="-120"/>
              </a:rPr>
              <a:t>From near-closure to a self-authored turnaround</a:t>
            </a:r>
            <a:endParaRPr lang="en-US" sz="3000" dirty="0"/>
          </a:p>
        </p:txBody>
      </p:sp>
      <p:sp>
        <p:nvSpPr>
          <p:cNvPr id="4" name="Shape 2"/>
          <p:cNvSpPr/>
          <p:nvPr/>
        </p:nvSpPr>
        <p:spPr>
          <a:xfrm>
            <a:off x="640080" y="2103120"/>
            <a:ext cx="10911535" cy="0"/>
          </a:xfrm>
          <a:prstGeom prst="line">
            <a:avLst/>
          </a:prstGeom>
          <a:noFill/>
          <a:ln w="25400">
            <a:solidFill>
              <a:srgbClr val="E1E4E9"/>
            </a:solidFill>
            <a:prstDash val="solid"/>
          </a:ln>
        </p:spPr>
      </p:sp>
      <p:sp>
        <p:nvSpPr>
          <p:cNvPr id="5" name="Shape 3"/>
          <p:cNvSpPr/>
          <p:nvPr/>
        </p:nvSpPr>
        <p:spPr>
          <a:xfrm>
            <a:off x="1467079" y="2020824"/>
            <a:ext cx="164592" cy="164592"/>
          </a:xfrm>
          <a:prstGeom prst="ellipse">
            <a:avLst/>
          </a:prstGeom>
          <a:solidFill>
            <a:srgbClr val="6B7684"/>
          </a:solidFill>
          <a:ln w="25400">
            <a:solidFill>
              <a:srgbClr val="FFFFFF"/>
            </a:solidFill>
            <a:prstDash val="solid"/>
          </a:ln>
        </p:spPr>
      </p:sp>
      <p:sp>
        <p:nvSpPr>
          <p:cNvPr id="6" name="Text 4"/>
          <p:cNvSpPr/>
          <p:nvPr/>
        </p:nvSpPr>
        <p:spPr>
          <a:xfrm>
            <a:off x="685800" y="1600200"/>
            <a:ext cx="1727149" cy="320040"/>
          </a:xfrm>
          <a:prstGeom prst="rect">
            <a:avLst/>
          </a:prstGeom>
          <a:noFill/>
          <a:ln/>
        </p:spPr>
        <p:txBody>
          <a:bodyPr wrap="square" lIns="0" tIns="0" rIns="0" bIns="0" rtlCol="0" anchor="ctr"/>
          <a:lstStyle/>
          <a:p>
            <a:pPr algn="ctr" indent="0" marL="0">
              <a:buNone/>
            </a:pPr>
            <a:r>
              <a:rPr lang="en-US" sz="1300" b="1" dirty="0">
                <a:solidFill>
                  <a:srgbClr val="6B7684"/>
                </a:solidFill>
                <a:latin typeface="Cambria" pitchFamily="34" charset="0"/>
                <a:ea typeface="Cambria" pitchFamily="34" charset="-122"/>
                <a:cs typeface="Cambria" pitchFamily="34" charset="-120"/>
              </a:rPr>
              <a:t>1996</a:t>
            </a:r>
            <a:endParaRPr lang="en-US" sz="1300" dirty="0"/>
          </a:p>
        </p:txBody>
      </p:sp>
      <p:sp>
        <p:nvSpPr>
          <p:cNvPr id="7" name="Text 5"/>
          <p:cNvSpPr/>
          <p:nvPr/>
        </p:nvSpPr>
        <p:spPr>
          <a:xfrm>
            <a:off x="713232" y="2331720"/>
            <a:ext cx="1672285" cy="1828800"/>
          </a:xfrm>
          <a:prstGeom prst="rect">
            <a:avLst/>
          </a:prstGeom>
          <a:noFill/>
          <a:ln/>
        </p:spPr>
        <p:txBody>
          <a:bodyPr wrap="square" lIns="0" tIns="0" rIns="0" bIns="0" rtlCol="0" anchor="ctr"/>
          <a:lstStyle/>
          <a:p>
            <a:pPr algn="l" indent="0" marL="0">
              <a:lnSpc>
                <a:spcPct val="112000"/>
              </a:lnSpc>
              <a:buNone/>
            </a:pPr>
            <a:r>
              <a:rPr lang="en-US" sz="930" dirty="0">
                <a:solidFill>
                  <a:srgbClr val="1C1F26"/>
                </a:solidFill>
                <a:latin typeface="Calibri" pitchFamily="34" charset="0"/>
                <a:ea typeface="Calibri" pitchFamily="34" charset="-122"/>
                <a:cs typeface="Calibri" pitchFamily="34" charset="-120"/>
              </a:rPr>
              <a:t>Founded as a captive valve-casting foundry for a US collaborator, on imported European machinery.</a:t>
            </a:r>
            <a:endParaRPr lang="en-US" sz="930" dirty="0"/>
          </a:p>
        </p:txBody>
      </p:sp>
      <p:sp>
        <p:nvSpPr>
          <p:cNvPr id="8" name="Shape 6"/>
          <p:cNvSpPr/>
          <p:nvPr/>
        </p:nvSpPr>
        <p:spPr>
          <a:xfrm>
            <a:off x="3285668" y="2020824"/>
            <a:ext cx="164592" cy="164592"/>
          </a:xfrm>
          <a:prstGeom prst="ellipse">
            <a:avLst/>
          </a:prstGeom>
          <a:solidFill>
            <a:srgbClr val="6B7684"/>
          </a:solidFill>
          <a:ln w="25400">
            <a:solidFill>
              <a:srgbClr val="FFFFFF"/>
            </a:solidFill>
            <a:prstDash val="solid"/>
          </a:ln>
        </p:spPr>
      </p:sp>
      <p:sp>
        <p:nvSpPr>
          <p:cNvPr id="9" name="Text 7"/>
          <p:cNvSpPr/>
          <p:nvPr/>
        </p:nvSpPr>
        <p:spPr>
          <a:xfrm>
            <a:off x="2504389" y="1600200"/>
            <a:ext cx="1727149" cy="320040"/>
          </a:xfrm>
          <a:prstGeom prst="rect">
            <a:avLst/>
          </a:prstGeom>
          <a:noFill/>
          <a:ln/>
        </p:spPr>
        <p:txBody>
          <a:bodyPr wrap="square" lIns="0" tIns="0" rIns="0" bIns="0" rtlCol="0" anchor="ctr"/>
          <a:lstStyle/>
          <a:p>
            <a:pPr algn="ctr" indent="0" marL="0">
              <a:buNone/>
            </a:pPr>
            <a:r>
              <a:rPr lang="en-US" sz="1300" b="1" dirty="0">
                <a:solidFill>
                  <a:srgbClr val="6B7684"/>
                </a:solidFill>
                <a:latin typeface="Cambria" pitchFamily="34" charset="0"/>
                <a:ea typeface="Cambria" pitchFamily="34" charset="-122"/>
                <a:cs typeface="Cambria" pitchFamily="34" charset="-120"/>
              </a:rPr>
              <a:t>~2000</a:t>
            </a:r>
            <a:endParaRPr lang="en-US" sz="1300" dirty="0"/>
          </a:p>
        </p:txBody>
      </p:sp>
      <p:sp>
        <p:nvSpPr>
          <p:cNvPr id="10" name="Text 8"/>
          <p:cNvSpPr/>
          <p:nvPr/>
        </p:nvSpPr>
        <p:spPr>
          <a:xfrm>
            <a:off x="2531821" y="2331720"/>
            <a:ext cx="1672285" cy="1828800"/>
          </a:xfrm>
          <a:prstGeom prst="rect">
            <a:avLst/>
          </a:prstGeom>
          <a:noFill/>
          <a:ln/>
        </p:spPr>
        <p:txBody>
          <a:bodyPr wrap="square" lIns="0" tIns="0" rIns="0" bIns="0" rtlCol="0" anchor="ctr"/>
          <a:lstStyle/>
          <a:p>
            <a:pPr algn="l" indent="0" marL="0">
              <a:lnSpc>
                <a:spcPct val="112000"/>
              </a:lnSpc>
              <a:buNone/>
            </a:pPr>
            <a:r>
              <a:rPr lang="en-US" sz="930" dirty="0">
                <a:solidFill>
                  <a:srgbClr val="1C1F26"/>
                </a:solidFill>
                <a:latin typeface="Calibri" pitchFamily="34" charset="0"/>
                <a:ea typeface="Calibri" pitchFamily="34" charset="-122"/>
                <a:cs typeface="Calibri" pitchFamily="34" charset="-120"/>
              </a:rPr>
              <a:t>Overseas partner's ownership changed abruptly. Technology transfer and marketing collapsed. Company “bled investors' money heavily” and nearly closed.</a:t>
            </a:r>
            <a:endParaRPr lang="en-US" sz="930" dirty="0"/>
          </a:p>
        </p:txBody>
      </p:sp>
      <p:sp>
        <p:nvSpPr>
          <p:cNvPr id="11" name="Shape 9"/>
          <p:cNvSpPr/>
          <p:nvPr/>
        </p:nvSpPr>
        <p:spPr>
          <a:xfrm>
            <a:off x="5104257" y="2020824"/>
            <a:ext cx="164592" cy="164592"/>
          </a:xfrm>
          <a:prstGeom prst="ellipse">
            <a:avLst/>
          </a:prstGeom>
          <a:solidFill>
            <a:srgbClr val="6B7684"/>
          </a:solidFill>
          <a:ln w="25400">
            <a:solidFill>
              <a:srgbClr val="FFFFFF"/>
            </a:solidFill>
            <a:prstDash val="solid"/>
          </a:ln>
        </p:spPr>
      </p:sp>
      <p:sp>
        <p:nvSpPr>
          <p:cNvPr id="12" name="Text 10"/>
          <p:cNvSpPr/>
          <p:nvPr/>
        </p:nvSpPr>
        <p:spPr>
          <a:xfrm>
            <a:off x="4322978" y="1600200"/>
            <a:ext cx="1727149" cy="320040"/>
          </a:xfrm>
          <a:prstGeom prst="rect">
            <a:avLst/>
          </a:prstGeom>
          <a:noFill/>
          <a:ln/>
        </p:spPr>
        <p:txBody>
          <a:bodyPr wrap="square" lIns="0" tIns="0" rIns="0" bIns="0" rtlCol="0" anchor="ctr"/>
          <a:lstStyle/>
          <a:p>
            <a:pPr algn="ctr" indent="0" marL="0">
              <a:buNone/>
            </a:pPr>
            <a:r>
              <a:rPr lang="en-US" sz="1300" b="1" dirty="0">
                <a:solidFill>
                  <a:srgbClr val="6B7684"/>
                </a:solidFill>
                <a:latin typeface="Cambria" pitchFamily="34" charset="0"/>
                <a:ea typeface="Cambria" pitchFamily="34" charset="-122"/>
                <a:cs typeface="Cambria" pitchFamily="34" charset="-120"/>
              </a:rPr>
              <a:t>2000-06</a:t>
            </a:r>
            <a:endParaRPr lang="en-US" sz="1300" dirty="0"/>
          </a:p>
        </p:txBody>
      </p:sp>
      <p:sp>
        <p:nvSpPr>
          <p:cNvPr id="13" name="Text 11"/>
          <p:cNvSpPr/>
          <p:nvPr/>
        </p:nvSpPr>
        <p:spPr>
          <a:xfrm>
            <a:off x="4350410" y="2331720"/>
            <a:ext cx="1672285" cy="1828800"/>
          </a:xfrm>
          <a:prstGeom prst="rect">
            <a:avLst/>
          </a:prstGeom>
          <a:noFill/>
          <a:ln/>
        </p:spPr>
        <p:txBody>
          <a:bodyPr wrap="square" lIns="0" tIns="0" rIns="0" bIns="0" rtlCol="0" anchor="ctr"/>
          <a:lstStyle/>
          <a:p>
            <a:pPr algn="l" indent="0" marL="0">
              <a:lnSpc>
                <a:spcPct val="112000"/>
              </a:lnSpc>
              <a:buNone/>
            </a:pPr>
            <a:r>
              <a:rPr lang="en-US" sz="930" dirty="0">
                <a:solidFill>
                  <a:srgbClr val="1C1F26"/>
                </a:solidFill>
                <a:latin typeface="Calibri" pitchFamily="34" charset="0"/>
                <a:ea typeface="Calibri" pitchFamily="34" charset="-122"/>
                <a:cs typeface="Calibri" pitchFamily="34" charset="-120"/>
              </a:rPr>
              <a:t>“Painful crawling” — legal battles with financial institutions while keeping aging imported machinery running with minimal resources.</a:t>
            </a:r>
            <a:endParaRPr lang="en-US" sz="930" dirty="0"/>
          </a:p>
        </p:txBody>
      </p:sp>
      <p:sp>
        <p:nvSpPr>
          <p:cNvPr id="14" name="Shape 12"/>
          <p:cNvSpPr/>
          <p:nvPr/>
        </p:nvSpPr>
        <p:spPr>
          <a:xfrm>
            <a:off x="6922846" y="2020824"/>
            <a:ext cx="164592" cy="164592"/>
          </a:xfrm>
          <a:prstGeom prst="ellipse">
            <a:avLst/>
          </a:prstGeom>
          <a:solidFill>
            <a:srgbClr val="D9622B"/>
          </a:solidFill>
          <a:ln w="25400">
            <a:solidFill>
              <a:srgbClr val="FFFFFF"/>
            </a:solidFill>
            <a:prstDash val="solid"/>
          </a:ln>
        </p:spPr>
      </p:sp>
      <p:sp>
        <p:nvSpPr>
          <p:cNvPr id="15" name="Text 13"/>
          <p:cNvSpPr/>
          <p:nvPr/>
        </p:nvSpPr>
        <p:spPr>
          <a:xfrm>
            <a:off x="6141568" y="1600200"/>
            <a:ext cx="1727149" cy="320040"/>
          </a:xfrm>
          <a:prstGeom prst="rect">
            <a:avLst/>
          </a:prstGeom>
          <a:noFill/>
          <a:ln/>
        </p:spPr>
        <p:txBody>
          <a:bodyPr wrap="square" lIns="0" tIns="0" rIns="0" bIns="0" rtlCol="0" anchor="ctr"/>
          <a:lstStyle/>
          <a:p>
            <a:pPr algn="ctr" indent="0" marL="0">
              <a:buNone/>
            </a:pPr>
            <a:r>
              <a:rPr lang="en-US" sz="1300" b="1" dirty="0">
                <a:solidFill>
                  <a:srgbClr val="D9622B"/>
                </a:solidFill>
                <a:latin typeface="Cambria" pitchFamily="34" charset="0"/>
                <a:ea typeface="Cambria" pitchFamily="34" charset="-122"/>
                <a:cs typeface="Cambria" pitchFamily="34" charset="-120"/>
              </a:rPr>
              <a:t>2006</a:t>
            </a:r>
            <a:endParaRPr lang="en-US" sz="1300" dirty="0"/>
          </a:p>
        </p:txBody>
      </p:sp>
      <p:sp>
        <p:nvSpPr>
          <p:cNvPr id="16" name="Text 14"/>
          <p:cNvSpPr/>
          <p:nvPr/>
        </p:nvSpPr>
        <p:spPr>
          <a:xfrm>
            <a:off x="6169000" y="2331720"/>
            <a:ext cx="1672285" cy="1828800"/>
          </a:xfrm>
          <a:prstGeom prst="rect">
            <a:avLst/>
          </a:prstGeom>
          <a:noFill/>
          <a:ln/>
        </p:spPr>
        <p:txBody>
          <a:bodyPr wrap="square" lIns="0" tIns="0" rIns="0" bIns="0" rtlCol="0" anchor="ctr"/>
          <a:lstStyle/>
          <a:p>
            <a:pPr algn="l" indent="0" marL="0">
              <a:lnSpc>
                <a:spcPct val="112000"/>
              </a:lnSpc>
              <a:buNone/>
            </a:pPr>
            <a:r>
              <a:rPr lang="en-US" sz="930" dirty="0">
                <a:solidFill>
                  <a:srgbClr val="1C1F26"/>
                </a:solidFill>
                <a:latin typeface="Calibri" pitchFamily="34" charset="0"/>
                <a:ea typeface="Calibri" pitchFamily="34" charset="-122"/>
                <a:cs typeface="Calibri" pitchFamily="34" charset="-120"/>
              </a:rPr>
              <a:t>Indranil Dutta joins as CEO. Repositions Datre from a “steel foundry” to an engineering manufacturing company; pivots from valves to mining, rail and HEMM castings.</a:t>
            </a:r>
            <a:endParaRPr lang="en-US" sz="930" dirty="0"/>
          </a:p>
        </p:txBody>
      </p:sp>
      <p:sp>
        <p:nvSpPr>
          <p:cNvPr id="17" name="Shape 15"/>
          <p:cNvSpPr/>
          <p:nvPr/>
        </p:nvSpPr>
        <p:spPr>
          <a:xfrm>
            <a:off x="8741435" y="2020824"/>
            <a:ext cx="164592" cy="164592"/>
          </a:xfrm>
          <a:prstGeom prst="ellipse">
            <a:avLst/>
          </a:prstGeom>
          <a:solidFill>
            <a:srgbClr val="3F8F5F"/>
          </a:solidFill>
          <a:ln w="25400">
            <a:solidFill>
              <a:srgbClr val="FFFFFF"/>
            </a:solidFill>
            <a:prstDash val="solid"/>
          </a:ln>
        </p:spPr>
      </p:sp>
      <p:sp>
        <p:nvSpPr>
          <p:cNvPr id="18" name="Text 16"/>
          <p:cNvSpPr/>
          <p:nvPr/>
        </p:nvSpPr>
        <p:spPr>
          <a:xfrm>
            <a:off x="7960157" y="1600200"/>
            <a:ext cx="1727149" cy="320040"/>
          </a:xfrm>
          <a:prstGeom prst="rect">
            <a:avLst/>
          </a:prstGeom>
          <a:noFill/>
          <a:ln/>
        </p:spPr>
        <p:txBody>
          <a:bodyPr wrap="square" lIns="0" tIns="0" rIns="0" bIns="0" rtlCol="0" anchor="ctr"/>
          <a:lstStyle/>
          <a:p>
            <a:pPr algn="ctr" indent="0" marL="0">
              <a:buNone/>
            </a:pPr>
            <a:r>
              <a:rPr lang="en-US" sz="1300" b="1" dirty="0">
                <a:solidFill>
                  <a:srgbClr val="3F8F5F"/>
                </a:solidFill>
                <a:latin typeface="Cambria" pitchFamily="34" charset="0"/>
                <a:ea typeface="Cambria" pitchFamily="34" charset="-122"/>
                <a:cs typeface="Cambria" pitchFamily="34" charset="-120"/>
              </a:rPr>
              <a:t>2020-22</a:t>
            </a:r>
            <a:endParaRPr lang="en-US" sz="1300" dirty="0"/>
          </a:p>
        </p:txBody>
      </p:sp>
      <p:sp>
        <p:nvSpPr>
          <p:cNvPr id="19" name="Text 17"/>
          <p:cNvSpPr/>
          <p:nvPr/>
        </p:nvSpPr>
        <p:spPr>
          <a:xfrm>
            <a:off x="7987589" y="2331720"/>
            <a:ext cx="1672285" cy="1828800"/>
          </a:xfrm>
          <a:prstGeom prst="rect">
            <a:avLst/>
          </a:prstGeom>
          <a:noFill/>
          <a:ln/>
        </p:spPr>
        <p:txBody>
          <a:bodyPr wrap="square" lIns="0" tIns="0" rIns="0" bIns="0" rtlCol="0" anchor="ctr"/>
          <a:lstStyle/>
          <a:p>
            <a:pPr algn="l" indent="0" marL="0">
              <a:lnSpc>
                <a:spcPct val="112000"/>
              </a:lnSpc>
              <a:buNone/>
            </a:pPr>
            <a:r>
              <a:rPr lang="en-US" sz="930" dirty="0">
                <a:solidFill>
                  <a:srgbClr val="1C1F26"/>
                </a:solidFill>
                <a:latin typeface="Calibri" pitchFamily="34" charset="0"/>
                <a:ea typeface="Calibri" pitchFamily="34" charset="-122"/>
                <a:cs typeface="Calibri" pitchFamily="34" charset="-120"/>
              </a:rPr>
              <a:t>Covid-era trough: FY21 revenue falls to ₹8.5 Cr; auditors flag “material uncertainty related to going concern.”</a:t>
            </a:r>
            <a:endParaRPr lang="en-US" sz="930" dirty="0"/>
          </a:p>
        </p:txBody>
      </p:sp>
      <p:sp>
        <p:nvSpPr>
          <p:cNvPr id="20" name="Shape 18"/>
          <p:cNvSpPr/>
          <p:nvPr/>
        </p:nvSpPr>
        <p:spPr>
          <a:xfrm>
            <a:off x="10560025" y="2020824"/>
            <a:ext cx="164592" cy="164592"/>
          </a:xfrm>
          <a:prstGeom prst="ellipse">
            <a:avLst/>
          </a:prstGeom>
          <a:solidFill>
            <a:srgbClr val="3F8F5F"/>
          </a:solidFill>
          <a:ln w="25400">
            <a:solidFill>
              <a:srgbClr val="FFFFFF"/>
            </a:solidFill>
            <a:prstDash val="solid"/>
          </a:ln>
        </p:spPr>
      </p:sp>
      <p:sp>
        <p:nvSpPr>
          <p:cNvPr id="21" name="Text 19"/>
          <p:cNvSpPr/>
          <p:nvPr/>
        </p:nvSpPr>
        <p:spPr>
          <a:xfrm>
            <a:off x="9778746" y="1600200"/>
            <a:ext cx="1727149" cy="320040"/>
          </a:xfrm>
          <a:prstGeom prst="rect">
            <a:avLst/>
          </a:prstGeom>
          <a:noFill/>
          <a:ln/>
        </p:spPr>
        <p:txBody>
          <a:bodyPr wrap="square" lIns="0" tIns="0" rIns="0" bIns="0" rtlCol="0" anchor="ctr"/>
          <a:lstStyle/>
          <a:p>
            <a:pPr algn="ctr" indent="0" marL="0">
              <a:buNone/>
            </a:pPr>
            <a:r>
              <a:rPr lang="en-US" sz="1300" b="1" dirty="0">
                <a:solidFill>
                  <a:srgbClr val="3F8F5F"/>
                </a:solidFill>
                <a:latin typeface="Cambria" pitchFamily="34" charset="0"/>
                <a:ea typeface="Cambria" pitchFamily="34" charset="-122"/>
                <a:cs typeface="Cambria" pitchFamily="34" charset="-120"/>
              </a:rPr>
              <a:t>2023-26</a:t>
            </a:r>
            <a:endParaRPr lang="en-US" sz="1300" dirty="0"/>
          </a:p>
        </p:txBody>
      </p:sp>
      <p:sp>
        <p:nvSpPr>
          <p:cNvPr id="22" name="Text 20"/>
          <p:cNvSpPr/>
          <p:nvPr/>
        </p:nvSpPr>
        <p:spPr>
          <a:xfrm>
            <a:off x="9806178" y="2331720"/>
            <a:ext cx="1672285" cy="1828800"/>
          </a:xfrm>
          <a:prstGeom prst="rect">
            <a:avLst/>
          </a:prstGeom>
          <a:noFill/>
          <a:ln/>
        </p:spPr>
        <p:txBody>
          <a:bodyPr wrap="square" lIns="0" tIns="0" rIns="0" bIns="0" rtlCol="0" anchor="ctr"/>
          <a:lstStyle/>
          <a:p>
            <a:pPr algn="l" indent="0" marL="0">
              <a:lnSpc>
                <a:spcPct val="112000"/>
              </a:lnSpc>
              <a:buNone/>
            </a:pPr>
            <a:r>
              <a:rPr lang="en-US" sz="930" dirty="0">
                <a:solidFill>
                  <a:srgbClr val="1C1F26"/>
                </a:solidFill>
                <a:latin typeface="Calibri" pitchFamily="34" charset="0"/>
                <a:ea typeface="Calibri" pitchFamily="34" charset="-122"/>
                <a:cs typeface="Calibri" pitchFamily="34" charset="-120"/>
              </a:rPr>
              <a:t>Four consecutive profitable years (three audited, FY25-26 unaudited); FY25-26 revenue reaches a record ₹25.9 Cr; Komatsu (Japan) qualification pipeline opens.</a:t>
            </a:r>
            <a:endParaRPr lang="en-US" sz="930" dirty="0"/>
          </a:p>
        </p:txBody>
      </p:sp>
      <p:sp>
        <p:nvSpPr>
          <p:cNvPr id="23" name="Shape 21"/>
          <p:cNvSpPr/>
          <p:nvPr/>
        </p:nvSpPr>
        <p:spPr>
          <a:xfrm>
            <a:off x="548640" y="4709160"/>
            <a:ext cx="11094415" cy="1417320"/>
          </a:xfrm>
          <a:prstGeom prst="roundRect">
            <a:avLst>
              <a:gd name="adj" fmla="val 5161"/>
            </a:avLst>
          </a:prstGeom>
          <a:solidFill>
            <a:srgbClr val="F4F5F7"/>
          </a:solidFill>
          <a:ln/>
        </p:spPr>
      </p:sp>
      <p:sp>
        <p:nvSpPr>
          <p:cNvPr id="24" name="Text 22"/>
          <p:cNvSpPr/>
          <p:nvPr/>
        </p:nvSpPr>
        <p:spPr>
          <a:xfrm>
            <a:off x="822960" y="4892040"/>
            <a:ext cx="5486400" cy="274320"/>
          </a:xfrm>
          <a:prstGeom prst="rect">
            <a:avLst/>
          </a:prstGeom>
          <a:noFill/>
          <a:ln/>
        </p:spPr>
        <p:txBody>
          <a:bodyPr wrap="square" lIns="0" tIns="0" rIns="0" bIns="0" rtlCol="0" anchor="ctr"/>
          <a:lstStyle/>
          <a:p>
            <a:pPr indent="0" marL="0">
              <a:buNone/>
            </a:pPr>
            <a:r>
              <a:rPr lang="en-US" sz="1150" b="1" dirty="0">
                <a:solidFill>
                  <a:srgbClr val="1C1F26"/>
                </a:solidFill>
                <a:latin typeface="Calibri" pitchFamily="34" charset="0"/>
                <a:ea typeface="Calibri" pitchFamily="34" charset="-122"/>
                <a:cs typeface="Calibri" pitchFamily="34" charset="-120"/>
              </a:rPr>
              <a:t>Why this matters for diligence</a:t>
            </a:r>
            <a:endParaRPr lang="en-US" sz="1150" dirty="0"/>
          </a:p>
        </p:txBody>
      </p:sp>
      <p:sp>
        <p:nvSpPr>
          <p:cNvPr id="25" name="Text 23"/>
          <p:cNvSpPr/>
          <p:nvPr/>
        </p:nvSpPr>
        <p:spPr>
          <a:xfrm>
            <a:off x="822960" y="5193792"/>
            <a:ext cx="10545775" cy="822960"/>
          </a:xfrm>
          <a:prstGeom prst="rect">
            <a:avLst/>
          </a:prstGeom>
          <a:noFill/>
          <a:ln/>
        </p:spPr>
        <p:txBody>
          <a:bodyPr wrap="square" lIns="0" tIns="0" rIns="0" bIns="0" rtlCol="0" anchor="ctr"/>
          <a:lstStyle/>
          <a:p>
            <a:pPr indent="0" marL="0">
              <a:lnSpc>
                <a:spcPct val="115000"/>
              </a:lnSpc>
              <a:buNone/>
            </a:pPr>
            <a:r>
              <a:rPr lang="en-US" sz="1050" dirty="0">
                <a:solidFill>
                  <a:srgbClr val="3A4553"/>
                </a:solidFill>
                <a:latin typeface="Calibri" pitchFamily="34" charset="0"/>
                <a:ea typeface="Calibri" pitchFamily="34" charset="-122"/>
                <a:cs typeface="Calibri" pitchFamily="34" charset="-120"/>
              </a:rPr>
              <a:t>The 2006 pivot — not the 1996 founding — is the operative history. Everything distinctive about Datre's positioning (engineering-company framing, the heat-treatment IP stance, the OEM-led product mix) dates from that decision, not from the original valve-foundry design.</a:t>
            </a:r>
            <a:endParaRPr lang="en-US" sz="1050" dirty="0"/>
          </a:p>
        </p:txBody>
      </p:sp>
      <p:sp>
        <p:nvSpPr>
          <p:cNvPr id="26" name="Text 24"/>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27" name="Text 2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UNIQUE SELLING PROPOSITION</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1C1F26"/>
                </a:solidFill>
                <a:latin typeface="Cambria" pitchFamily="34" charset="0"/>
                <a:ea typeface="Cambria" pitchFamily="34" charset="-122"/>
                <a:cs typeface="Cambria" pitchFamily="34" charset="-120"/>
              </a:rPr>
              <a:t>Four choices that separate Datre from a commodity foundry</a:t>
            </a:r>
            <a:endParaRPr lang="en-US" sz="3000" dirty="0"/>
          </a:p>
        </p:txBody>
      </p:sp>
      <p:sp>
        <p:nvSpPr>
          <p:cNvPr id="4" name="Shape 2"/>
          <p:cNvSpPr/>
          <p:nvPr/>
        </p:nvSpPr>
        <p:spPr>
          <a:xfrm>
            <a:off x="548640" y="1691640"/>
            <a:ext cx="5387188" cy="2194560"/>
          </a:xfrm>
          <a:prstGeom prst="roundRect">
            <a:avLst>
              <a:gd name="adj" fmla="val 3333"/>
            </a:avLst>
          </a:prstGeom>
          <a:solidFill>
            <a:srgbClr val="F4F5F7"/>
          </a:solidFill>
          <a:ln/>
        </p:spPr>
      </p:sp>
      <p:sp>
        <p:nvSpPr>
          <p:cNvPr id="5" name="Shape 3"/>
          <p:cNvSpPr/>
          <p:nvPr/>
        </p:nvSpPr>
        <p:spPr>
          <a:xfrm>
            <a:off x="822960" y="1947672"/>
            <a:ext cx="457200" cy="457200"/>
          </a:xfrm>
          <a:prstGeom prst="ellipse">
            <a:avLst/>
          </a:prstGeom>
          <a:solidFill>
            <a:srgbClr val="D9622B"/>
          </a:solidFill>
          <a:ln/>
        </p:spPr>
      </p:sp>
      <p:sp>
        <p:nvSpPr>
          <p:cNvPr id="6" name="Text 4"/>
          <p:cNvSpPr/>
          <p:nvPr/>
        </p:nvSpPr>
        <p:spPr>
          <a:xfrm>
            <a:off x="822960" y="19476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63040" y="1929384"/>
            <a:ext cx="4198468" cy="502920"/>
          </a:xfrm>
          <a:prstGeom prst="rect">
            <a:avLst/>
          </a:prstGeom>
          <a:noFill/>
          <a:ln/>
        </p:spPr>
        <p:txBody>
          <a:bodyPr wrap="square" lIns="0" tIns="0" rIns="0" bIns="0" rtlCol="0" anchor="ctr"/>
          <a:lstStyle/>
          <a:p>
            <a:pPr indent="0" marL="0">
              <a:lnSpc>
                <a:spcPct val="100000"/>
              </a:lnSpc>
              <a:buNone/>
            </a:pPr>
            <a:r>
              <a:rPr lang="en-US" sz="1300" b="1" dirty="0">
                <a:solidFill>
                  <a:srgbClr val="1C1F26"/>
                </a:solidFill>
                <a:latin typeface="Calibri" pitchFamily="34" charset="0"/>
                <a:ea typeface="Calibri" pitchFamily="34" charset="-122"/>
                <a:cs typeface="Calibri" pitchFamily="34" charset="-120"/>
              </a:rPr>
              <a:t>Engineering company, not a steel foundry</a:t>
            </a:r>
            <a:endParaRPr lang="en-US" sz="1300" dirty="0"/>
          </a:p>
        </p:txBody>
      </p:sp>
      <p:sp>
        <p:nvSpPr>
          <p:cNvPr id="8" name="Text 6"/>
          <p:cNvSpPr/>
          <p:nvPr/>
        </p:nvSpPr>
        <p:spPr>
          <a:xfrm>
            <a:off x="822960" y="2560320"/>
            <a:ext cx="4838548" cy="777240"/>
          </a:xfrm>
          <a:prstGeom prst="rect">
            <a:avLst/>
          </a:prstGeom>
          <a:noFill/>
          <a:ln/>
        </p:spPr>
        <p:txBody>
          <a:bodyPr wrap="square" lIns="0" tIns="0" rIns="0" bIns="0" rtlCol="0" anchor="ctr"/>
          <a:lstStyle/>
          <a:p>
            <a:pPr indent="0" marL="0">
              <a:lnSpc>
                <a:spcPct val="112000"/>
              </a:lnSpc>
              <a:buNone/>
            </a:pPr>
            <a:r>
              <a:rPr lang="en-US" sz="980" dirty="0">
                <a:solidFill>
                  <a:srgbClr val="3A4553"/>
                </a:solidFill>
                <a:latin typeface="Calibri" pitchFamily="34" charset="0"/>
                <a:ea typeface="Calibri" pitchFamily="34" charset="-122"/>
                <a:cs typeface="Calibri" pitchFamily="34" charset="-120"/>
              </a:rPr>
              <a:t>Rebranded around “Engineering Essence, Manufacturing Personified” — priced as a problem-solver, not on weight and chemistry alone.</a:t>
            </a:r>
            <a:endParaRPr lang="en-US" sz="980" dirty="0"/>
          </a:p>
        </p:txBody>
      </p:sp>
      <p:sp>
        <p:nvSpPr>
          <p:cNvPr id="9" name="Shape 7"/>
          <p:cNvSpPr/>
          <p:nvPr/>
        </p:nvSpPr>
        <p:spPr>
          <a:xfrm>
            <a:off x="822960" y="3383280"/>
            <a:ext cx="4838548" cy="365760"/>
          </a:xfrm>
          <a:prstGeom prst="roundRect">
            <a:avLst>
              <a:gd name="adj" fmla="val 12500"/>
            </a:avLst>
          </a:prstGeom>
          <a:solidFill>
            <a:srgbClr val="FCEFE6"/>
          </a:solidFill>
          <a:ln/>
        </p:spPr>
      </p:sp>
      <p:sp>
        <p:nvSpPr>
          <p:cNvPr id="10" name="Text 8"/>
          <p:cNvSpPr/>
          <p:nvPr/>
        </p:nvSpPr>
        <p:spPr>
          <a:xfrm>
            <a:off x="932688" y="3383280"/>
            <a:ext cx="4619092" cy="365760"/>
          </a:xfrm>
          <a:prstGeom prst="rect">
            <a:avLst/>
          </a:prstGeom>
          <a:noFill/>
          <a:ln/>
        </p:spPr>
        <p:txBody>
          <a:bodyPr wrap="square" lIns="0" tIns="0" rIns="0" bIns="0" rtlCol="0" anchor="ctr"/>
          <a:lstStyle/>
          <a:p>
            <a:pPr indent="0" marL="0">
              <a:buNone/>
            </a:pPr>
            <a:r>
              <a:rPr lang="en-US" sz="900" b="1" dirty="0">
                <a:solidFill>
                  <a:srgbClr val="D9622B"/>
                </a:solidFill>
                <a:latin typeface="Calibri" pitchFamily="34" charset="0"/>
                <a:ea typeface="Calibri" pitchFamily="34" charset="-122"/>
                <a:cs typeface="Calibri" pitchFamily="34" charset="-120"/>
              </a:rPr>
              <a:t>Contribution spans ₹22-88/kg by product — evidence of value pricing</a:t>
            </a:r>
            <a:endParaRPr lang="en-US" sz="900" dirty="0"/>
          </a:p>
        </p:txBody>
      </p:sp>
      <p:sp>
        <p:nvSpPr>
          <p:cNvPr id="11" name="Shape 9"/>
          <p:cNvSpPr/>
          <p:nvPr/>
        </p:nvSpPr>
        <p:spPr>
          <a:xfrm>
            <a:off x="6255868" y="1691640"/>
            <a:ext cx="5387188" cy="2194560"/>
          </a:xfrm>
          <a:prstGeom prst="roundRect">
            <a:avLst>
              <a:gd name="adj" fmla="val 3333"/>
            </a:avLst>
          </a:prstGeom>
          <a:solidFill>
            <a:srgbClr val="F4F5F7"/>
          </a:solidFill>
          <a:ln/>
        </p:spPr>
      </p:sp>
      <p:sp>
        <p:nvSpPr>
          <p:cNvPr id="12" name="Shape 10"/>
          <p:cNvSpPr/>
          <p:nvPr/>
        </p:nvSpPr>
        <p:spPr>
          <a:xfrm>
            <a:off x="6530188" y="1947672"/>
            <a:ext cx="457200" cy="457200"/>
          </a:xfrm>
          <a:prstGeom prst="ellipse">
            <a:avLst/>
          </a:prstGeom>
          <a:solidFill>
            <a:srgbClr val="D9622B"/>
          </a:solidFill>
          <a:ln/>
        </p:spPr>
      </p:sp>
      <p:sp>
        <p:nvSpPr>
          <p:cNvPr id="13" name="Text 11"/>
          <p:cNvSpPr/>
          <p:nvPr/>
        </p:nvSpPr>
        <p:spPr>
          <a:xfrm>
            <a:off x="6530188" y="19476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7170268" y="1929384"/>
            <a:ext cx="4198468" cy="502920"/>
          </a:xfrm>
          <a:prstGeom prst="rect">
            <a:avLst/>
          </a:prstGeom>
          <a:noFill/>
          <a:ln/>
        </p:spPr>
        <p:txBody>
          <a:bodyPr wrap="square" lIns="0" tIns="0" rIns="0" bIns="0" rtlCol="0" anchor="ctr"/>
          <a:lstStyle/>
          <a:p>
            <a:pPr indent="0" marL="0">
              <a:lnSpc>
                <a:spcPct val="100000"/>
              </a:lnSpc>
              <a:buNone/>
            </a:pPr>
            <a:r>
              <a:rPr lang="en-US" sz="1300" b="1" dirty="0">
                <a:solidFill>
                  <a:srgbClr val="1C1F26"/>
                </a:solidFill>
                <a:latin typeface="Calibri" pitchFamily="34" charset="0"/>
                <a:ea typeface="Calibri" pitchFamily="34" charset="-122"/>
                <a:cs typeface="Calibri" pitchFamily="34" charset="-120"/>
              </a:rPr>
              <a:t>Protected heat-treatment know-how</a:t>
            </a:r>
            <a:endParaRPr lang="en-US" sz="1300" dirty="0"/>
          </a:p>
        </p:txBody>
      </p:sp>
      <p:sp>
        <p:nvSpPr>
          <p:cNvPr id="15" name="Text 13"/>
          <p:cNvSpPr/>
          <p:nvPr/>
        </p:nvSpPr>
        <p:spPr>
          <a:xfrm>
            <a:off x="6530188" y="2560320"/>
            <a:ext cx="4838548" cy="777240"/>
          </a:xfrm>
          <a:prstGeom prst="rect">
            <a:avLst/>
          </a:prstGeom>
          <a:noFill/>
          <a:ln/>
        </p:spPr>
        <p:txBody>
          <a:bodyPr wrap="square" lIns="0" tIns="0" rIns="0" bIns="0" rtlCol="0" anchor="ctr"/>
          <a:lstStyle/>
          <a:p>
            <a:pPr indent="0" marL="0">
              <a:lnSpc>
                <a:spcPct val="112000"/>
              </a:lnSpc>
              <a:buNone/>
            </a:pPr>
            <a:r>
              <a:rPr lang="en-US" sz="980" dirty="0">
                <a:solidFill>
                  <a:srgbClr val="3A4553"/>
                </a:solidFill>
                <a:latin typeface="Calibri" pitchFamily="34" charset="0"/>
                <a:ea typeface="Calibri" pitchFamily="34" charset="-122"/>
                <a:cs typeface="Calibri" pitchFamily="34" charset="-120"/>
              </a:rPr>
              <a:t>Most Indian foundries hand buyers the HT cycle graph, letting price be set by chemistry alone. Datre refuses to.</a:t>
            </a:r>
            <a:endParaRPr lang="en-US" sz="980" dirty="0"/>
          </a:p>
        </p:txBody>
      </p:sp>
      <p:sp>
        <p:nvSpPr>
          <p:cNvPr id="16" name="Shape 14"/>
          <p:cNvSpPr/>
          <p:nvPr/>
        </p:nvSpPr>
        <p:spPr>
          <a:xfrm>
            <a:off x="6530188" y="3383280"/>
            <a:ext cx="4838548" cy="365760"/>
          </a:xfrm>
          <a:prstGeom prst="roundRect">
            <a:avLst>
              <a:gd name="adj" fmla="val 12500"/>
            </a:avLst>
          </a:prstGeom>
          <a:solidFill>
            <a:srgbClr val="FCEFE6"/>
          </a:solidFill>
          <a:ln/>
        </p:spPr>
      </p:sp>
      <p:sp>
        <p:nvSpPr>
          <p:cNvPr id="17" name="Text 15"/>
          <p:cNvSpPr/>
          <p:nvPr/>
        </p:nvSpPr>
        <p:spPr>
          <a:xfrm>
            <a:off x="6639916" y="3383280"/>
            <a:ext cx="4619092" cy="365760"/>
          </a:xfrm>
          <a:prstGeom prst="rect">
            <a:avLst/>
          </a:prstGeom>
          <a:noFill/>
          <a:ln/>
        </p:spPr>
        <p:txBody>
          <a:bodyPr wrap="square" lIns="0" tIns="0" rIns="0" bIns="0" rtlCol="0" anchor="ctr"/>
          <a:lstStyle/>
          <a:p>
            <a:pPr indent="0" marL="0">
              <a:buNone/>
            </a:pPr>
            <a:r>
              <a:rPr lang="en-US" sz="900" b="1" dirty="0">
                <a:solidFill>
                  <a:srgbClr val="D9622B"/>
                </a:solidFill>
                <a:latin typeface="Calibri" pitchFamily="34" charset="0"/>
                <a:ea typeface="Calibri" pitchFamily="34" charset="-122"/>
                <a:cs typeface="Calibri" pitchFamily="34" charset="-120"/>
              </a:rPr>
              <a:t>Basis for the Sona repricing case: ₹206→₹225/kg, cost-to-serve</a:t>
            </a:r>
            <a:endParaRPr lang="en-US" sz="900" dirty="0"/>
          </a:p>
        </p:txBody>
      </p:sp>
      <p:sp>
        <p:nvSpPr>
          <p:cNvPr id="18" name="Shape 16"/>
          <p:cNvSpPr/>
          <p:nvPr/>
        </p:nvSpPr>
        <p:spPr>
          <a:xfrm>
            <a:off x="548640" y="4114800"/>
            <a:ext cx="5387188" cy="2194560"/>
          </a:xfrm>
          <a:prstGeom prst="roundRect">
            <a:avLst>
              <a:gd name="adj" fmla="val 3333"/>
            </a:avLst>
          </a:prstGeom>
          <a:solidFill>
            <a:srgbClr val="F4F5F7"/>
          </a:solidFill>
          <a:ln/>
        </p:spPr>
      </p:sp>
      <p:sp>
        <p:nvSpPr>
          <p:cNvPr id="19" name="Shape 17"/>
          <p:cNvSpPr/>
          <p:nvPr/>
        </p:nvSpPr>
        <p:spPr>
          <a:xfrm>
            <a:off x="822960" y="4370832"/>
            <a:ext cx="457200" cy="457200"/>
          </a:xfrm>
          <a:prstGeom prst="ellipse">
            <a:avLst/>
          </a:prstGeom>
          <a:solidFill>
            <a:srgbClr val="D9622B"/>
          </a:solidFill>
          <a:ln/>
        </p:spPr>
      </p:sp>
      <p:sp>
        <p:nvSpPr>
          <p:cNvPr id="20" name="Text 18"/>
          <p:cNvSpPr/>
          <p:nvPr/>
        </p:nvSpPr>
        <p:spPr>
          <a:xfrm>
            <a:off x="822960" y="43708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1463040" y="4352544"/>
            <a:ext cx="4198468" cy="502920"/>
          </a:xfrm>
          <a:prstGeom prst="rect">
            <a:avLst/>
          </a:prstGeom>
          <a:noFill/>
          <a:ln/>
        </p:spPr>
        <p:txBody>
          <a:bodyPr wrap="square" lIns="0" tIns="0" rIns="0" bIns="0" rtlCol="0" anchor="ctr"/>
          <a:lstStyle/>
          <a:p>
            <a:pPr indent="0" marL="0">
              <a:lnSpc>
                <a:spcPct val="100000"/>
              </a:lnSpc>
              <a:buNone/>
            </a:pPr>
            <a:r>
              <a:rPr lang="en-US" sz="1300" b="1" dirty="0">
                <a:solidFill>
                  <a:srgbClr val="1C1F26"/>
                </a:solidFill>
                <a:latin typeface="Calibri" pitchFamily="34" charset="0"/>
                <a:ea typeface="Calibri" pitchFamily="34" charset="-122"/>
                <a:cs typeface="Calibri" pitchFamily="34" charset="-120"/>
              </a:rPr>
              <a:t>Running an aging plant harder, not replacing it</a:t>
            </a:r>
            <a:endParaRPr lang="en-US" sz="1300" dirty="0"/>
          </a:p>
        </p:txBody>
      </p:sp>
      <p:sp>
        <p:nvSpPr>
          <p:cNvPr id="22" name="Text 20"/>
          <p:cNvSpPr/>
          <p:nvPr/>
        </p:nvSpPr>
        <p:spPr>
          <a:xfrm>
            <a:off x="822960" y="4983480"/>
            <a:ext cx="4838548" cy="777240"/>
          </a:xfrm>
          <a:prstGeom prst="rect">
            <a:avLst/>
          </a:prstGeom>
          <a:noFill/>
          <a:ln/>
        </p:spPr>
        <p:txBody>
          <a:bodyPr wrap="square" lIns="0" tIns="0" rIns="0" bIns="0" rtlCol="0" anchor="ctr"/>
          <a:lstStyle/>
          <a:p>
            <a:pPr indent="0" marL="0">
              <a:lnSpc>
                <a:spcPct val="112000"/>
              </a:lnSpc>
              <a:buNone/>
            </a:pPr>
            <a:r>
              <a:rPr lang="en-US" sz="980" dirty="0">
                <a:solidFill>
                  <a:srgbClr val="3A4553"/>
                </a:solidFill>
                <a:latin typeface="Calibri" pitchFamily="34" charset="0"/>
                <a:ea typeface="Calibri" pitchFamily="34" charset="-122"/>
                <a:cs typeface="Calibri" pitchFamily="34" charset="-120"/>
              </a:rPr>
              <a:t>100% in-house maintenance of 1990s-vintage imported European machinery, with no OEM support — kept it running through 2000-06 and beyond.</a:t>
            </a:r>
            <a:endParaRPr lang="en-US" sz="980" dirty="0"/>
          </a:p>
        </p:txBody>
      </p:sp>
      <p:sp>
        <p:nvSpPr>
          <p:cNvPr id="23" name="Shape 21"/>
          <p:cNvSpPr/>
          <p:nvPr/>
        </p:nvSpPr>
        <p:spPr>
          <a:xfrm>
            <a:off x="822960" y="5806440"/>
            <a:ext cx="4838548" cy="365760"/>
          </a:xfrm>
          <a:prstGeom prst="roundRect">
            <a:avLst>
              <a:gd name="adj" fmla="val 12500"/>
            </a:avLst>
          </a:prstGeom>
          <a:solidFill>
            <a:srgbClr val="FCEFE6"/>
          </a:solidFill>
          <a:ln/>
        </p:spPr>
      </p:sp>
      <p:sp>
        <p:nvSpPr>
          <p:cNvPr id="24" name="Text 22"/>
          <p:cNvSpPr/>
          <p:nvPr/>
        </p:nvSpPr>
        <p:spPr>
          <a:xfrm>
            <a:off x="932688" y="5806440"/>
            <a:ext cx="4619092" cy="365760"/>
          </a:xfrm>
          <a:prstGeom prst="rect">
            <a:avLst/>
          </a:prstGeom>
          <a:noFill/>
          <a:ln/>
        </p:spPr>
        <p:txBody>
          <a:bodyPr wrap="square" lIns="0" tIns="0" rIns="0" bIns="0" rtlCol="0" anchor="ctr"/>
          <a:lstStyle/>
          <a:p>
            <a:pPr indent="0" marL="0">
              <a:buNone/>
            </a:pPr>
            <a:r>
              <a:rPr lang="en-US" sz="900" b="1" dirty="0">
                <a:solidFill>
                  <a:srgbClr val="D9622B"/>
                </a:solidFill>
                <a:latin typeface="Calibri" pitchFamily="34" charset="0"/>
                <a:ea typeface="Calibri" pitchFamily="34" charset="-122"/>
                <a:cs typeface="Calibri" pitchFamily="34" charset="-120"/>
              </a:rPr>
              <a:t>Utilization: ~55% (2018) → ~81% (Aug 2025) — see slide 9</a:t>
            </a:r>
            <a:endParaRPr lang="en-US" sz="900" dirty="0"/>
          </a:p>
        </p:txBody>
      </p:sp>
      <p:sp>
        <p:nvSpPr>
          <p:cNvPr id="25" name="Shape 23"/>
          <p:cNvSpPr/>
          <p:nvPr/>
        </p:nvSpPr>
        <p:spPr>
          <a:xfrm>
            <a:off x="6255868" y="4114800"/>
            <a:ext cx="5387188" cy="2194560"/>
          </a:xfrm>
          <a:prstGeom prst="roundRect">
            <a:avLst>
              <a:gd name="adj" fmla="val 3333"/>
            </a:avLst>
          </a:prstGeom>
          <a:solidFill>
            <a:srgbClr val="F4F5F7"/>
          </a:solidFill>
          <a:ln/>
        </p:spPr>
      </p:sp>
      <p:sp>
        <p:nvSpPr>
          <p:cNvPr id="26" name="Shape 24"/>
          <p:cNvSpPr/>
          <p:nvPr/>
        </p:nvSpPr>
        <p:spPr>
          <a:xfrm>
            <a:off x="6530188" y="4370832"/>
            <a:ext cx="457200" cy="457200"/>
          </a:xfrm>
          <a:prstGeom prst="ellipse">
            <a:avLst/>
          </a:prstGeom>
          <a:solidFill>
            <a:srgbClr val="D9622B"/>
          </a:solidFill>
          <a:ln/>
        </p:spPr>
      </p:sp>
      <p:sp>
        <p:nvSpPr>
          <p:cNvPr id="27" name="Text 25"/>
          <p:cNvSpPr/>
          <p:nvPr/>
        </p:nvSpPr>
        <p:spPr>
          <a:xfrm>
            <a:off x="6530188" y="43708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6"/>
          <p:cNvSpPr/>
          <p:nvPr/>
        </p:nvSpPr>
        <p:spPr>
          <a:xfrm>
            <a:off x="7170268" y="4352544"/>
            <a:ext cx="4198468" cy="502920"/>
          </a:xfrm>
          <a:prstGeom prst="rect">
            <a:avLst/>
          </a:prstGeom>
          <a:noFill/>
          <a:ln/>
        </p:spPr>
        <p:txBody>
          <a:bodyPr wrap="square" lIns="0" tIns="0" rIns="0" bIns="0" rtlCol="0" anchor="ctr"/>
          <a:lstStyle/>
          <a:p>
            <a:pPr indent="0" marL="0">
              <a:lnSpc>
                <a:spcPct val="100000"/>
              </a:lnSpc>
              <a:buNone/>
            </a:pPr>
            <a:r>
              <a:rPr lang="en-US" sz="1300" b="1" dirty="0">
                <a:solidFill>
                  <a:srgbClr val="1C1F26"/>
                </a:solidFill>
                <a:latin typeface="Calibri" pitchFamily="34" charset="0"/>
                <a:ea typeface="Calibri" pitchFamily="34" charset="-122"/>
                <a:cs typeface="Calibri" pitchFamily="34" charset="-120"/>
              </a:rPr>
              <a:t>Deep, sole-supplier OEM integration</a:t>
            </a:r>
            <a:endParaRPr lang="en-US" sz="1300" dirty="0"/>
          </a:p>
        </p:txBody>
      </p:sp>
      <p:sp>
        <p:nvSpPr>
          <p:cNvPr id="29" name="Text 27"/>
          <p:cNvSpPr/>
          <p:nvPr/>
        </p:nvSpPr>
        <p:spPr>
          <a:xfrm>
            <a:off x="6530188" y="4983480"/>
            <a:ext cx="4838548" cy="777240"/>
          </a:xfrm>
          <a:prstGeom prst="rect">
            <a:avLst/>
          </a:prstGeom>
          <a:noFill/>
          <a:ln/>
        </p:spPr>
        <p:txBody>
          <a:bodyPr wrap="square" lIns="0" tIns="0" rIns="0" bIns="0" rtlCol="0" anchor="ctr"/>
          <a:lstStyle/>
          <a:p>
            <a:pPr indent="0" marL="0">
              <a:lnSpc>
                <a:spcPct val="112000"/>
              </a:lnSpc>
              <a:buNone/>
            </a:pPr>
            <a:r>
              <a:rPr lang="en-US" sz="980" dirty="0">
                <a:solidFill>
                  <a:srgbClr val="3A4553"/>
                </a:solidFill>
                <a:latin typeface="Calibri" pitchFamily="34" charset="0"/>
                <a:ea typeface="Calibri" pitchFamily="34" charset="-122"/>
                <a:cs typeface="Calibri" pitchFamily="34" charset="-120"/>
              </a:rPr>
              <a:t>Sole/near-exclusive casting partner to Tega (since 2005) and Escorts on safety-critical parts; Komatsu-qualified on 5 idler part numbers.</a:t>
            </a:r>
            <a:endParaRPr lang="en-US" sz="980" dirty="0"/>
          </a:p>
        </p:txBody>
      </p:sp>
      <p:sp>
        <p:nvSpPr>
          <p:cNvPr id="30" name="Shape 28"/>
          <p:cNvSpPr/>
          <p:nvPr/>
        </p:nvSpPr>
        <p:spPr>
          <a:xfrm>
            <a:off x="6530188" y="5806440"/>
            <a:ext cx="4838548" cy="365760"/>
          </a:xfrm>
          <a:prstGeom prst="roundRect">
            <a:avLst>
              <a:gd name="adj" fmla="val 12500"/>
            </a:avLst>
          </a:prstGeom>
          <a:solidFill>
            <a:srgbClr val="FCEFE6"/>
          </a:solidFill>
          <a:ln/>
        </p:spPr>
      </p:sp>
      <p:sp>
        <p:nvSpPr>
          <p:cNvPr id="31" name="Text 29"/>
          <p:cNvSpPr/>
          <p:nvPr/>
        </p:nvSpPr>
        <p:spPr>
          <a:xfrm>
            <a:off x="6639916" y="5806440"/>
            <a:ext cx="4619092" cy="365760"/>
          </a:xfrm>
          <a:prstGeom prst="rect">
            <a:avLst/>
          </a:prstGeom>
          <a:noFill/>
          <a:ln/>
        </p:spPr>
        <p:txBody>
          <a:bodyPr wrap="square" lIns="0" tIns="0" rIns="0" bIns="0" rtlCol="0" anchor="ctr"/>
          <a:lstStyle/>
          <a:p>
            <a:pPr indent="0" marL="0">
              <a:buNone/>
            </a:pPr>
            <a:r>
              <a:rPr lang="en-US" sz="900" b="1" dirty="0">
                <a:solidFill>
                  <a:srgbClr val="D9622B"/>
                </a:solidFill>
                <a:latin typeface="Calibri" pitchFamily="34" charset="0"/>
                <a:ea typeface="Calibri" pitchFamily="34" charset="-122"/>
                <a:cs typeface="Calibri" pitchFamily="34" charset="-120"/>
              </a:rPr>
              <a:t>Tega: 14% → 53% → ~76% (proj.) of contribution, FY22-FY26</a:t>
            </a:r>
            <a:endParaRPr lang="en-US" sz="900" dirty="0"/>
          </a:p>
        </p:txBody>
      </p:sp>
      <p:sp>
        <p:nvSpPr>
          <p:cNvPr id="32" name="Text 30"/>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33" name="Text 31"/>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1F26"/>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USP DEEP DIVE</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The moat: refusing to hand over the heat-treatment cycle</a:t>
            </a:r>
            <a:endParaRPr lang="en-US" sz="3000" dirty="0"/>
          </a:p>
        </p:txBody>
      </p:sp>
      <p:sp>
        <p:nvSpPr>
          <p:cNvPr id="4" name="Text 2"/>
          <p:cNvSpPr/>
          <p:nvPr/>
        </p:nvSpPr>
        <p:spPr>
          <a:xfrm>
            <a:off x="548640" y="1828800"/>
            <a:ext cx="6035040" cy="274320"/>
          </a:xfrm>
          <a:prstGeom prst="rect">
            <a:avLst/>
          </a:prstGeom>
          <a:noFill/>
          <a:ln/>
        </p:spPr>
        <p:txBody>
          <a:bodyPr wrap="square" lIns="0" tIns="0" rIns="0" bIns="0" rtlCol="0" anchor="ctr"/>
          <a:lstStyle/>
          <a:p>
            <a:pPr indent="0" marL="0">
              <a:buNone/>
            </a:pPr>
            <a:r>
              <a:rPr lang="en-US" sz="1050" b="1" spc="150" kern="0" dirty="0">
                <a:solidFill>
                  <a:srgbClr val="9AA2AD"/>
                </a:solidFill>
                <a:latin typeface="Calibri" pitchFamily="34" charset="0"/>
                <a:ea typeface="Calibri" pitchFamily="34" charset="-122"/>
                <a:cs typeface="Calibri" pitchFamily="34" charset="-120"/>
              </a:rPr>
              <a:t>THE INDUSTRY NORM</a:t>
            </a:r>
            <a:endParaRPr lang="en-US" sz="1050" dirty="0"/>
          </a:p>
        </p:txBody>
      </p:sp>
      <p:sp>
        <p:nvSpPr>
          <p:cNvPr id="5" name="Text 3"/>
          <p:cNvSpPr/>
          <p:nvPr/>
        </p:nvSpPr>
        <p:spPr>
          <a:xfrm>
            <a:off x="548640" y="2121408"/>
            <a:ext cx="6035040" cy="1188720"/>
          </a:xfrm>
          <a:prstGeom prst="rect">
            <a:avLst/>
          </a:prstGeom>
          <a:noFill/>
          <a:ln/>
        </p:spPr>
        <p:txBody>
          <a:bodyPr wrap="square" lIns="0" tIns="0" rIns="0" bIns="0" rtlCol="0" anchor="ctr"/>
          <a:lstStyle/>
          <a:p>
            <a:pPr indent="0" marL="0">
              <a:lnSpc>
                <a:spcPct val="120000"/>
              </a:lnSpc>
              <a:buNone/>
            </a:pPr>
            <a:r>
              <a:rPr lang="en-US" sz="1250" dirty="0">
                <a:solidFill>
                  <a:srgbClr val="CBD3DC"/>
                </a:solidFill>
                <a:latin typeface="Calibri" pitchFamily="34" charset="0"/>
                <a:ea typeface="Calibri" pitchFamily="34" charset="-122"/>
                <a:cs typeface="Calibri" pitchFamily="34" charset="-120"/>
              </a:rPr>
              <a:t>Indian foundries routinely hand buyers the heat-treatment cycle graph as part of the supply package. Once the buyer has it, price gets pinned to raw-material chemistry alone — the caster's process know-how stops mattering commercially.</a:t>
            </a:r>
            <a:endParaRPr lang="en-US" sz="1250" dirty="0"/>
          </a:p>
        </p:txBody>
      </p:sp>
      <p:sp>
        <p:nvSpPr>
          <p:cNvPr id="6" name="Text 4"/>
          <p:cNvSpPr/>
          <p:nvPr/>
        </p:nvSpPr>
        <p:spPr>
          <a:xfrm>
            <a:off x="548640" y="3429000"/>
            <a:ext cx="6035040" cy="274320"/>
          </a:xfrm>
          <a:prstGeom prst="rect">
            <a:avLst/>
          </a:prstGeom>
          <a:noFill/>
          <a:ln/>
        </p:spPr>
        <p:txBody>
          <a:bodyPr wrap="square" lIns="0" tIns="0" rIns="0" bIns="0" rtlCol="0" anchor="ctr"/>
          <a:lstStyle/>
          <a:p>
            <a:pPr indent="0" marL="0">
              <a:buNone/>
            </a:pPr>
            <a:r>
              <a:rPr lang="en-US" sz="1050" b="1" spc="150" kern="0" dirty="0">
                <a:solidFill>
                  <a:srgbClr val="D9622B"/>
                </a:solidFill>
                <a:latin typeface="Calibri" pitchFamily="34" charset="0"/>
                <a:ea typeface="Calibri" pitchFamily="34" charset="-122"/>
                <a:cs typeface="Calibri" pitchFamily="34" charset="-120"/>
              </a:rPr>
              <a:t>DATRE'S DEPARTURE</a:t>
            </a:r>
            <a:endParaRPr lang="en-US" sz="1050" dirty="0"/>
          </a:p>
        </p:txBody>
      </p:sp>
      <p:sp>
        <p:nvSpPr>
          <p:cNvPr id="7" name="Text 5"/>
          <p:cNvSpPr/>
          <p:nvPr/>
        </p:nvSpPr>
        <p:spPr>
          <a:xfrm>
            <a:off x="548640" y="3721608"/>
            <a:ext cx="6035040" cy="118872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Datre withholds its HT cycle documentation — a deliberate, contested choice that customers pushed back on. Holding that ground protects the one variable a buyer cannot commoditize: how the metallurgy is actually achieved.</a:t>
            </a:r>
            <a:endParaRPr lang="en-US" sz="1250" dirty="0"/>
          </a:p>
        </p:txBody>
      </p:sp>
      <p:sp>
        <p:nvSpPr>
          <p:cNvPr id="8" name="Text 6"/>
          <p:cNvSpPr/>
          <p:nvPr/>
        </p:nvSpPr>
        <p:spPr>
          <a:xfrm>
            <a:off x="548640" y="5029200"/>
            <a:ext cx="6035040" cy="914400"/>
          </a:xfrm>
          <a:prstGeom prst="rect">
            <a:avLst/>
          </a:prstGeom>
          <a:noFill/>
          <a:ln/>
        </p:spPr>
        <p:txBody>
          <a:bodyPr wrap="square" lIns="0" tIns="0" rIns="0" bIns="0" rtlCol="0" anchor="ctr"/>
          <a:lstStyle/>
          <a:p>
            <a:pPr indent="0" marL="0">
              <a:lnSpc>
                <a:spcPct val="115000"/>
              </a:lnSpc>
              <a:buNone/>
            </a:pPr>
            <a:r>
              <a:rPr lang="en-US" sz="1050" i="1" dirty="0">
                <a:solidFill>
                  <a:srgbClr val="9AA2AD"/>
                </a:solidFill>
                <a:latin typeface="Calibri" pitchFamily="34" charset="0"/>
                <a:ea typeface="Calibri" pitchFamily="34" charset="-122"/>
                <a:cs typeface="Calibri" pitchFamily="34" charset="-120"/>
              </a:rPr>
              <a:t>Why it matters for pricing power: the Sona Comstar knuckle-casting repricing (slide 20) is the same logic in commercial practice — cost-to-serve, not raw-material chemistry, is what Datre asks customers to pay for.</a:t>
            </a:r>
            <a:endParaRPr lang="en-US" sz="1050" dirty="0"/>
          </a:p>
        </p:txBody>
      </p:sp>
      <p:sp>
        <p:nvSpPr>
          <p:cNvPr id="9" name="Shape 7"/>
          <p:cNvSpPr/>
          <p:nvPr/>
        </p:nvSpPr>
        <p:spPr>
          <a:xfrm>
            <a:off x="7040880" y="1828800"/>
            <a:ext cx="4602175" cy="4160520"/>
          </a:xfrm>
          <a:prstGeom prst="roundRect">
            <a:avLst>
              <a:gd name="adj" fmla="val 1758"/>
            </a:avLst>
          </a:prstGeom>
          <a:solidFill>
            <a:srgbClr val="262B34"/>
          </a:solidFill>
          <a:ln/>
        </p:spPr>
      </p:sp>
      <p:sp>
        <p:nvSpPr>
          <p:cNvPr id="10" name="Text 8"/>
          <p:cNvSpPr/>
          <p:nvPr/>
        </p:nvSpPr>
        <p:spPr>
          <a:xfrm>
            <a:off x="7315200" y="2057400"/>
            <a:ext cx="4053535" cy="274320"/>
          </a:xfrm>
          <a:prstGeom prst="rect">
            <a:avLst/>
          </a:prstGeom>
          <a:noFill/>
          <a:ln/>
        </p:spPr>
        <p:txBody>
          <a:bodyPr wrap="square" lIns="0" tIns="0" rIns="0" bIns="0" rtlCol="0" anchor="ctr"/>
          <a:lstStyle/>
          <a:p>
            <a:pPr indent="0" marL="0">
              <a:buNone/>
            </a:pPr>
            <a:r>
              <a:rPr lang="en-US" sz="1000" b="1" spc="100" kern="0" dirty="0">
                <a:solidFill>
                  <a:srgbClr val="E8B84B"/>
                </a:solidFill>
                <a:latin typeface="Calibri" pitchFamily="34" charset="0"/>
                <a:ea typeface="Calibri" pitchFamily="34" charset="-122"/>
                <a:cs typeface="Calibri" pitchFamily="34" charset="-120"/>
              </a:rPr>
              <a:t>HEAT-TREATMENT INFRASTRUCTURE</a:t>
            </a:r>
            <a:endParaRPr lang="en-US" sz="1000" dirty="0"/>
          </a:p>
        </p:txBody>
      </p:sp>
      <p:sp>
        <p:nvSpPr>
          <p:cNvPr id="11" name="Text 9"/>
          <p:cNvSpPr/>
          <p:nvPr/>
        </p:nvSpPr>
        <p:spPr>
          <a:xfrm>
            <a:off x="7315200" y="2423160"/>
            <a:ext cx="4053535" cy="3291840"/>
          </a:xfrm>
          <a:prstGeom prst="rect">
            <a:avLst/>
          </a:prstGeom>
          <a:noFill/>
          <a:ln/>
        </p:spPr>
        <p:txBody>
          <a:bodyPr wrap="square" lIns="0" tIns="0" rIns="0" bIns="0" rtlCol="0" anchor="ctr"/>
          <a:lstStyle/>
          <a:p>
            <a:pPr marL="342900" indent="-342900">
              <a:lnSpc>
                <a:spcPct val="110000"/>
              </a:lnSpc>
              <a:spcAft>
                <a:spcPts val="900"/>
              </a:spcAft>
              <a:buSzPct val="100000"/>
              <a:buChar char="–"/>
            </a:pPr>
            <a:r>
              <a:rPr lang="en-US" sz="1100" dirty="0">
                <a:solidFill>
                  <a:srgbClr val="CBD3DC"/>
                </a:solidFill>
                <a:latin typeface="Calibri" pitchFamily="34" charset="0"/>
                <a:ea typeface="Calibri" pitchFamily="34" charset="-122"/>
                <a:cs typeface="Calibri" pitchFamily="34" charset="-120"/>
              </a:rPr>
              <a:t>Auto-controlled furnaces with water &amp; air quenching</a:t>
            </a:r>
            <a:endParaRPr lang="en-US" sz="1100" dirty="0"/>
          </a:p>
          <a:p>
            <a:pPr marL="342900" indent="-342900">
              <a:lnSpc>
                <a:spcPct val="110000"/>
              </a:lnSpc>
              <a:spcAft>
                <a:spcPts val="900"/>
              </a:spcAft>
              <a:buSzPct val="100000"/>
              <a:buChar char="–"/>
            </a:pPr>
            <a:r>
              <a:rPr lang="en-US" sz="1100" dirty="0">
                <a:solidFill>
                  <a:srgbClr val="CBD3DC"/>
                </a:solidFill>
                <a:latin typeface="Calibri" pitchFamily="34" charset="0"/>
                <a:ea typeface="Calibri" pitchFamily="34" charset="-122"/>
                <a:cs typeface="Calibri" pitchFamily="34" charset="-120"/>
              </a:rPr>
              <a:t>Induction melting: furnaces up to 10-ton capacity</a:t>
            </a:r>
            <a:endParaRPr lang="en-US" sz="1100" dirty="0"/>
          </a:p>
          <a:p>
            <a:pPr marL="342900" indent="-342900">
              <a:lnSpc>
                <a:spcPct val="110000"/>
              </a:lnSpc>
              <a:spcAft>
                <a:spcPts val="900"/>
              </a:spcAft>
              <a:buSzPct val="100000"/>
              <a:buChar char="–"/>
            </a:pPr>
            <a:r>
              <a:rPr lang="en-US" sz="1100" dirty="0">
                <a:solidFill>
                  <a:srgbClr val="CBD3DC"/>
                </a:solidFill>
                <a:latin typeface="Calibri" pitchFamily="34" charset="0"/>
                <a:ea typeface="Calibri" pitchFamily="34" charset="-122"/>
                <a:cs typeface="Calibri" pitchFamily="34" charset="-120"/>
              </a:rPr>
              <a:t>Spectrometer — 14-element analysis</a:t>
            </a:r>
            <a:endParaRPr lang="en-US" sz="1100" dirty="0"/>
          </a:p>
          <a:p>
            <a:pPr marL="342900" indent="-342900">
              <a:lnSpc>
                <a:spcPct val="110000"/>
              </a:lnSpc>
              <a:spcAft>
                <a:spcPts val="900"/>
              </a:spcAft>
              <a:buSzPct val="100000"/>
              <a:buChar char="–"/>
            </a:pPr>
            <a:r>
              <a:rPr lang="en-US" sz="1100" dirty="0">
                <a:solidFill>
                  <a:srgbClr val="CBD3DC"/>
                </a:solidFill>
                <a:latin typeface="Calibri" pitchFamily="34" charset="0"/>
                <a:ea typeface="Calibri" pitchFamily="34" charset="-122"/>
                <a:cs typeface="Calibri" pitchFamily="34" charset="-120"/>
              </a:rPr>
              <a:t>Brinell / Rockwell / digital hardness testing</a:t>
            </a:r>
            <a:endParaRPr lang="en-US" sz="1100" dirty="0"/>
          </a:p>
          <a:p>
            <a:pPr marL="342900" indent="-342900">
              <a:lnSpc>
                <a:spcPct val="110000"/>
              </a:lnSpc>
              <a:spcAft>
                <a:spcPts val="900"/>
              </a:spcAft>
              <a:buSzPct val="100000"/>
              <a:buChar char="–"/>
            </a:pPr>
            <a:r>
              <a:rPr lang="en-US" sz="1100" dirty="0">
                <a:solidFill>
                  <a:srgbClr val="CBD3DC"/>
                </a:solidFill>
                <a:latin typeface="Calibri" pitchFamily="34" charset="0"/>
                <a:ea typeface="Calibri" pitchFamily="34" charset="-122"/>
                <a:cs typeface="Calibri" pitchFamily="34" charset="-120"/>
              </a:rPr>
              <a:t>Ultrasonic &amp; radiography (RT) testing</a:t>
            </a:r>
            <a:endParaRPr lang="en-US" sz="1100" dirty="0"/>
          </a:p>
          <a:p>
            <a:pPr marL="342900" indent="-342900">
              <a:lnSpc>
                <a:spcPct val="110000"/>
              </a:lnSpc>
              <a:spcAft>
                <a:spcPts val="900"/>
              </a:spcAft>
              <a:buSzPct val="100000"/>
              <a:buChar char="–"/>
            </a:pPr>
            <a:r>
              <a:rPr lang="en-US" sz="1100" dirty="0">
                <a:solidFill>
                  <a:srgbClr val="CBD3DC"/>
                </a:solidFill>
                <a:latin typeface="Calibri" pitchFamily="34" charset="0"/>
                <a:ea typeface="Calibri" pitchFamily="34" charset="-122"/>
                <a:cs typeface="Calibri" pitchFamily="34" charset="-120"/>
              </a:rPr>
              <a:t>Magnetic crack detection (MPI)</a:t>
            </a:r>
            <a:endParaRPr lang="en-US" sz="1100" dirty="0"/>
          </a:p>
          <a:p>
            <a:pPr marL="342900" indent="-342900">
              <a:lnSpc>
                <a:spcPct val="110000"/>
              </a:lnSpc>
              <a:spcAft>
                <a:spcPts val="900"/>
              </a:spcAft>
              <a:buSzPct val="100000"/>
              <a:buChar char="–"/>
            </a:pPr>
            <a:r>
              <a:rPr lang="en-US" sz="1100" dirty="0">
                <a:solidFill>
                  <a:srgbClr val="CBD3DC"/>
                </a:solidFill>
                <a:latin typeface="Calibri" pitchFamily="34" charset="0"/>
                <a:ea typeface="Calibri" pitchFamily="34" charset="-122"/>
                <a:cs typeface="Calibri" pitchFamily="34" charset="-120"/>
              </a:rPr>
              <a:t>Microstructure testing, 50x-1500x</a:t>
            </a:r>
            <a:endParaRPr lang="en-US" sz="1100" dirty="0"/>
          </a:p>
        </p:txBody>
      </p:sp>
      <p:sp>
        <p:nvSpPr>
          <p:cNvPr id="12" name="Text 10"/>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8B93A0"/>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13" name="Text 11"/>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8B93A0"/>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END MARKETS &amp; CLIENTS</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1C1F26"/>
                </a:solidFill>
                <a:latin typeface="Cambria" pitchFamily="34" charset="0"/>
                <a:ea typeface="Cambria" pitchFamily="34" charset="-122"/>
                <a:cs typeface="Cambria" pitchFamily="34" charset="-120"/>
              </a:rPr>
              <a:t>Four end markets, anchored by tier-1 OEMs</a:t>
            </a:r>
            <a:endParaRPr lang="en-US" sz="3000" dirty="0"/>
          </a:p>
        </p:txBody>
      </p:sp>
      <p:sp>
        <p:nvSpPr>
          <p:cNvPr id="4" name="Shape 2"/>
          <p:cNvSpPr/>
          <p:nvPr/>
        </p:nvSpPr>
        <p:spPr>
          <a:xfrm>
            <a:off x="548640" y="1783080"/>
            <a:ext cx="5387188" cy="1965960"/>
          </a:xfrm>
          <a:prstGeom prst="roundRect">
            <a:avLst>
              <a:gd name="adj" fmla="val 3721"/>
            </a:avLst>
          </a:prstGeom>
          <a:solidFill>
            <a:srgbClr val="F4F5F7"/>
          </a:solidFill>
          <a:ln/>
        </p:spPr>
      </p:sp>
      <p:sp>
        <p:nvSpPr>
          <p:cNvPr id="5" name="Shape 3"/>
          <p:cNvSpPr/>
          <p:nvPr/>
        </p:nvSpPr>
        <p:spPr>
          <a:xfrm>
            <a:off x="548640" y="1783080"/>
            <a:ext cx="64008" cy="1965960"/>
          </a:xfrm>
          <a:prstGeom prst="rect">
            <a:avLst/>
          </a:prstGeom>
          <a:solidFill>
            <a:srgbClr val="D9622B"/>
          </a:solidFill>
          <a:ln/>
        </p:spPr>
      </p:sp>
      <p:sp>
        <p:nvSpPr>
          <p:cNvPr id="6" name="Text 4"/>
          <p:cNvSpPr/>
          <p:nvPr/>
        </p:nvSpPr>
        <p:spPr>
          <a:xfrm>
            <a:off x="822960" y="1984248"/>
            <a:ext cx="4838548" cy="320040"/>
          </a:xfrm>
          <a:prstGeom prst="rect">
            <a:avLst/>
          </a:prstGeom>
          <a:noFill/>
          <a:ln/>
        </p:spPr>
        <p:txBody>
          <a:bodyPr wrap="square" lIns="0" tIns="0" rIns="0" bIns="0" rtlCol="0" anchor="ctr"/>
          <a:lstStyle/>
          <a:p>
            <a:pPr indent="0" marL="0">
              <a:buNone/>
            </a:pPr>
            <a:r>
              <a:rPr lang="en-US" sz="1500" b="1" dirty="0">
                <a:solidFill>
                  <a:srgbClr val="1C1F26"/>
                </a:solidFill>
                <a:latin typeface="Cambria" pitchFamily="34" charset="0"/>
                <a:ea typeface="Cambria" pitchFamily="34" charset="-122"/>
                <a:cs typeface="Cambria" pitchFamily="34" charset="-120"/>
              </a:rPr>
              <a:t>Mining &amp; Minerals</a:t>
            </a:r>
            <a:endParaRPr lang="en-US" sz="1500" dirty="0"/>
          </a:p>
        </p:txBody>
      </p:sp>
      <p:sp>
        <p:nvSpPr>
          <p:cNvPr id="7" name="Text 5"/>
          <p:cNvSpPr/>
          <p:nvPr/>
        </p:nvSpPr>
        <p:spPr>
          <a:xfrm>
            <a:off x="822960" y="2350008"/>
            <a:ext cx="4838548" cy="548640"/>
          </a:xfrm>
          <a:prstGeom prst="rect">
            <a:avLst/>
          </a:prstGeom>
          <a:noFill/>
          <a:ln/>
        </p:spPr>
        <p:txBody>
          <a:bodyPr wrap="square" lIns="0" tIns="0" rIns="0" bIns="0" rtlCol="0" anchor="ctr"/>
          <a:lstStyle/>
          <a:p>
            <a:pPr indent="0" marL="0">
              <a:lnSpc>
                <a:spcPct val="110000"/>
              </a:lnSpc>
              <a:buNone/>
            </a:pPr>
            <a:r>
              <a:rPr lang="en-US" sz="1000" b="1" dirty="0">
                <a:solidFill>
                  <a:srgbClr val="D9622B"/>
                </a:solidFill>
                <a:latin typeface="Calibri" pitchFamily="34" charset="0"/>
                <a:ea typeface="Calibri" pitchFamily="34" charset="-122"/>
                <a:cs typeface="Calibri" pitchFamily="34" charset="-120"/>
              </a:rPr>
              <a:t>Tega Industries (sole supplier since 2005, ~80%+ of Tega's outsourced white-iron liner need, historically); Metso wound down to zero by FY25 as part of the OEM-focus pivot</a:t>
            </a:r>
            <a:endParaRPr lang="en-US" sz="1000" dirty="0"/>
          </a:p>
        </p:txBody>
      </p:sp>
      <p:sp>
        <p:nvSpPr>
          <p:cNvPr id="8" name="Text 6"/>
          <p:cNvSpPr/>
          <p:nvPr/>
        </p:nvSpPr>
        <p:spPr>
          <a:xfrm>
            <a:off x="822960" y="2953512"/>
            <a:ext cx="4838548" cy="685800"/>
          </a:xfrm>
          <a:prstGeom prst="rect">
            <a:avLst/>
          </a:prstGeom>
          <a:noFill/>
          <a:ln/>
        </p:spPr>
        <p:txBody>
          <a:bodyPr wrap="square" lIns="0" tIns="0" rIns="0" bIns="0" rtlCol="0" anchor="ctr"/>
          <a:lstStyle/>
          <a:p>
            <a:pPr indent="0" marL="0">
              <a:lnSpc>
                <a:spcPct val="112000"/>
              </a:lnSpc>
              <a:buNone/>
            </a:pPr>
            <a:r>
              <a:rPr lang="en-US" sz="970" dirty="0">
                <a:solidFill>
                  <a:srgbClr val="3A4553"/>
                </a:solidFill>
                <a:latin typeface="Calibri" pitchFamily="34" charset="0"/>
                <a:ea typeface="Calibri" pitchFamily="34" charset="-122"/>
                <a:cs typeface="Calibri" pitchFamily="34" charset="-120"/>
              </a:rPr>
              <a:t>High-chrome &amp; CrMo mill liners, hammers for crushers — ~100,000 pcs across 100+ profiles supplied to date</a:t>
            </a:r>
            <a:endParaRPr lang="en-US" sz="970" dirty="0"/>
          </a:p>
        </p:txBody>
      </p:sp>
      <p:sp>
        <p:nvSpPr>
          <p:cNvPr id="9" name="Shape 7"/>
          <p:cNvSpPr/>
          <p:nvPr/>
        </p:nvSpPr>
        <p:spPr>
          <a:xfrm>
            <a:off x="6255868" y="1783080"/>
            <a:ext cx="5387188" cy="1965960"/>
          </a:xfrm>
          <a:prstGeom prst="roundRect">
            <a:avLst>
              <a:gd name="adj" fmla="val 3721"/>
            </a:avLst>
          </a:prstGeom>
          <a:solidFill>
            <a:srgbClr val="F4F5F7"/>
          </a:solidFill>
          <a:ln/>
        </p:spPr>
      </p:sp>
      <p:sp>
        <p:nvSpPr>
          <p:cNvPr id="10" name="Shape 8"/>
          <p:cNvSpPr/>
          <p:nvPr/>
        </p:nvSpPr>
        <p:spPr>
          <a:xfrm>
            <a:off x="6255868" y="1783080"/>
            <a:ext cx="64008" cy="1965960"/>
          </a:xfrm>
          <a:prstGeom prst="rect">
            <a:avLst/>
          </a:prstGeom>
          <a:solidFill>
            <a:srgbClr val="D9622B"/>
          </a:solidFill>
          <a:ln/>
        </p:spPr>
      </p:sp>
      <p:sp>
        <p:nvSpPr>
          <p:cNvPr id="11" name="Text 9"/>
          <p:cNvSpPr/>
          <p:nvPr/>
        </p:nvSpPr>
        <p:spPr>
          <a:xfrm>
            <a:off x="6530188" y="1984248"/>
            <a:ext cx="4838548" cy="320040"/>
          </a:xfrm>
          <a:prstGeom prst="rect">
            <a:avLst/>
          </a:prstGeom>
          <a:noFill/>
          <a:ln/>
        </p:spPr>
        <p:txBody>
          <a:bodyPr wrap="square" lIns="0" tIns="0" rIns="0" bIns="0" rtlCol="0" anchor="ctr"/>
          <a:lstStyle/>
          <a:p>
            <a:pPr indent="0" marL="0">
              <a:buNone/>
            </a:pPr>
            <a:r>
              <a:rPr lang="en-US" sz="1500" b="1" dirty="0">
                <a:solidFill>
                  <a:srgbClr val="1C1F26"/>
                </a:solidFill>
                <a:latin typeface="Cambria" pitchFamily="34" charset="0"/>
                <a:ea typeface="Cambria" pitchFamily="34" charset="-122"/>
                <a:cs typeface="Cambria" pitchFamily="34" charset="-120"/>
              </a:rPr>
              <a:t>Railways</a:t>
            </a:r>
            <a:endParaRPr lang="en-US" sz="1500" dirty="0"/>
          </a:p>
        </p:txBody>
      </p:sp>
      <p:sp>
        <p:nvSpPr>
          <p:cNvPr id="12" name="Text 10"/>
          <p:cNvSpPr/>
          <p:nvPr/>
        </p:nvSpPr>
        <p:spPr>
          <a:xfrm>
            <a:off x="6530188" y="2350008"/>
            <a:ext cx="4838548" cy="548640"/>
          </a:xfrm>
          <a:prstGeom prst="rect">
            <a:avLst/>
          </a:prstGeom>
          <a:noFill/>
          <a:ln/>
        </p:spPr>
        <p:txBody>
          <a:bodyPr wrap="square" lIns="0" tIns="0" rIns="0" bIns="0" rtlCol="0" anchor="ctr"/>
          <a:lstStyle/>
          <a:p>
            <a:pPr indent="0" marL="0">
              <a:lnSpc>
                <a:spcPct val="110000"/>
              </a:lnSpc>
              <a:buNone/>
            </a:pPr>
            <a:r>
              <a:rPr lang="en-US" sz="1000" b="1" dirty="0">
                <a:solidFill>
                  <a:srgbClr val="D9622B"/>
                </a:solidFill>
                <a:latin typeface="Calibri" pitchFamily="34" charset="0"/>
                <a:ea typeface="Calibri" pitchFamily="34" charset="-122"/>
                <a:cs typeface="Calibri" pitchFamily="34" charset="-120"/>
              </a:rPr>
              <a:t>Escorts Railway Equipment Division</a:t>
            </a:r>
            <a:endParaRPr lang="en-US" sz="1000" dirty="0"/>
          </a:p>
        </p:txBody>
      </p:sp>
      <p:sp>
        <p:nvSpPr>
          <p:cNvPr id="13" name="Text 11"/>
          <p:cNvSpPr/>
          <p:nvPr/>
        </p:nvSpPr>
        <p:spPr>
          <a:xfrm>
            <a:off x="6530188" y="2953512"/>
            <a:ext cx="4838548" cy="685800"/>
          </a:xfrm>
          <a:prstGeom prst="rect">
            <a:avLst/>
          </a:prstGeom>
          <a:noFill/>
          <a:ln/>
        </p:spPr>
        <p:txBody>
          <a:bodyPr wrap="square" lIns="0" tIns="0" rIns="0" bIns="0" rtlCol="0" anchor="ctr"/>
          <a:lstStyle/>
          <a:p>
            <a:pPr indent="0" marL="0">
              <a:lnSpc>
                <a:spcPct val="112000"/>
              </a:lnSpc>
              <a:buNone/>
            </a:pPr>
            <a:r>
              <a:rPr lang="en-US" sz="970" dirty="0">
                <a:solidFill>
                  <a:srgbClr val="3A4553"/>
                </a:solidFill>
                <a:latin typeface="Calibri" pitchFamily="34" charset="0"/>
                <a:ea typeface="Calibri" pitchFamily="34" charset="-122"/>
                <a:cs typeface="Calibri" pitchFamily="34" charset="-120"/>
              </a:rPr>
              <a:t>AAR-H &amp; SCHAKU coupler castings (Main Body, Knuckle) for LHB coaches — ~1,500 Main Bodies, ~5,000 Knuckles supplied · RDSO Class 'A' qualified</a:t>
            </a:r>
            <a:endParaRPr lang="en-US" sz="970" dirty="0"/>
          </a:p>
        </p:txBody>
      </p:sp>
      <p:sp>
        <p:nvSpPr>
          <p:cNvPr id="14" name="Shape 12"/>
          <p:cNvSpPr/>
          <p:nvPr/>
        </p:nvSpPr>
        <p:spPr>
          <a:xfrm>
            <a:off x="548640" y="4023360"/>
            <a:ext cx="5387188" cy="1965960"/>
          </a:xfrm>
          <a:prstGeom prst="roundRect">
            <a:avLst>
              <a:gd name="adj" fmla="val 3721"/>
            </a:avLst>
          </a:prstGeom>
          <a:solidFill>
            <a:srgbClr val="F4F5F7"/>
          </a:solidFill>
          <a:ln/>
        </p:spPr>
      </p:sp>
      <p:sp>
        <p:nvSpPr>
          <p:cNvPr id="15" name="Shape 13"/>
          <p:cNvSpPr/>
          <p:nvPr/>
        </p:nvSpPr>
        <p:spPr>
          <a:xfrm>
            <a:off x="548640" y="4023360"/>
            <a:ext cx="64008" cy="1965960"/>
          </a:xfrm>
          <a:prstGeom prst="rect">
            <a:avLst/>
          </a:prstGeom>
          <a:solidFill>
            <a:srgbClr val="D9622B"/>
          </a:solidFill>
          <a:ln/>
        </p:spPr>
      </p:sp>
      <p:sp>
        <p:nvSpPr>
          <p:cNvPr id="16" name="Text 14"/>
          <p:cNvSpPr/>
          <p:nvPr/>
        </p:nvSpPr>
        <p:spPr>
          <a:xfrm>
            <a:off x="822960" y="4224528"/>
            <a:ext cx="4838548" cy="320040"/>
          </a:xfrm>
          <a:prstGeom prst="rect">
            <a:avLst/>
          </a:prstGeom>
          <a:noFill/>
          <a:ln/>
        </p:spPr>
        <p:txBody>
          <a:bodyPr wrap="square" lIns="0" tIns="0" rIns="0" bIns="0" rtlCol="0" anchor="ctr"/>
          <a:lstStyle/>
          <a:p>
            <a:pPr indent="0" marL="0">
              <a:buNone/>
            </a:pPr>
            <a:r>
              <a:rPr lang="en-US" sz="1500" b="1" dirty="0">
                <a:solidFill>
                  <a:srgbClr val="1C1F26"/>
                </a:solidFill>
                <a:latin typeface="Cambria" pitchFamily="34" charset="0"/>
                <a:ea typeface="Cambria" pitchFamily="34" charset="-122"/>
                <a:cs typeface="Cambria" pitchFamily="34" charset="-120"/>
              </a:rPr>
              <a:t>HEMM &amp; Construction</a:t>
            </a:r>
            <a:endParaRPr lang="en-US" sz="1500" dirty="0"/>
          </a:p>
        </p:txBody>
      </p:sp>
      <p:sp>
        <p:nvSpPr>
          <p:cNvPr id="17" name="Text 15"/>
          <p:cNvSpPr/>
          <p:nvPr/>
        </p:nvSpPr>
        <p:spPr>
          <a:xfrm>
            <a:off x="822960" y="4590288"/>
            <a:ext cx="4838548" cy="548640"/>
          </a:xfrm>
          <a:prstGeom prst="rect">
            <a:avLst/>
          </a:prstGeom>
          <a:noFill/>
          <a:ln/>
        </p:spPr>
        <p:txBody>
          <a:bodyPr wrap="square" lIns="0" tIns="0" rIns="0" bIns="0" rtlCol="0" anchor="ctr"/>
          <a:lstStyle/>
          <a:p>
            <a:pPr indent="0" marL="0">
              <a:lnSpc>
                <a:spcPct val="110000"/>
              </a:lnSpc>
              <a:buNone/>
            </a:pPr>
            <a:r>
              <a:rPr lang="en-US" sz="1000" b="1" dirty="0">
                <a:solidFill>
                  <a:srgbClr val="D9622B"/>
                </a:solidFill>
                <a:latin typeface="Calibri" pitchFamily="34" charset="0"/>
                <a:ea typeface="Calibri" pitchFamily="34" charset="-122"/>
                <a:cs typeface="Calibri" pitchFamily="34" charset="-120"/>
              </a:rPr>
              <a:t>BEML · Mahindra &amp; Mahindra · Komatsu (Himi Plant, Japan, via Uchimura)</a:t>
            </a:r>
            <a:endParaRPr lang="en-US" sz="1000" dirty="0"/>
          </a:p>
        </p:txBody>
      </p:sp>
      <p:sp>
        <p:nvSpPr>
          <p:cNvPr id="18" name="Text 16"/>
          <p:cNvSpPr/>
          <p:nvPr/>
        </p:nvSpPr>
        <p:spPr>
          <a:xfrm>
            <a:off x="822960" y="5193792"/>
            <a:ext cx="4838548" cy="685800"/>
          </a:xfrm>
          <a:prstGeom prst="rect">
            <a:avLst/>
          </a:prstGeom>
          <a:noFill/>
          <a:ln/>
        </p:spPr>
        <p:txBody>
          <a:bodyPr wrap="square" lIns="0" tIns="0" rIns="0" bIns="0" rtlCol="0" anchor="ctr"/>
          <a:lstStyle/>
          <a:p>
            <a:pPr indent="0" marL="0">
              <a:lnSpc>
                <a:spcPct val="112000"/>
              </a:lnSpc>
              <a:buNone/>
            </a:pPr>
            <a:r>
              <a:rPr lang="en-US" sz="970" dirty="0">
                <a:solidFill>
                  <a:srgbClr val="3A4553"/>
                </a:solidFill>
                <a:latin typeface="Calibri" pitchFamily="34" charset="0"/>
                <a:ea typeface="Calibri" pitchFamily="34" charset="-122"/>
                <a:cs typeface="Calibri" pitchFamily="34" charset="-120"/>
              </a:rPr>
              <a:t>Undercarriage &amp; idler castings — 5 running Komatsu part numbers, 3 more under RFQ</a:t>
            </a:r>
            <a:endParaRPr lang="en-US" sz="970" dirty="0"/>
          </a:p>
        </p:txBody>
      </p:sp>
      <p:sp>
        <p:nvSpPr>
          <p:cNvPr id="19" name="Shape 17"/>
          <p:cNvSpPr/>
          <p:nvPr/>
        </p:nvSpPr>
        <p:spPr>
          <a:xfrm>
            <a:off x="6255868" y="4023360"/>
            <a:ext cx="5387188" cy="1965960"/>
          </a:xfrm>
          <a:prstGeom prst="roundRect">
            <a:avLst>
              <a:gd name="adj" fmla="val 3721"/>
            </a:avLst>
          </a:prstGeom>
          <a:solidFill>
            <a:srgbClr val="F4F5F7"/>
          </a:solidFill>
          <a:ln/>
        </p:spPr>
      </p:sp>
      <p:sp>
        <p:nvSpPr>
          <p:cNvPr id="20" name="Shape 18"/>
          <p:cNvSpPr/>
          <p:nvPr/>
        </p:nvSpPr>
        <p:spPr>
          <a:xfrm>
            <a:off x="6255868" y="4023360"/>
            <a:ext cx="64008" cy="1965960"/>
          </a:xfrm>
          <a:prstGeom prst="rect">
            <a:avLst/>
          </a:prstGeom>
          <a:solidFill>
            <a:srgbClr val="6B7684"/>
          </a:solidFill>
          <a:ln/>
        </p:spPr>
      </p:sp>
      <p:sp>
        <p:nvSpPr>
          <p:cNvPr id="21" name="Text 19"/>
          <p:cNvSpPr/>
          <p:nvPr/>
        </p:nvSpPr>
        <p:spPr>
          <a:xfrm>
            <a:off x="6530188" y="4224528"/>
            <a:ext cx="4838548" cy="320040"/>
          </a:xfrm>
          <a:prstGeom prst="rect">
            <a:avLst/>
          </a:prstGeom>
          <a:noFill/>
          <a:ln/>
        </p:spPr>
        <p:txBody>
          <a:bodyPr wrap="square" lIns="0" tIns="0" rIns="0" bIns="0" rtlCol="0" anchor="ctr"/>
          <a:lstStyle/>
          <a:p>
            <a:pPr indent="0" marL="0">
              <a:buNone/>
            </a:pPr>
            <a:r>
              <a:rPr lang="en-US" sz="1500" b="1" dirty="0">
                <a:solidFill>
                  <a:srgbClr val="1C1F26"/>
                </a:solidFill>
                <a:latin typeface="Cambria" pitchFamily="34" charset="0"/>
                <a:ea typeface="Cambria" pitchFamily="34" charset="-122"/>
                <a:cs typeface="Cambria" pitchFamily="34" charset="-120"/>
              </a:rPr>
              <a:t>Steel Plants</a:t>
            </a:r>
            <a:endParaRPr lang="en-US" sz="1500" dirty="0"/>
          </a:p>
        </p:txBody>
      </p:sp>
      <p:sp>
        <p:nvSpPr>
          <p:cNvPr id="22" name="Text 20"/>
          <p:cNvSpPr/>
          <p:nvPr/>
        </p:nvSpPr>
        <p:spPr>
          <a:xfrm>
            <a:off x="6530188" y="4590288"/>
            <a:ext cx="4838548" cy="548640"/>
          </a:xfrm>
          <a:prstGeom prst="rect">
            <a:avLst/>
          </a:prstGeom>
          <a:noFill/>
          <a:ln/>
        </p:spPr>
        <p:txBody>
          <a:bodyPr wrap="square" lIns="0" tIns="0" rIns="0" bIns="0" rtlCol="0" anchor="ctr"/>
          <a:lstStyle/>
          <a:p>
            <a:pPr indent="0" marL="0">
              <a:lnSpc>
                <a:spcPct val="110000"/>
              </a:lnSpc>
              <a:buNone/>
            </a:pPr>
            <a:r>
              <a:rPr lang="en-US" sz="1000" b="1" dirty="0">
                <a:solidFill>
                  <a:srgbClr val="D9622B"/>
                </a:solidFill>
                <a:latin typeface="Calibri" pitchFamily="34" charset="0"/>
                <a:ea typeface="Calibri" pitchFamily="34" charset="-122"/>
                <a:cs typeface="Calibri" pitchFamily="34" charset="-120"/>
              </a:rPr>
              <a:t>Tata Metaliks · Electrosteel Casting · Tata Steel BSL · ESL Steel · SAIL IISCO · Neo Metaliks</a:t>
            </a:r>
            <a:endParaRPr lang="en-US" sz="1000" dirty="0"/>
          </a:p>
        </p:txBody>
      </p:sp>
      <p:sp>
        <p:nvSpPr>
          <p:cNvPr id="23" name="Text 21"/>
          <p:cNvSpPr/>
          <p:nvPr/>
        </p:nvSpPr>
        <p:spPr>
          <a:xfrm>
            <a:off x="6530188" y="5193792"/>
            <a:ext cx="4838548" cy="685800"/>
          </a:xfrm>
          <a:prstGeom prst="rect">
            <a:avLst/>
          </a:prstGeom>
          <a:noFill/>
          <a:ln/>
        </p:spPr>
        <p:txBody>
          <a:bodyPr wrap="square" lIns="0" tIns="0" rIns="0" bIns="0" rtlCol="0" anchor="ctr"/>
          <a:lstStyle/>
          <a:p>
            <a:pPr indent="0" marL="0">
              <a:lnSpc>
                <a:spcPct val="112000"/>
              </a:lnSpc>
              <a:buNone/>
            </a:pPr>
            <a:r>
              <a:rPr lang="en-US" sz="970" dirty="0">
                <a:solidFill>
                  <a:srgbClr val="3A4553"/>
                </a:solidFill>
                <a:latin typeface="Calibri" pitchFamily="34" charset="0"/>
                <a:ea typeface="Calibri" pitchFamily="34" charset="-122"/>
                <a:cs typeface="Calibri" pitchFamily="34" charset="-120"/>
              </a:rPr>
              <a:t>Pig moulds, chain links, annealing-furnace rollers/skids — legacy relationships, declining share of mix</a:t>
            </a:r>
            <a:endParaRPr lang="en-US" sz="970" dirty="0"/>
          </a:p>
        </p:txBody>
      </p:sp>
      <p:sp>
        <p:nvSpPr>
          <p:cNvPr id="24" name="Text 22"/>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25" name="Text 2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FACILITIES &amp; CAPACITY</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1C1F26"/>
                </a:solidFill>
                <a:latin typeface="Cambria" pitchFamily="34" charset="0"/>
                <a:ea typeface="Cambria" pitchFamily="34" charset="-122"/>
                <a:cs typeface="Cambria" pitchFamily="34" charset="-120"/>
              </a:rPr>
              <a:t>A modernized, semi-automated foundry — with real headroom</a:t>
            </a:r>
            <a:endParaRPr lang="en-US" sz="3000" dirty="0"/>
          </a:p>
        </p:txBody>
      </p:sp>
      <p:sp>
        <p:nvSpPr>
          <p:cNvPr id="4" name="Shape 2"/>
          <p:cNvSpPr/>
          <p:nvPr/>
        </p:nvSpPr>
        <p:spPr>
          <a:xfrm>
            <a:off x="548640" y="1783080"/>
            <a:ext cx="2567864" cy="1234440"/>
          </a:xfrm>
          <a:prstGeom prst="roundRect">
            <a:avLst>
              <a:gd name="adj" fmla="val 5926"/>
            </a:avLst>
          </a:prstGeom>
          <a:solidFill>
            <a:srgbClr val="F4F5F7"/>
          </a:solidFill>
          <a:ln/>
        </p:spPr>
      </p:sp>
      <p:sp>
        <p:nvSpPr>
          <p:cNvPr id="5" name="Text 3"/>
          <p:cNvSpPr/>
          <p:nvPr/>
        </p:nvSpPr>
        <p:spPr>
          <a:xfrm>
            <a:off x="685800" y="1920240"/>
            <a:ext cx="2293544" cy="457200"/>
          </a:xfrm>
          <a:prstGeom prst="rect">
            <a:avLst/>
          </a:prstGeom>
          <a:noFill/>
          <a:ln/>
        </p:spPr>
        <p:txBody>
          <a:bodyPr wrap="square" lIns="0" tIns="0" rIns="0" bIns="0" rtlCol="0" anchor="ctr"/>
          <a:lstStyle/>
          <a:p>
            <a:pPr indent="0" marL="0">
              <a:buNone/>
            </a:pPr>
            <a:r>
              <a:rPr lang="en-US" sz="1900" b="1" dirty="0">
                <a:solidFill>
                  <a:srgbClr val="D9622B"/>
                </a:solidFill>
                <a:latin typeface="Cambria" pitchFamily="34" charset="0"/>
                <a:ea typeface="Cambria" pitchFamily="34" charset="-122"/>
                <a:cs typeface="Cambria" pitchFamily="34" charset="-120"/>
              </a:rPr>
              <a:t>7,000 MT/yr</a:t>
            </a:r>
            <a:endParaRPr lang="en-US" sz="1900" dirty="0"/>
          </a:p>
        </p:txBody>
      </p:sp>
      <p:sp>
        <p:nvSpPr>
          <p:cNvPr id="6" name="Text 4"/>
          <p:cNvSpPr/>
          <p:nvPr/>
        </p:nvSpPr>
        <p:spPr>
          <a:xfrm>
            <a:off x="685800" y="2395728"/>
            <a:ext cx="2293544" cy="548640"/>
          </a:xfrm>
          <a:prstGeom prst="rect">
            <a:avLst/>
          </a:prstGeom>
          <a:noFill/>
          <a:ln/>
        </p:spPr>
        <p:txBody>
          <a:bodyPr wrap="square" lIns="0" tIns="0" rIns="0" bIns="0" rtlCol="0" anchor="ctr"/>
          <a:lstStyle/>
          <a:p>
            <a:pPr indent="0" marL="0">
              <a:lnSpc>
                <a:spcPct val="110000"/>
              </a:lnSpc>
              <a:buNone/>
            </a:pPr>
            <a:r>
              <a:rPr lang="en-US" sz="930" dirty="0">
                <a:solidFill>
                  <a:srgbClr val="3A4553"/>
                </a:solidFill>
                <a:latin typeface="Calibri" pitchFamily="34" charset="0"/>
                <a:ea typeface="Calibri" pitchFamily="34" charset="-122"/>
                <a:cs typeface="Calibri" pitchFamily="34" charset="-120"/>
              </a:rPr>
              <a:t>Installed capacity (valve-era rating)</a:t>
            </a:r>
            <a:endParaRPr lang="en-US" sz="930" dirty="0"/>
          </a:p>
        </p:txBody>
      </p:sp>
      <p:sp>
        <p:nvSpPr>
          <p:cNvPr id="7" name="Shape 5"/>
          <p:cNvSpPr/>
          <p:nvPr/>
        </p:nvSpPr>
        <p:spPr>
          <a:xfrm>
            <a:off x="3390824" y="1783080"/>
            <a:ext cx="2567864" cy="1234440"/>
          </a:xfrm>
          <a:prstGeom prst="roundRect">
            <a:avLst>
              <a:gd name="adj" fmla="val 5926"/>
            </a:avLst>
          </a:prstGeom>
          <a:solidFill>
            <a:srgbClr val="F4F5F7"/>
          </a:solidFill>
          <a:ln/>
        </p:spPr>
      </p:sp>
      <p:sp>
        <p:nvSpPr>
          <p:cNvPr id="8" name="Text 6"/>
          <p:cNvSpPr/>
          <p:nvPr/>
        </p:nvSpPr>
        <p:spPr>
          <a:xfrm>
            <a:off x="3527984" y="1920240"/>
            <a:ext cx="2293544" cy="457200"/>
          </a:xfrm>
          <a:prstGeom prst="rect">
            <a:avLst/>
          </a:prstGeom>
          <a:noFill/>
          <a:ln/>
        </p:spPr>
        <p:txBody>
          <a:bodyPr wrap="square" lIns="0" tIns="0" rIns="0" bIns="0" rtlCol="0" anchor="ctr"/>
          <a:lstStyle/>
          <a:p>
            <a:pPr indent="0" marL="0">
              <a:buNone/>
            </a:pPr>
            <a:r>
              <a:rPr lang="en-US" sz="1900" b="1" dirty="0">
                <a:solidFill>
                  <a:srgbClr val="D9622B"/>
                </a:solidFill>
                <a:latin typeface="Cambria" pitchFamily="34" charset="0"/>
                <a:ea typeface="Cambria" pitchFamily="34" charset="-122"/>
                <a:cs typeface="Cambria" pitchFamily="34" charset="-120"/>
              </a:rPr>
              <a:t>100-130 T/mo</a:t>
            </a:r>
            <a:endParaRPr lang="en-US" sz="1900" dirty="0"/>
          </a:p>
        </p:txBody>
      </p:sp>
      <p:sp>
        <p:nvSpPr>
          <p:cNvPr id="9" name="Text 7"/>
          <p:cNvSpPr/>
          <p:nvPr/>
        </p:nvSpPr>
        <p:spPr>
          <a:xfrm>
            <a:off x="3527984" y="2395728"/>
            <a:ext cx="2293544" cy="548640"/>
          </a:xfrm>
          <a:prstGeom prst="rect">
            <a:avLst/>
          </a:prstGeom>
          <a:noFill/>
          <a:ln/>
        </p:spPr>
        <p:txBody>
          <a:bodyPr wrap="square" lIns="0" tIns="0" rIns="0" bIns="0" rtlCol="0" anchor="ctr"/>
          <a:lstStyle/>
          <a:p>
            <a:pPr indent="0" marL="0">
              <a:lnSpc>
                <a:spcPct val="110000"/>
              </a:lnSpc>
              <a:buNone/>
            </a:pPr>
            <a:r>
              <a:rPr lang="en-US" sz="930" dirty="0">
                <a:solidFill>
                  <a:srgbClr val="3A4553"/>
                </a:solidFill>
                <a:latin typeface="Calibri" pitchFamily="34" charset="0"/>
                <a:ea typeface="Calibri" pitchFamily="34" charset="-122"/>
                <a:cs typeface="Calibri" pitchFamily="34" charset="-120"/>
              </a:rPr>
              <a:t>Realistic melting throughput at current mix</a:t>
            </a:r>
            <a:endParaRPr lang="en-US" sz="930" dirty="0"/>
          </a:p>
        </p:txBody>
      </p:sp>
      <p:sp>
        <p:nvSpPr>
          <p:cNvPr id="10" name="Shape 8"/>
          <p:cNvSpPr/>
          <p:nvPr/>
        </p:nvSpPr>
        <p:spPr>
          <a:xfrm>
            <a:off x="6233008" y="1783080"/>
            <a:ext cx="2567864" cy="1234440"/>
          </a:xfrm>
          <a:prstGeom prst="roundRect">
            <a:avLst>
              <a:gd name="adj" fmla="val 5926"/>
            </a:avLst>
          </a:prstGeom>
          <a:solidFill>
            <a:srgbClr val="F4F5F7"/>
          </a:solidFill>
          <a:ln/>
        </p:spPr>
      </p:sp>
      <p:sp>
        <p:nvSpPr>
          <p:cNvPr id="11" name="Text 9"/>
          <p:cNvSpPr/>
          <p:nvPr/>
        </p:nvSpPr>
        <p:spPr>
          <a:xfrm>
            <a:off x="6370168" y="1920240"/>
            <a:ext cx="2293544" cy="457200"/>
          </a:xfrm>
          <a:prstGeom prst="rect">
            <a:avLst/>
          </a:prstGeom>
          <a:noFill/>
          <a:ln/>
        </p:spPr>
        <p:txBody>
          <a:bodyPr wrap="square" lIns="0" tIns="0" rIns="0" bIns="0" rtlCol="0" anchor="ctr"/>
          <a:lstStyle/>
          <a:p>
            <a:pPr indent="0" marL="0">
              <a:buNone/>
            </a:pPr>
            <a:r>
              <a:rPr lang="en-US" sz="1900" b="1" dirty="0">
                <a:solidFill>
                  <a:srgbClr val="D9622B"/>
                </a:solidFill>
                <a:latin typeface="Cambria" pitchFamily="34" charset="0"/>
                <a:ea typeface="Cambria" pitchFamily="34" charset="-122"/>
                <a:cs typeface="Cambria" pitchFamily="34" charset="-120"/>
              </a:rPr>
              <a:t>60-85%</a:t>
            </a:r>
            <a:endParaRPr lang="en-US" sz="1900" dirty="0"/>
          </a:p>
        </p:txBody>
      </p:sp>
      <p:sp>
        <p:nvSpPr>
          <p:cNvPr id="12" name="Text 10"/>
          <p:cNvSpPr/>
          <p:nvPr/>
        </p:nvSpPr>
        <p:spPr>
          <a:xfrm>
            <a:off x="6370168" y="2395728"/>
            <a:ext cx="2293544" cy="548640"/>
          </a:xfrm>
          <a:prstGeom prst="rect">
            <a:avLst/>
          </a:prstGeom>
          <a:noFill/>
          <a:ln/>
        </p:spPr>
        <p:txBody>
          <a:bodyPr wrap="square" lIns="0" tIns="0" rIns="0" bIns="0" rtlCol="0" anchor="ctr"/>
          <a:lstStyle/>
          <a:p>
            <a:pPr indent="0" marL="0">
              <a:lnSpc>
                <a:spcPct val="110000"/>
              </a:lnSpc>
              <a:buNone/>
            </a:pPr>
            <a:r>
              <a:rPr lang="en-US" sz="930" dirty="0">
                <a:solidFill>
                  <a:srgbClr val="3A4553"/>
                </a:solidFill>
                <a:latin typeface="Calibri" pitchFamily="34" charset="0"/>
                <a:ea typeface="Calibri" pitchFamily="34" charset="-122"/>
                <a:cs typeface="Calibri" pitchFamily="34" charset="-120"/>
              </a:rPr>
              <a:t>Reported inconsistently across company materials, 2024-25</a:t>
            </a:r>
            <a:endParaRPr lang="en-US" sz="930" dirty="0"/>
          </a:p>
        </p:txBody>
      </p:sp>
      <p:sp>
        <p:nvSpPr>
          <p:cNvPr id="13" name="Shape 11"/>
          <p:cNvSpPr/>
          <p:nvPr/>
        </p:nvSpPr>
        <p:spPr>
          <a:xfrm>
            <a:off x="9075191" y="1783080"/>
            <a:ext cx="2567864" cy="1234440"/>
          </a:xfrm>
          <a:prstGeom prst="roundRect">
            <a:avLst>
              <a:gd name="adj" fmla="val 5926"/>
            </a:avLst>
          </a:prstGeom>
          <a:solidFill>
            <a:srgbClr val="F4F5F7"/>
          </a:solidFill>
          <a:ln/>
        </p:spPr>
      </p:sp>
      <p:sp>
        <p:nvSpPr>
          <p:cNvPr id="14" name="Text 12"/>
          <p:cNvSpPr/>
          <p:nvPr/>
        </p:nvSpPr>
        <p:spPr>
          <a:xfrm>
            <a:off x="9212351" y="1920240"/>
            <a:ext cx="2293544" cy="457200"/>
          </a:xfrm>
          <a:prstGeom prst="rect">
            <a:avLst/>
          </a:prstGeom>
          <a:noFill/>
          <a:ln/>
        </p:spPr>
        <p:txBody>
          <a:bodyPr wrap="square" lIns="0" tIns="0" rIns="0" bIns="0" rtlCol="0" anchor="ctr"/>
          <a:lstStyle/>
          <a:p>
            <a:pPr indent="0" marL="0">
              <a:buNone/>
            </a:pPr>
            <a:r>
              <a:rPr lang="en-US" sz="1900" b="1" dirty="0">
                <a:solidFill>
                  <a:srgbClr val="D9622B"/>
                </a:solidFill>
                <a:latin typeface="Cambria" pitchFamily="34" charset="0"/>
                <a:ea typeface="Cambria" pitchFamily="34" charset="-122"/>
                <a:cs typeface="Cambria" pitchFamily="34" charset="-120"/>
              </a:rPr>
              <a:t>15-23%</a:t>
            </a:r>
            <a:endParaRPr lang="en-US" sz="1900" dirty="0"/>
          </a:p>
        </p:txBody>
      </p:sp>
      <p:sp>
        <p:nvSpPr>
          <p:cNvPr id="15" name="Text 13"/>
          <p:cNvSpPr/>
          <p:nvPr/>
        </p:nvSpPr>
        <p:spPr>
          <a:xfrm>
            <a:off x="9212351" y="2395728"/>
            <a:ext cx="2293544" cy="548640"/>
          </a:xfrm>
          <a:prstGeom prst="rect">
            <a:avLst/>
          </a:prstGeom>
          <a:noFill/>
          <a:ln/>
        </p:spPr>
        <p:txBody>
          <a:bodyPr wrap="square" lIns="0" tIns="0" rIns="0" bIns="0" rtlCol="0" anchor="ctr"/>
          <a:lstStyle/>
          <a:p>
            <a:pPr indent="0" marL="0">
              <a:lnSpc>
                <a:spcPct val="110000"/>
              </a:lnSpc>
              <a:buNone/>
            </a:pPr>
            <a:r>
              <a:rPr lang="en-US" sz="930" dirty="0">
                <a:solidFill>
                  <a:srgbClr val="3A4553"/>
                </a:solidFill>
                <a:latin typeface="Calibri" pitchFamily="34" charset="0"/>
                <a:ea typeface="Calibri" pitchFamily="34" charset="-122"/>
                <a:cs typeface="Calibri" pitchFamily="34" charset="-120"/>
              </a:rPr>
              <a:t>Headroom to grow without further capex</a:t>
            </a:r>
            <a:endParaRPr lang="en-US" sz="930" dirty="0"/>
          </a:p>
        </p:txBody>
      </p:sp>
      <p:sp>
        <p:nvSpPr>
          <p:cNvPr id="16" name="Text 14"/>
          <p:cNvSpPr/>
          <p:nvPr/>
        </p:nvSpPr>
        <p:spPr>
          <a:xfrm>
            <a:off x="548640" y="3337560"/>
            <a:ext cx="5364328" cy="274320"/>
          </a:xfrm>
          <a:prstGeom prst="rect">
            <a:avLst/>
          </a:prstGeom>
          <a:noFill/>
          <a:ln/>
        </p:spPr>
        <p:txBody>
          <a:bodyPr wrap="square" lIns="0" tIns="0" rIns="0" bIns="0" rtlCol="0" anchor="ctr"/>
          <a:lstStyle/>
          <a:p>
            <a:pPr indent="0" marL="0">
              <a:buNone/>
            </a:pPr>
            <a:r>
              <a:rPr lang="en-US" sz="1000" b="1" spc="100" kern="0" dirty="0">
                <a:solidFill>
                  <a:srgbClr val="D9622B"/>
                </a:solidFill>
                <a:latin typeface="Calibri" pitchFamily="34" charset="0"/>
                <a:ea typeface="Calibri" pitchFamily="34" charset="-122"/>
                <a:cs typeface="Calibri" pitchFamily="34" charset="-120"/>
              </a:rPr>
              <a:t>PROCESS INFRASTRUCTURE</a:t>
            </a:r>
            <a:endParaRPr lang="en-US" sz="1000" dirty="0"/>
          </a:p>
        </p:txBody>
      </p:sp>
      <p:sp>
        <p:nvSpPr>
          <p:cNvPr id="17" name="Text 15"/>
          <p:cNvSpPr/>
          <p:nvPr/>
        </p:nvSpPr>
        <p:spPr>
          <a:xfrm>
            <a:off x="548640" y="3639312"/>
            <a:ext cx="5364328" cy="173736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1C1F26"/>
                </a:solidFill>
                <a:latin typeface="Calibri" pitchFamily="34" charset="0"/>
                <a:ea typeface="Calibri" pitchFamily="34" charset="-122"/>
                <a:cs typeface="Calibri" pitchFamily="34" charset="-120"/>
              </a:rPr>
              <a:t>ALFA-SET no-bake moulding system</a:t>
            </a:r>
            <a:endParaRPr lang="en-US" sz="1050" dirty="0"/>
          </a:p>
          <a:p>
            <a:pPr marL="342900" indent="-342900">
              <a:spcAft>
                <a:spcPts val="600"/>
              </a:spcAft>
              <a:buSzPct val="100000"/>
              <a:buChar char="•"/>
            </a:pPr>
            <a:r>
              <a:rPr lang="en-US" sz="1050" dirty="0">
                <a:solidFill>
                  <a:srgbClr val="1C1F26"/>
                </a:solidFill>
                <a:latin typeface="Calibri" pitchFamily="34" charset="0"/>
                <a:ea typeface="Calibri" pitchFamily="34" charset="-122"/>
                <a:cs typeface="Calibri" pitchFamily="34" charset="-120"/>
              </a:rPr>
              <a:t>Medium-frequency induction melting furnaces, up to 10-ton</a:t>
            </a:r>
            <a:endParaRPr lang="en-US" sz="1050" dirty="0"/>
          </a:p>
          <a:p>
            <a:pPr marL="342900" indent="-342900">
              <a:spcAft>
                <a:spcPts val="600"/>
              </a:spcAft>
              <a:buSzPct val="100000"/>
              <a:buChar char="•"/>
            </a:pPr>
            <a:r>
              <a:rPr lang="en-US" sz="1050" dirty="0">
                <a:solidFill>
                  <a:srgbClr val="1C1F26"/>
                </a:solidFill>
                <a:latin typeface="Calibri" pitchFamily="34" charset="0"/>
                <a:ea typeface="Calibri" pitchFamily="34" charset="-122"/>
                <a:cs typeface="Calibri" pitchFamily="34" charset="-120"/>
              </a:rPr>
              <a:t>Auto-controlled heat treatment: water &amp; air quenching</a:t>
            </a:r>
            <a:endParaRPr lang="en-US" sz="1050" dirty="0"/>
          </a:p>
          <a:p>
            <a:pPr marL="342900" indent="-342900">
              <a:spcAft>
                <a:spcPts val="600"/>
              </a:spcAft>
              <a:buSzPct val="100000"/>
              <a:buChar char="•"/>
            </a:pPr>
            <a:r>
              <a:rPr lang="en-US" sz="1050" dirty="0">
                <a:solidFill>
                  <a:srgbClr val="1C1F26"/>
                </a:solidFill>
                <a:latin typeface="Calibri" pitchFamily="34" charset="0"/>
                <a:ea typeface="Calibri" pitchFamily="34" charset="-122"/>
                <a:cs typeface="Calibri" pitchFamily="34" charset="-120"/>
              </a:rPr>
              <a:t>Fettling &amp; shot-blasting lines</a:t>
            </a:r>
            <a:endParaRPr lang="en-US" sz="1050" dirty="0"/>
          </a:p>
          <a:p>
            <a:pPr marL="342900" indent="-342900">
              <a:spcAft>
                <a:spcPts val="600"/>
              </a:spcAft>
              <a:buSzPct val="100000"/>
              <a:buChar char="•"/>
            </a:pPr>
            <a:r>
              <a:rPr lang="en-US" sz="1050" dirty="0">
                <a:solidFill>
                  <a:srgbClr val="1C1F26"/>
                </a:solidFill>
                <a:latin typeface="Calibri" pitchFamily="34" charset="0"/>
                <a:ea typeface="Calibri" pitchFamily="34" charset="-122"/>
                <a:cs typeface="Calibri" pitchFamily="34" charset="-120"/>
              </a:rPr>
              <a:t>Pattern &amp; methoding shop</a:t>
            </a:r>
            <a:endParaRPr lang="en-US" sz="1050" dirty="0"/>
          </a:p>
        </p:txBody>
      </p:sp>
      <p:sp>
        <p:nvSpPr>
          <p:cNvPr id="18" name="Text 16"/>
          <p:cNvSpPr/>
          <p:nvPr/>
        </p:nvSpPr>
        <p:spPr>
          <a:xfrm>
            <a:off x="6278728" y="3337560"/>
            <a:ext cx="5364328" cy="274320"/>
          </a:xfrm>
          <a:prstGeom prst="rect">
            <a:avLst/>
          </a:prstGeom>
          <a:noFill/>
          <a:ln/>
        </p:spPr>
        <p:txBody>
          <a:bodyPr wrap="square" lIns="0" tIns="0" rIns="0" bIns="0" rtlCol="0" anchor="ctr"/>
          <a:lstStyle/>
          <a:p>
            <a:pPr indent="0" marL="0">
              <a:buNone/>
            </a:pPr>
            <a:r>
              <a:rPr lang="en-US" sz="1000" b="1" spc="100" kern="0" dirty="0">
                <a:solidFill>
                  <a:srgbClr val="D9622B"/>
                </a:solidFill>
                <a:latin typeface="Calibri" pitchFamily="34" charset="0"/>
                <a:ea typeface="Calibri" pitchFamily="34" charset="-122"/>
                <a:cs typeface="Calibri" pitchFamily="34" charset="-120"/>
              </a:rPr>
              <a:t>QUALITY &amp; TESTING LAB</a:t>
            </a:r>
            <a:endParaRPr lang="en-US" sz="1000" dirty="0"/>
          </a:p>
        </p:txBody>
      </p:sp>
      <p:sp>
        <p:nvSpPr>
          <p:cNvPr id="19" name="Text 17"/>
          <p:cNvSpPr/>
          <p:nvPr/>
        </p:nvSpPr>
        <p:spPr>
          <a:xfrm>
            <a:off x="6278728" y="3639312"/>
            <a:ext cx="5364328" cy="192024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1C1F26"/>
                </a:solidFill>
                <a:latin typeface="Calibri" pitchFamily="34" charset="0"/>
                <a:ea typeface="Calibri" pitchFamily="34" charset="-122"/>
                <a:cs typeface="Calibri" pitchFamily="34" charset="-120"/>
              </a:rPr>
              <a:t>14-element spectrometer</a:t>
            </a:r>
            <a:endParaRPr lang="en-US" sz="1050" dirty="0"/>
          </a:p>
          <a:p>
            <a:pPr marL="342900" indent="-342900">
              <a:spcAft>
                <a:spcPts val="600"/>
              </a:spcAft>
              <a:buSzPct val="100000"/>
              <a:buChar char="•"/>
            </a:pPr>
            <a:r>
              <a:rPr lang="en-US" sz="1050" dirty="0">
                <a:solidFill>
                  <a:srgbClr val="1C1F26"/>
                </a:solidFill>
                <a:latin typeface="Calibri" pitchFamily="34" charset="0"/>
                <a:ea typeface="Calibri" pitchFamily="34" charset="-122"/>
                <a:cs typeface="Calibri" pitchFamily="34" charset="-120"/>
              </a:rPr>
              <a:t>Brinell / Rockwell / digital hardness testers</a:t>
            </a:r>
            <a:endParaRPr lang="en-US" sz="1050" dirty="0"/>
          </a:p>
          <a:p>
            <a:pPr marL="342900" indent="-342900">
              <a:spcAft>
                <a:spcPts val="600"/>
              </a:spcAft>
              <a:buSzPct val="100000"/>
              <a:buChar char="•"/>
            </a:pPr>
            <a:r>
              <a:rPr lang="en-US" sz="1050" dirty="0">
                <a:solidFill>
                  <a:srgbClr val="1C1F26"/>
                </a:solidFill>
                <a:latin typeface="Calibri" pitchFamily="34" charset="0"/>
                <a:ea typeface="Calibri" pitchFamily="34" charset="-122"/>
                <a:cs typeface="Calibri" pitchFamily="34" charset="-120"/>
              </a:rPr>
              <a:t>Ultrasonic &amp; radiography (RT) testing</a:t>
            </a:r>
            <a:endParaRPr lang="en-US" sz="1050" dirty="0"/>
          </a:p>
          <a:p>
            <a:pPr marL="342900" indent="-342900">
              <a:spcAft>
                <a:spcPts val="600"/>
              </a:spcAft>
              <a:buSzPct val="100000"/>
              <a:buChar char="•"/>
            </a:pPr>
            <a:r>
              <a:rPr lang="en-US" sz="1050" dirty="0">
                <a:solidFill>
                  <a:srgbClr val="1C1F26"/>
                </a:solidFill>
                <a:latin typeface="Calibri" pitchFamily="34" charset="0"/>
                <a:ea typeface="Calibri" pitchFamily="34" charset="-122"/>
                <a:cs typeface="Calibri" pitchFamily="34" charset="-120"/>
              </a:rPr>
              <a:t>Magnetic particle crack detection</a:t>
            </a:r>
            <a:endParaRPr lang="en-US" sz="1050" dirty="0"/>
          </a:p>
          <a:p>
            <a:pPr marL="342900" indent="-342900">
              <a:spcAft>
                <a:spcPts val="600"/>
              </a:spcAft>
              <a:buSzPct val="100000"/>
              <a:buChar char="•"/>
            </a:pPr>
            <a:r>
              <a:rPr lang="en-US" sz="1050" dirty="0">
                <a:solidFill>
                  <a:srgbClr val="1C1F26"/>
                </a:solidFill>
                <a:latin typeface="Calibri" pitchFamily="34" charset="0"/>
                <a:ea typeface="Calibri" pitchFamily="34" charset="-122"/>
                <a:cs typeface="Calibri" pitchFamily="34" charset="-120"/>
              </a:rPr>
              <a:t>Microstructure analysis, 50x-1500x</a:t>
            </a:r>
            <a:endParaRPr lang="en-US" sz="1050" dirty="0"/>
          </a:p>
          <a:p>
            <a:pPr marL="342900" indent="-342900">
              <a:spcAft>
                <a:spcPts val="600"/>
              </a:spcAft>
              <a:buSzPct val="100000"/>
              <a:buChar char="•"/>
            </a:pPr>
            <a:r>
              <a:rPr lang="en-US" sz="1050" dirty="0">
                <a:solidFill>
                  <a:srgbClr val="1C1F26"/>
                </a:solidFill>
                <a:latin typeface="Calibri" pitchFamily="34" charset="0"/>
                <a:ea typeface="Calibri" pitchFamily="34" charset="-122"/>
                <a:cs typeface="Calibri" pitchFamily="34" charset="-120"/>
              </a:rPr>
              <a:t>Full sand-testing lab (new &amp; process sand)</a:t>
            </a:r>
            <a:endParaRPr lang="en-US" sz="1050" dirty="0"/>
          </a:p>
        </p:txBody>
      </p:sp>
      <p:sp>
        <p:nvSpPr>
          <p:cNvPr id="20" name="Shape 18"/>
          <p:cNvSpPr/>
          <p:nvPr/>
        </p:nvSpPr>
        <p:spPr>
          <a:xfrm>
            <a:off x="548640" y="5532120"/>
            <a:ext cx="11094415" cy="594360"/>
          </a:xfrm>
          <a:prstGeom prst="roundRect">
            <a:avLst>
              <a:gd name="adj" fmla="val 9231"/>
            </a:avLst>
          </a:prstGeom>
          <a:solidFill>
            <a:srgbClr val="FBEEEC"/>
          </a:solidFill>
          <a:ln/>
        </p:spPr>
      </p:sp>
      <p:sp>
        <p:nvSpPr>
          <p:cNvPr id="21" name="Text 19"/>
          <p:cNvSpPr/>
          <p:nvPr/>
        </p:nvSpPr>
        <p:spPr>
          <a:xfrm>
            <a:off x="777240" y="5532120"/>
            <a:ext cx="10637215" cy="594360"/>
          </a:xfrm>
          <a:prstGeom prst="rect">
            <a:avLst/>
          </a:prstGeom>
          <a:noFill/>
          <a:ln/>
        </p:spPr>
        <p:txBody>
          <a:bodyPr wrap="square" lIns="0" tIns="0" rIns="0" bIns="0" rtlCol="0" anchor="ctr"/>
          <a:lstStyle/>
          <a:p>
            <a:pPr indent="0" marL="0">
              <a:buNone/>
            </a:pPr>
            <a:r>
              <a:rPr lang="en-US" sz="1000" i="1" dirty="0">
                <a:solidFill>
                  <a:srgbClr val="B8453F"/>
                </a:solidFill>
                <a:latin typeface="Calibri" pitchFamily="34" charset="0"/>
                <a:ea typeface="Calibri" pitchFamily="34" charset="-122"/>
                <a:cs typeface="Calibri" pitchFamily="34" charset="-120"/>
              </a:rPr>
              <a:t>Caveat: this infrastructure has not prevented rejection rates from climbing to 10%+ in the most recent quarter — see slide 19.</a:t>
            </a:r>
            <a:endParaRPr lang="en-US" sz="1000" dirty="0"/>
          </a:p>
        </p:txBody>
      </p:sp>
      <p:sp>
        <p:nvSpPr>
          <p:cNvPr id="22" name="Text 20"/>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23" name="Text 21"/>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1F26"/>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THE MOAT, RESTATED</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Built on a 1990s plant — the moat is getting more out of it every year</a:t>
            </a:r>
            <a:endParaRPr lang="en-US" sz="3000" dirty="0"/>
          </a:p>
        </p:txBody>
      </p:sp>
      <p:graphicFrame>
        <p:nvGraphicFramePr>
          <p:cNvPr id="4" name="Chart 0" descr=""/>
          <p:cNvGraphicFramePr/>
          <p:nvPr/>
        </p:nvGraphicFramePr>
        <p:xfrm>
          <a:off x="548640" y="1737360"/>
          <a:ext cx="6309360" cy="3063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48640" y="4892040"/>
            <a:ext cx="6309360" cy="548640"/>
          </a:xfrm>
          <a:prstGeom prst="rect">
            <a:avLst/>
          </a:prstGeom>
          <a:noFill/>
          <a:ln/>
        </p:spPr>
        <p:txBody>
          <a:bodyPr wrap="square" lIns="0" tIns="0" rIns="0" bIns="0" rtlCol="0" anchor="ctr"/>
          <a:lstStyle/>
          <a:p>
            <a:pPr indent="0" marL="0">
              <a:lnSpc>
                <a:spcPct val="115000"/>
              </a:lnSpc>
              <a:buNone/>
            </a:pPr>
            <a:r>
              <a:rPr lang="en-US" sz="900" i="1" dirty="0">
                <a:solidFill>
                  <a:srgbClr val="9AA2AD"/>
                </a:solidFill>
                <a:latin typeface="Calibri" pitchFamily="34" charset="0"/>
                <a:ea typeface="Calibri" pitchFamily="34" charset="-122"/>
                <a:cs typeface="Calibri" pitchFamily="34" charset="-120"/>
              </a:rPr>
              <a:t>Same 7,000 MT/yr installed rating throughout — no expansion, no new plant. Figures are approximate and drawn from company materials of varying dates and methodology; read the shape, not the decimal.</a:t>
            </a:r>
            <a:endParaRPr lang="en-US" sz="900" dirty="0"/>
          </a:p>
        </p:txBody>
      </p:sp>
      <p:sp>
        <p:nvSpPr>
          <p:cNvPr id="6" name="Text 3"/>
          <p:cNvSpPr/>
          <p:nvPr/>
        </p:nvSpPr>
        <p:spPr>
          <a:xfrm>
            <a:off x="7132320" y="1737360"/>
            <a:ext cx="4510735" cy="384048"/>
          </a:xfrm>
          <a:prstGeom prst="rect">
            <a:avLst/>
          </a:prstGeom>
          <a:noFill/>
          <a:ln/>
        </p:spPr>
        <p:txBody>
          <a:bodyPr wrap="square" lIns="0" tIns="0" rIns="0" bIns="0" rtlCol="0" anchor="ctr"/>
          <a:lstStyle/>
          <a:p>
            <a:pPr indent="0" marL="0">
              <a:buNone/>
            </a:pPr>
            <a:r>
              <a:rPr lang="en-US" sz="2000" b="1" dirty="0">
                <a:solidFill>
                  <a:srgbClr val="E8B84B"/>
                </a:solidFill>
                <a:latin typeface="Cambria" pitchFamily="34" charset="0"/>
                <a:ea typeface="Cambria" pitchFamily="34" charset="-122"/>
                <a:cs typeface="Cambria" pitchFamily="34" charset="-120"/>
              </a:rPr>
              <a:t>3.1x</a:t>
            </a:r>
            <a:endParaRPr lang="en-US" sz="2000" dirty="0"/>
          </a:p>
        </p:txBody>
      </p:sp>
      <p:sp>
        <p:nvSpPr>
          <p:cNvPr id="7" name="Text 4"/>
          <p:cNvSpPr/>
          <p:nvPr/>
        </p:nvSpPr>
        <p:spPr>
          <a:xfrm>
            <a:off x="7132320" y="2121408"/>
            <a:ext cx="4510735" cy="502920"/>
          </a:xfrm>
          <a:prstGeom prst="rect">
            <a:avLst/>
          </a:prstGeom>
          <a:noFill/>
          <a:ln/>
        </p:spPr>
        <p:txBody>
          <a:bodyPr wrap="square" lIns="0" tIns="0" rIns="0" bIns="0" rtlCol="0" anchor="ctr"/>
          <a:lstStyle/>
          <a:p>
            <a:pPr indent="0" marL="0">
              <a:lnSpc>
                <a:spcPct val="110000"/>
              </a:lnSpc>
              <a:buNone/>
            </a:pPr>
            <a:r>
              <a:rPr lang="en-US" sz="930" dirty="0">
                <a:solidFill>
                  <a:srgbClr val="CBD3DC"/>
                </a:solidFill>
                <a:latin typeface="Calibri" pitchFamily="34" charset="0"/>
                <a:ea typeface="Calibri" pitchFamily="34" charset="-122"/>
                <a:cs typeface="Calibri" pitchFamily="34" charset="-120"/>
              </a:rPr>
              <a:t>Revenue growth, FY21 to FY25-26 — on the same installed capacity</a:t>
            </a:r>
            <a:endParaRPr lang="en-US" sz="930" dirty="0"/>
          </a:p>
        </p:txBody>
      </p:sp>
      <p:sp>
        <p:nvSpPr>
          <p:cNvPr id="8" name="Text 5"/>
          <p:cNvSpPr/>
          <p:nvPr/>
        </p:nvSpPr>
        <p:spPr>
          <a:xfrm>
            <a:off x="7132320" y="2651760"/>
            <a:ext cx="4510735" cy="384048"/>
          </a:xfrm>
          <a:prstGeom prst="rect">
            <a:avLst/>
          </a:prstGeom>
          <a:noFill/>
          <a:ln/>
        </p:spPr>
        <p:txBody>
          <a:bodyPr wrap="square" lIns="0" tIns="0" rIns="0" bIns="0" rtlCol="0" anchor="ctr"/>
          <a:lstStyle/>
          <a:p>
            <a:pPr indent="0" marL="0">
              <a:buNone/>
            </a:pPr>
            <a:r>
              <a:rPr lang="en-US" sz="2000" b="1" dirty="0">
                <a:solidFill>
                  <a:srgbClr val="E8B84B"/>
                </a:solidFill>
                <a:latin typeface="Cambria" pitchFamily="34" charset="0"/>
                <a:ea typeface="Cambria" pitchFamily="34" charset="-122"/>
                <a:cs typeface="Cambria" pitchFamily="34" charset="-120"/>
              </a:rPr>
              <a:t>+7%</a:t>
            </a:r>
            <a:endParaRPr lang="en-US" sz="2000" dirty="0"/>
          </a:p>
        </p:txBody>
      </p:sp>
      <p:sp>
        <p:nvSpPr>
          <p:cNvPr id="9" name="Text 6"/>
          <p:cNvSpPr/>
          <p:nvPr/>
        </p:nvSpPr>
        <p:spPr>
          <a:xfrm>
            <a:off x="7132320" y="3035808"/>
            <a:ext cx="4510735" cy="502920"/>
          </a:xfrm>
          <a:prstGeom prst="rect">
            <a:avLst/>
          </a:prstGeom>
          <a:noFill/>
          <a:ln/>
        </p:spPr>
        <p:txBody>
          <a:bodyPr wrap="square" lIns="0" tIns="0" rIns="0" bIns="0" rtlCol="0" anchor="ctr"/>
          <a:lstStyle/>
          <a:p>
            <a:pPr indent="0" marL="0">
              <a:lnSpc>
                <a:spcPct val="110000"/>
              </a:lnSpc>
              <a:buNone/>
            </a:pPr>
            <a:r>
              <a:rPr lang="en-US" sz="930" dirty="0">
                <a:solidFill>
                  <a:srgbClr val="CBD3DC"/>
                </a:solidFill>
                <a:latin typeface="Calibri" pitchFamily="34" charset="0"/>
                <a:ea typeface="Calibri" pitchFamily="34" charset="-122"/>
                <a:cs typeface="Calibri" pitchFamily="34" charset="-120"/>
              </a:rPr>
              <a:t>Realization per MT, FY23-24 to FY25-26 — more value from the same tonnage</a:t>
            </a:r>
            <a:endParaRPr lang="en-US" sz="930" dirty="0"/>
          </a:p>
        </p:txBody>
      </p:sp>
      <p:sp>
        <p:nvSpPr>
          <p:cNvPr id="10" name="Text 7"/>
          <p:cNvSpPr/>
          <p:nvPr/>
        </p:nvSpPr>
        <p:spPr>
          <a:xfrm>
            <a:off x="7132320" y="3566160"/>
            <a:ext cx="4510735" cy="384048"/>
          </a:xfrm>
          <a:prstGeom prst="rect">
            <a:avLst/>
          </a:prstGeom>
          <a:noFill/>
          <a:ln/>
        </p:spPr>
        <p:txBody>
          <a:bodyPr wrap="square" lIns="0" tIns="0" rIns="0" bIns="0" rtlCol="0" anchor="ctr"/>
          <a:lstStyle/>
          <a:p>
            <a:pPr indent="0" marL="0">
              <a:buNone/>
            </a:pPr>
            <a:r>
              <a:rPr lang="en-US" sz="2000" b="1" dirty="0">
                <a:solidFill>
                  <a:srgbClr val="E8B84B"/>
                </a:solidFill>
                <a:latin typeface="Cambria" pitchFamily="34" charset="0"/>
                <a:ea typeface="Cambria" pitchFamily="34" charset="-122"/>
                <a:cs typeface="Cambria" pitchFamily="34" charset="-120"/>
              </a:rPr>
              <a:t>15%</a:t>
            </a:r>
            <a:endParaRPr lang="en-US" sz="2000" dirty="0"/>
          </a:p>
        </p:txBody>
      </p:sp>
      <p:sp>
        <p:nvSpPr>
          <p:cNvPr id="11" name="Text 8"/>
          <p:cNvSpPr/>
          <p:nvPr/>
        </p:nvSpPr>
        <p:spPr>
          <a:xfrm>
            <a:off x="7132320" y="3950208"/>
            <a:ext cx="4510735" cy="502920"/>
          </a:xfrm>
          <a:prstGeom prst="rect">
            <a:avLst/>
          </a:prstGeom>
          <a:noFill/>
          <a:ln/>
        </p:spPr>
        <p:txBody>
          <a:bodyPr wrap="square" lIns="0" tIns="0" rIns="0" bIns="0" rtlCol="0" anchor="ctr"/>
          <a:lstStyle/>
          <a:p>
            <a:pPr indent="0" marL="0">
              <a:lnSpc>
                <a:spcPct val="110000"/>
              </a:lnSpc>
              <a:buNone/>
            </a:pPr>
            <a:r>
              <a:rPr lang="en-US" sz="930" dirty="0">
                <a:solidFill>
                  <a:srgbClr val="CBD3DC"/>
                </a:solidFill>
                <a:latin typeface="Calibri" pitchFamily="34" charset="0"/>
                <a:ea typeface="Calibri" pitchFamily="34" charset="-122"/>
                <a:cs typeface="Calibri" pitchFamily="34" charset="-120"/>
              </a:rPr>
              <a:t>Fixed costs as % of turnover, FY26 (proj.) — a 5-year low, down from 25.7% in FY22</a:t>
            </a:r>
            <a:endParaRPr lang="en-US" sz="930" dirty="0"/>
          </a:p>
        </p:txBody>
      </p:sp>
      <p:sp>
        <p:nvSpPr>
          <p:cNvPr id="12" name="Text 9"/>
          <p:cNvSpPr/>
          <p:nvPr/>
        </p:nvSpPr>
        <p:spPr>
          <a:xfrm>
            <a:off x="7132320" y="4480560"/>
            <a:ext cx="4510735" cy="384048"/>
          </a:xfrm>
          <a:prstGeom prst="rect">
            <a:avLst/>
          </a:prstGeom>
          <a:noFill/>
          <a:ln/>
        </p:spPr>
        <p:txBody>
          <a:bodyPr wrap="square" lIns="0" tIns="0" rIns="0" bIns="0" rtlCol="0" anchor="ctr"/>
          <a:lstStyle/>
          <a:p>
            <a:pPr indent="0" marL="0">
              <a:buNone/>
            </a:pPr>
            <a:r>
              <a:rPr lang="en-US" sz="2000" b="1" dirty="0">
                <a:solidFill>
                  <a:srgbClr val="E8B84B"/>
                </a:solidFill>
                <a:latin typeface="Cambria" pitchFamily="34" charset="0"/>
                <a:ea typeface="Cambria" pitchFamily="34" charset="-122"/>
                <a:cs typeface="Cambria" pitchFamily="34" charset="-120"/>
              </a:rPr>
              <a:t>100%</a:t>
            </a:r>
            <a:endParaRPr lang="en-US" sz="2000" dirty="0"/>
          </a:p>
        </p:txBody>
      </p:sp>
      <p:sp>
        <p:nvSpPr>
          <p:cNvPr id="13" name="Text 10"/>
          <p:cNvSpPr/>
          <p:nvPr/>
        </p:nvSpPr>
        <p:spPr>
          <a:xfrm>
            <a:off x="7132320" y="4864608"/>
            <a:ext cx="4510735" cy="502920"/>
          </a:xfrm>
          <a:prstGeom prst="rect">
            <a:avLst/>
          </a:prstGeom>
          <a:noFill/>
          <a:ln/>
        </p:spPr>
        <p:txBody>
          <a:bodyPr wrap="square" lIns="0" tIns="0" rIns="0" bIns="0" rtlCol="0" anchor="ctr"/>
          <a:lstStyle/>
          <a:p>
            <a:pPr indent="0" marL="0">
              <a:lnSpc>
                <a:spcPct val="110000"/>
              </a:lnSpc>
              <a:buNone/>
            </a:pPr>
            <a:r>
              <a:rPr lang="en-US" sz="930" dirty="0">
                <a:solidFill>
                  <a:srgbClr val="CBD3DC"/>
                </a:solidFill>
                <a:latin typeface="Calibri" pitchFamily="34" charset="0"/>
                <a:ea typeface="Calibri" pitchFamily="34" charset="-122"/>
                <a:cs typeface="Calibri" pitchFamily="34" charset="-120"/>
              </a:rPr>
              <a:t>In-house maintenance of 1990s-vintage imported European machinery — no OEM dependency</a:t>
            </a:r>
            <a:endParaRPr lang="en-US" sz="930" dirty="0"/>
          </a:p>
        </p:txBody>
      </p:sp>
      <p:sp>
        <p:nvSpPr>
          <p:cNvPr id="14" name="Shape 11"/>
          <p:cNvSpPr/>
          <p:nvPr/>
        </p:nvSpPr>
        <p:spPr>
          <a:xfrm>
            <a:off x="548640" y="5577840"/>
            <a:ext cx="11094415" cy="868680"/>
          </a:xfrm>
          <a:prstGeom prst="roundRect">
            <a:avLst>
              <a:gd name="adj" fmla="val 8421"/>
            </a:avLst>
          </a:prstGeom>
          <a:solidFill>
            <a:srgbClr val="262B34"/>
          </a:solidFill>
          <a:ln/>
        </p:spPr>
      </p:sp>
      <p:sp>
        <p:nvSpPr>
          <p:cNvPr id="15" name="Text 12"/>
          <p:cNvSpPr/>
          <p:nvPr/>
        </p:nvSpPr>
        <p:spPr>
          <a:xfrm>
            <a:off x="777240" y="5577840"/>
            <a:ext cx="10637215" cy="868680"/>
          </a:xfrm>
          <a:prstGeom prst="rect">
            <a:avLst/>
          </a:prstGeom>
          <a:noFill/>
          <a:ln/>
        </p:spPr>
        <p:txBody>
          <a:bodyPr wrap="square" lIns="0" tIns="0" rIns="0" bIns="0" rtlCol="0" anchor="ctr"/>
          <a:lstStyle/>
          <a:p>
            <a:pPr indent="0" marL="0">
              <a:lnSpc>
                <a:spcPct val="112000"/>
              </a:lnSpc>
              <a:buNone/>
            </a:pPr>
            <a:r>
              <a:rPr lang="en-US" sz="970" dirty="0">
                <a:solidFill>
                  <a:srgbClr val="FFFFFF"/>
                </a:solidFill>
                <a:latin typeface="Calibri" pitchFamily="34" charset="0"/>
                <a:ea typeface="Calibri" pitchFamily="34" charset="-122"/>
                <a:cs typeface="Calibri" pitchFamily="34" charset="-120"/>
              </a:rPr>
              <a:t>Why this is harder to copy than it looks: a well-funded competitor can order new furnaces tomorrow. What it cannot buy is 25+ years of knowing exactly how these specific, aging machines fail. "Low capex" doesn't mean zero — FY26 carries a planned ₹85.66L program (capacity + technology upgrades) — but it's modest, targeted spend, not a new factory.</a:t>
            </a:r>
            <a:endParaRPr lang="en-US" sz="970" dirty="0"/>
          </a:p>
        </p:txBody>
      </p:sp>
      <p:sp>
        <p:nvSpPr>
          <p:cNvPr id="16" name="Text 13"/>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8B93A0"/>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17" name="Text 1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8B93A0"/>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FINANCIAL PERFORMANCE</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1C1F26"/>
                </a:solidFill>
                <a:latin typeface="Cambria" pitchFamily="34" charset="0"/>
                <a:ea typeface="Cambria" pitchFamily="34" charset="-122"/>
                <a:cs typeface="Cambria" pitchFamily="34" charset="-120"/>
              </a:rPr>
              <a:t>Six audited years: from going-concern risk to profit</a:t>
            </a:r>
            <a:endParaRPr lang="en-US" sz="3000" dirty="0"/>
          </a:p>
        </p:txBody>
      </p:sp>
      <p:graphicFrame>
        <p:nvGraphicFramePr>
          <p:cNvPr id="4" name="Chart 0" descr=""/>
          <p:cNvGraphicFramePr/>
          <p:nvPr/>
        </p:nvGraphicFramePr>
        <p:xfrm>
          <a:off x="548640" y="1737360"/>
          <a:ext cx="7223760" cy="4160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955280" y="1783080"/>
            <a:ext cx="3687775" cy="274320"/>
          </a:xfrm>
          <a:prstGeom prst="rect">
            <a:avLst/>
          </a:prstGeom>
          <a:noFill/>
          <a:ln/>
        </p:spPr>
        <p:txBody>
          <a:bodyPr wrap="square" lIns="0" tIns="0" rIns="0" bIns="0" rtlCol="0" anchor="ctr"/>
          <a:lstStyle/>
          <a:p>
            <a:pPr indent="0" marL="0">
              <a:buNone/>
            </a:pPr>
            <a:r>
              <a:rPr lang="en-US" sz="1050" b="1" dirty="0">
                <a:solidFill>
                  <a:srgbClr val="D9622B"/>
                </a:solidFill>
                <a:latin typeface="Calibri" pitchFamily="34" charset="0"/>
                <a:ea typeface="Calibri" pitchFamily="34" charset="-122"/>
                <a:cs typeface="Calibri" pitchFamily="34" charset="-120"/>
              </a:rPr>
              <a:t>FY21</a:t>
            </a:r>
            <a:endParaRPr lang="en-US" sz="1050" dirty="0"/>
          </a:p>
        </p:txBody>
      </p:sp>
      <p:sp>
        <p:nvSpPr>
          <p:cNvPr id="6" name="Text 3"/>
          <p:cNvSpPr/>
          <p:nvPr/>
        </p:nvSpPr>
        <p:spPr>
          <a:xfrm>
            <a:off x="7955280" y="2039112"/>
            <a:ext cx="3687775" cy="914400"/>
          </a:xfrm>
          <a:prstGeom prst="rect">
            <a:avLst/>
          </a:prstGeom>
          <a:noFill/>
          <a:ln/>
        </p:spPr>
        <p:txBody>
          <a:bodyPr wrap="square" lIns="0" tIns="0" rIns="0" bIns="0" rtlCol="0" anchor="ctr"/>
          <a:lstStyle/>
          <a:p>
            <a:pPr indent="0" marL="0">
              <a:lnSpc>
                <a:spcPct val="115000"/>
              </a:lnSpc>
              <a:buNone/>
            </a:pPr>
            <a:r>
              <a:rPr lang="en-US" sz="970" dirty="0">
                <a:solidFill>
                  <a:srgbClr val="3A4553"/>
                </a:solidFill>
                <a:latin typeface="Calibri" pitchFamily="34" charset="0"/>
                <a:ea typeface="Calibri" pitchFamily="34" charset="-122"/>
                <a:cs typeface="Calibri" pitchFamily="34" charset="-120"/>
              </a:rPr>
              <a:t>Covid trough. Auditors flagged “material uncertainty related to going concern.”</a:t>
            </a:r>
            <a:endParaRPr lang="en-US" sz="970" dirty="0"/>
          </a:p>
        </p:txBody>
      </p:sp>
      <p:sp>
        <p:nvSpPr>
          <p:cNvPr id="7" name="Text 4"/>
          <p:cNvSpPr/>
          <p:nvPr/>
        </p:nvSpPr>
        <p:spPr>
          <a:xfrm>
            <a:off x="7955280" y="3081528"/>
            <a:ext cx="3687775" cy="274320"/>
          </a:xfrm>
          <a:prstGeom prst="rect">
            <a:avLst/>
          </a:prstGeom>
          <a:noFill/>
          <a:ln/>
        </p:spPr>
        <p:txBody>
          <a:bodyPr wrap="square" lIns="0" tIns="0" rIns="0" bIns="0" rtlCol="0" anchor="ctr"/>
          <a:lstStyle/>
          <a:p>
            <a:pPr indent="0" marL="0">
              <a:buNone/>
            </a:pPr>
            <a:r>
              <a:rPr lang="en-US" sz="1050" b="1" dirty="0">
                <a:solidFill>
                  <a:srgbClr val="D9622B"/>
                </a:solidFill>
                <a:latin typeface="Calibri" pitchFamily="34" charset="0"/>
                <a:ea typeface="Calibri" pitchFamily="34" charset="-122"/>
                <a:cs typeface="Calibri" pitchFamily="34" charset="-120"/>
              </a:rPr>
              <a:t>FY22</a:t>
            </a:r>
            <a:endParaRPr lang="en-US" sz="1050" dirty="0"/>
          </a:p>
        </p:txBody>
      </p:sp>
      <p:sp>
        <p:nvSpPr>
          <p:cNvPr id="8" name="Text 5"/>
          <p:cNvSpPr/>
          <p:nvPr/>
        </p:nvSpPr>
        <p:spPr>
          <a:xfrm>
            <a:off x="7955280" y="3337560"/>
            <a:ext cx="3687775" cy="914400"/>
          </a:xfrm>
          <a:prstGeom prst="rect">
            <a:avLst/>
          </a:prstGeom>
          <a:noFill/>
          <a:ln/>
        </p:spPr>
        <p:txBody>
          <a:bodyPr wrap="square" lIns="0" tIns="0" rIns="0" bIns="0" rtlCol="0" anchor="ctr"/>
          <a:lstStyle/>
          <a:p>
            <a:pPr indent="0" marL="0">
              <a:lnSpc>
                <a:spcPct val="115000"/>
              </a:lnSpc>
              <a:buNone/>
            </a:pPr>
            <a:r>
              <a:rPr lang="en-US" sz="970" dirty="0">
                <a:solidFill>
                  <a:srgbClr val="3A4553"/>
                </a:solidFill>
                <a:latin typeface="Calibri" pitchFamily="34" charset="0"/>
                <a:ea typeface="Calibri" pitchFamily="34" charset="-122"/>
                <a:cs typeface="Calibri" pitchFamily="34" charset="-120"/>
              </a:rPr>
              <a:t>Near-breakeven (-₹0.05 Cr). Net worth still -₹5.94 Cr.</a:t>
            </a:r>
            <a:endParaRPr lang="en-US" sz="970" dirty="0"/>
          </a:p>
        </p:txBody>
      </p:sp>
      <p:sp>
        <p:nvSpPr>
          <p:cNvPr id="9" name="Text 6"/>
          <p:cNvSpPr/>
          <p:nvPr/>
        </p:nvSpPr>
        <p:spPr>
          <a:xfrm>
            <a:off x="7955280" y="4379976"/>
            <a:ext cx="3687775" cy="274320"/>
          </a:xfrm>
          <a:prstGeom prst="rect">
            <a:avLst/>
          </a:prstGeom>
          <a:noFill/>
          <a:ln/>
        </p:spPr>
        <p:txBody>
          <a:bodyPr wrap="square" lIns="0" tIns="0" rIns="0" bIns="0" rtlCol="0" anchor="ctr"/>
          <a:lstStyle/>
          <a:p>
            <a:pPr indent="0" marL="0">
              <a:buNone/>
            </a:pPr>
            <a:r>
              <a:rPr lang="en-US" sz="1050" b="1" dirty="0">
                <a:solidFill>
                  <a:srgbClr val="D9622B"/>
                </a:solidFill>
                <a:latin typeface="Calibri" pitchFamily="34" charset="0"/>
                <a:ea typeface="Calibri" pitchFamily="34" charset="-122"/>
                <a:cs typeface="Calibri" pitchFamily="34" charset="-120"/>
              </a:rPr>
              <a:t>FY23-25</a:t>
            </a:r>
            <a:endParaRPr lang="en-US" sz="1050" dirty="0"/>
          </a:p>
        </p:txBody>
      </p:sp>
      <p:sp>
        <p:nvSpPr>
          <p:cNvPr id="10" name="Text 7"/>
          <p:cNvSpPr/>
          <p:nvPr/>
        </p:nvSpPr>
        <p:spPr>
          <a:xfrm>
            <a:off x="7955280" y="4636008"/>
            <a:ext cx="3687775" cy="914400"/>
          </a:xfrm>
          <a:prstGeom prst="rect">
            <a:avLst/>
          </a:prstGeom>
          <a:noFill/>
          <a:ln/>
        </p:spPr>
        <p:txBody>
          <a:bodyPr wrap="square" lIns="0" tIns="0" rIns="0" bIns="0" rtlCol="0" anchor="ctr"/>
          <a:lstStyle/>
          <a:p>
            <a:pPr indent="0" marL="0">
              <a:lnSpc>
                <a:spcPct val="115000"/>
              </a:lnSpc>
              <a:buNone/>
            </a:pPr>
            <a:r>
              <a:rPr lang="en-US" sz="970" dirty="0">
                <a:solidFill>
                  <a:srgbClr val="3A4553"/>
                </a:solidFill>
                <a:latin typeface="Calibri" pitchFamily="34" charset="0"/>
                <a:ea typeface="Calibri" pitchFamily="34" charset="-122"/>
                <a:cs typeface="Calibri" pitchFamily="34" charset="-120"/>
              </a:rPr>
              <a:t>Three straight audited profit years, averaging ~₹1.4 Cr net profit on ~₹20 Cr revenue (~7% net margin).</a:t>
            </a:r>
            <a:endParaRPr lang="en-US" sz="970" dirty="0"/>
          </a:p>
        </p:txBody>
      </p:sp>
      <p:sp>
        <p:nvSpPr>
          <p:cNvPr id="11" name="Text 8"/>
          <p:cNvSpPr/>
          <p:nvPr/>
        </p:nvSpPr>
        <p:spPr>
          <a:xfrm>
            <a:off x="7955280" y="5623560"/>
            <a:ext cx="3687775" cy="274320"/>
          </a:xfrm>
          <a:prstGeom prst="rect">
            <a:avLst/>
          </a:prstGeom>
          <a:noFill/>
          <a:ln/>
        </p:spPr>
        <p:txBody>
          <a:bodyPr wrap="square" lIns="0" tIns="0" rIns="0" bIns="0" rtlCol="0" anchor="ctr"/>
          <a:lstStyle/>
          <a:p>
            <a:pPr indent="0" marL="0">
              <a:buNone/>
            </a:pPr>
            <a:r>
              <a:rPr lang="en-US" sz="800" i="1" dirty="0">
                <a:solidFill>
                  <a:srgbClr val="6B7684"/>
                </a:solidFill>
                <a:latin typeface="Calibri" pitchFamily="34" charset="0"/>
                <a:ea typeface="Calibri" pitchFamily="34" charset="-122"/>
                <a:cs typeface="Calibri" pitchFamily="34" charset="-120"/>
              </a:rPr>
              <a:t>Source: audited statutory P&amp;L filings, FY20-FY25.</a:t>
            </a:r>
            <a:endParaRPr lang="en-US" sz="800" dirty="0"/>
          </a:p>
        </p:txBody>
      </p:sp>
      <p:sp>
        <p:nvSpPr>
          <p:cNvPr id="12" name="Text 9"/>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13" name="Text 10"/>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FY25-26 PERFORMANCE</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1C1F26"/>
                </a:solidFill>
                <a:latin typeface="Cambria" pitchFamily="34" charset="0"/>
                <a:ea typeface="Cambria" pitchFamily="34" charset="-122"/>
                <a:cs typeface="Cambria" pitchFamily="34" charset="-120"/>
              </a:rPr>
              <a:t>FY25-26 closed as a record year — quarter by quarter</a:t>
            </a:r>
            <a:endParaRPr lang="en-US" sz="3000" dirty="0"/>
          </a:p>
        </p:txBody>
      </p:sp>
      <p:graphicFrame>
        <p:nvGraphicFramePr>
          <p:cNvPr id="4" name="Chart 0" descr=""/>
          <p:cNvGraphicFramePr/>
          <p:nvPr/>
        </p:nvGraphicFramePr>
        <p:xfrm>
          <a:off x="548640" y="1737360"/>
          <a:ext cx="722376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955280" y="1737360"/>
            <a:ext cx="3687775" cy="1417320"/>
          </a:xfrm>
          <a:prstGeom prst="roundRect">
            <a:avLst>
              <a:gd name="adj" fmla="val 5161"/>
            </a:avLst>
          </a:prstGeom>
          <a:solidFill>
            <a:srgbClr val="EDF5EF"/>
          </a:solidFill>
          <a:ln/>
        </p:spPr>
      </p:sp>
      <p:sp>
        <p:nvSpPr>
          <p:cNvPr id="6" name="Text 3"/>
          <p:cNvSpPr/>
          <p:nvPr/>
        </p:nvSpPr>
        <p:spPr>
          <a:xfrm>
            <a:off x="8183880" y="1874520"/>
            <a:ext cx="3230575" cy="502920"/>
          </a:xfrm>
          <a:prstGeom prst="rect">
            <a:avLst/>
          </a:prstGeom>
          <a:noFill/>
          <a:ln/>
        </p:spPr>
        <p:txBody>
          <a:bodyPr wrap="square" lIns="0" tIns="0" rIns="0" bIns="0" rtlCol="0" anchor="ctr"/>
          <a:lstStyle/>
          <a:p>
            <a:pPr indent="0" marL="0">
              <a:buNone/>
            </a:pPr>
            <a:r>
              <a:rPr lang="en-US" sz="2400" b="1" dirty="0">
                <a:solidFill>
                  <a:srgbClr val="3F8F5F"/>
                </a:solidFill>
                <a:latin typeface="Cambria" pitchFamily="34" charset="0"/>
                <a:ea typeface="Cambria" pitchFamily="34" charset="-122"/>
                <a:cs typeface="Cambria" pitchFamily="34" charset="-120"/>
              </a:rPr>
              <a:t>₹25.9 Cr</a:t>
            </a:r>
            <a:endParaRPr lang="en-US" sz="2400" dirty="0"/>
          </a:p>
        </p:txBody>
      </p:sp>
      <p:sp>
        <p:nvSpPr>
          <p:cNvPr id="7" name="Text 4"/>
          <p:cNvSpPr/>
          <p:nvPr/>
        </p:nvSpPr>
        <p:spPr>
          <a:xfrm>
            <a:off x="8183880" y="2395728"/>
            <a:ext cx="3230575" cy="685800"/>
          </a:xfrm>
          <a:prstGeom prst="rect">
            <a:avLst/>
          </a:prstGeom>
          <a:noFill/>
          <a:ln/>
        </p:spPr>
        <p:txBody>
          <a:bodyPr wrap="square" lIns="0" tIns="0" rIns="0" bIns="0" rtlCol="0" anchor="ctr"/>
          <a:lstStyle/>
          <a:p>
            <a:pPr indent="0" marL="0">
              <a:lnSpc>
                <a:spcPct val="110000"/>
              </a:lnSpc>
              <a:buNone/>
            </a:pPr>
            <a:r>
              <a:rPr lang="en-US" sz="950" dirty="0">
                <a:solidFill>
                  <a:srgbClr val="1C1F26"/>
                </a:solidFill>
                <a:latin typeface="Calibri" pitchFamily="34" charset="0"/>
                <a:ea typeface="Calibri" pitchFamily="34" charset="-122"/>
                <a:cs typeface="Calibri" pitchFamily="34" charset="-120"/>
              </a:rPr>
              <a:t>FY25-26 revenue (turnover statement) — a record, +26% YoY, with a record ₹1.82 Cr profit alongside it</a:t>
            </a:r>
            <a:endParaRPr lang="en-US" sz="950" dirty="0"/>
          </a:p>
        </p:txBody>
      </p:sp>
      <p:sp>
        <p:nvSpPr>
          <p:cNvPr id="8" name="Text 5"/>
          <p:cNvSpPr/>
          <p:nvPr/>
        </p:nvSpPr>
        <p:spPr>
          <a:xfrm>
            <a:off x="7955280" y="3383280"/>
            <a:ext cx="3687775" cy="274320"/>
          </a:xfrm>
          <a:prstGeom prst="rect">
            <a:avLst/>
          </a:prstGeom>
          <a:noFill/>
          <a:ln/>
        </p:spPr>
        <p:txBody>
          <a:bodyPr wrap="square" lIns="0" tIns="0" rIns="0" bIns="0" rtlCol="0" anchor="ctr"/>
          <a:lstStyle/>
          <a:p>
            <a:pPr indent="0" marL="0">
              <a:buNone/>
            </a:pPr>
            <a:r>
              <a:rPr lang="en-US" sz="1000" b="1" spc="100" kern="0" dirty="0">
                <a:solidFill>
                  <a:srgbClr val="B8453F"/>
                </a:solidFill>
                <a:latin typeface="Calibri" pitchFamily="34" charset="0"/>
                <a:ea typeface="Calibri" pitchFamily="34" charset="-122"/>
                <a:cs typeface="Calibri" pitchFamily="34" charset="-120"/>
              </a:rPr>
              <a:t>BUT NOTE THE SHAPE</a:t>
            </a:r>
            <a:endParaRPr lang="en-US" sz="1000" dirty="0"/>
          </a:p>
        </p:txBody>
      </p:sp>
      <p:sp>
        <p:nvSpPr>
          <p:cNvPr id="9" name="Text 6"/>
          <p:cNvSpPr/>
          <p:nvPr/>
        </p:nvSpPr>
        <p:spPr>
          <a:xfrm>
            <a:off x="7955280" y="3675888"/>
            <a:ext cx="3687775" cy="1188720"/>
          </a:xfrm>
          <a:prstGeom prst="rect">
            <a:avLst/>
          </a:prstGeom>
          <a:noFill/>
          <a:ln/>
        </p:spPr>
        <p:txBody>
          <a:bodyPr wrap="square" lIns="0" tIns="0" rIns="0" bIns="0" rtlCol="0" anchor="ctr"/>
          <a:lstStyle/>
          <a:p>
            <a:pPr indent="0" marL="0">
              <a:lnSpc>
                <a:spcPct val="120000"/>
              </a:lnSpc>
              <a:buNone/>
            </a:pPr>
            <a:r>
              <a:rPr lang="en-US" sz="1000" dirty="0">
                <a:solidFill>
                  <a:srgbClr val="3A4553"/>
                </a:solidFill>
                <a:latin typeface="Calibri" pitchFamily="34" charset="0"/>
                <a:ea typeface="Calibri" pitchFamily="34" charset="-122"/>
                <a:cs typeface="Calibri" pitchFamily="34" charset="-120"/>
              </a:rPr>
              <a:t>Q4 FY25-26 collapsed to ₹2.29 Cr — less than a third of Q3, and well below Q4 FY24-25's ₹6.51 Cr. The record full-year number masks a weak close, which carries into FY26-27 (next slide).</a:t>
            </a:r>
            <a:endParaRPr lang="en-US" sz="1000" dirty="0"/>
          </a:p>
        </p:txBody>
      </p:sp>
      <p:sp>
        <p:nvSpPr>
          <p:cNvPr id="10" name="Text 7"/>
          <p:cNvSpPr/>
          <p:nvPr/>
        </p:nvSpPr>
        <p:spPr>
          <a:xfrm>
            <a:off x="7955280" y="5486400"/>
            <a:ext cx="3687775" cy="548640"/>
          </a:xfrm>
          <a:prstGeom prst="rect">
            <a:avLst/>
          </a:prstGeom>
          <a:noFill/>
          <a:ln/>
        </p:spPr>
        <p:txBody>
          <a:bodyPr wrap="square" lIns="0" tIns="0" rIns="0" bIns="0" rtlCol="0" anchor="ctr"/>
          <a:lstStyle/>
          <a:p>
            <a:pPr indent="0" marL="0">
              <a:lnSpc>
                <a:spcPct val="110000"/>
              </a:lnSpc>
              <a:buNone/>
            </a:pPr>
            <a:r>
              <a:rPr lang="en-US" sz="800" i="1" dirty="0">
                <a:solidFill>
                  <a:srgbClr val="6B7684"/>
                </a:solidFill>
                <a:latin typeface="Calibri" pitchFamily="34" charset="0"/>
                <a:ea typeface="Calibri" pitchFamily="34" charset="-122"/>
                <a:cs typeface="Calibri" pitchFamily="34" charset="-120"/>
              </a:rPr>
              <a:t>Quarterly chart: management MIS (net sales, ex-GST). Headline figure: year-end turnover statement, ₹1 Cr higher than the MIS quarterly sum — a minor, unreconciled gap typical of interim vs. final cuts.</a:t>
            </a:r>
            <a:endParaRPr lang="en-US" sz="800" dirty="0"/>
          </a:p>
        </p:txBody>
      </p:sp>
      <p:sp>
        <p:nvSpPr>
          <p:cNvPr id="11" name="Text 8"/>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12" name="Text 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1F26"/>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CRITICAL ANALYSIS — CURRENT TRADING</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The most recent quarter reverses the FY25-26 story</a:t>
            </a:r>
            <a:endParaRPr lang="en-US" sz="3000" dirty="0"/>
          </a:p>
        </p:txBody>
      </p:sp>
      <p:sp>
        <p:nvSpPr>
          <p:cNvPr id="4" name="Shape 2"/>
          <p:cNvSpPr/>
          <p:nvPr/>
        </p:nvSpPr>
        <p:spPr>
          <a:xfrm>
            <a:off x="548640" y="1783080"/>
            <a:ext cx="3515258" cy="1737360"/>
          </a:xfrm>
          <a:prstGeom prst="roundRect">
            <a:avLst>
              <a:gd name="adj" fmla="val 4211"/>
            </a:avLst>
          </a:prstGeom>
          <a:solidFill>
            <a:srgbClr val="262B34"/>
          </a:solidFill>
          <a:ln/>
        </p:spPr>
      </p:sp>
      <p:sp>
        <p:nvSpPr>
          <p:cNvPr id="5" name="Text 3"/>
          <p:cNvSpPr/>
          <p:nvPr/>
        </p:nvSpPr>
        <p:spPr>
          <a:xfrm>
            <a:off x="731520" y="1920240"/>
            <a:ext cx="3149498" cy="548640"/>
          </a:xfrm>
          <a:prstGeom prst="rect">
            <a:avLst/>
          </a:prstGeom>
          <a:noFill/>
          <a:ln/>
        </p:spPr>
        <p:txBody>
          <a:bodyPr wrap="square" lIns="0" tIns="0" rIns="0" bIns="0" rtlCol="0" anchor="ctr"/>
          <a:lstStyle/>
          <a:p>
            <a:pPr indent="0" marL="0">
              <a:buNone/>
            </a:pPr>
            <a:r>
              <a:rPr lang="en-US" sz="3000" b="1" dirty="0">
                <a:solidFill>
                  <a:srgbClr val="B8453F"/>
                </a:solidFill>
                <a:latin typeface="Cambria" pitchFamily="34" charset="0"/>
                <a:ea typeface="Cambria" pitchFamily="34" charset="-122"/>
                <a:cs typeface="Cambria" pitchFamily="34" charset="-120"/>
              </a:rPr>
              <a:t>-42%</a:t>
            </a:r>
            <a:endParaRPr lang="en-US" sz="3000" dirty="0"/>
          </a:p>
        </p:txBody>
      </p:sp>
      <p:sp>
        <p:nvSpPr>
          <p:cNvPr id="6" name="Text 4"/>
          <p:cNvSpPr/>
          <p:nvPr/>
        </p:nvSpPr>
        <p:spPr>
          <a:xfrm>
            <a:off x="731520" y="2514600"/>
            <a:ext cx="3149498" cy="502920"/>
          </a:xfrm>
          <a:prstGeom prst="rect">
            <a:avLst/>
          </a:prstGeom>
          <a:noFill/>
          <a:ln/>
        </p:spPr>
        <p:txBody>
          <a:bodyPr wrap="square" lIns="0" tIns="0" rIns="0" bIns="0" rtlCol="0" anchor="ctr"/>
          <a:lstStyle/>
          <a:p>
            <a:pPr indent="0" marL="0">
              <a:lnSpc>
                <a:spcPct val="105000"/>
              </a:lnSpc>
              <a:buNone/>
            </a:pPr>
            <a:r>
              <a:rPr lang="en-US" sz="1100" b="1" dirty="0">
                <a:solidFill>
                  <a:srgbClr val="FFFFFF"/>
                </a:solidFill>
                <a:latin typeface="Calibri" pitchFamily="34" charset="0"/>
                <a:ea typeface="Calibri" pitchFamily="34" charset="-122"/>
                <a:cs typeface="Calibri" pitchFamily="34" charset="-120"/>
              </a:rPr>
              <a:t>Q1 FY26-27 net sales vs Q1 FY25-26</a:t>
            </a:r>
            <a:endParaRPr lang="en-US" sz="1100" dirty="0"/>
          </a:p>
        </p:txBody>
      </p:sp>
      <p:sp>
        <p:nvSpPr>
          <p:cNvPr id="7" name="Text 5"/>
          <p:cNvSpPr/>
          <p:nvPr/>
        </p:nvSpPr>
        <p:spPr>
          <a:xfrm>
            <a:off x="731520" y="3063240"/>
            <a:ext cx="3149498" cy="365760"/>
          </a:xfrm>
          <a:prstGeom prst="rect">
            <a:avLst/>
          </a:prstGeom>
          <a:noFill/>
          <a:ln/>
        </p:spPr>
        <p:txBody>
          <a:bodyPr wrap="square" lIns="0" tIns="0" rIns="0" bIns="0" rtlCol="0" anchor="ctr"/>
          <a:lstStyle/>
          <a:p>
            <a:pPr indent="0" marL="0">
              <a:buNone/>
            </a:pPr>
            <a:r>
              <a:rPr lang="en-US" sz="930" dirty="0">
                <a:solidFill>
                  <a:srgbClr val="9AA2AD"/>
                </a:solidFill>
                <a:latin typeface="Calibri" pitchFamily="34" charset="0"/>
                <a:ea typeface="Calibri" pitchFamily="34" charset="-122"/>
                <a:cs typeface="Calibri" pitchFamily="34" charset="-120"/>
              </a:rPr>
              <a:t>₹4.84 Cr vs ₹8.39 Cr</a:t>
            </a:r>
            <a:endParaRPr lang="en-US" sz="930" dirty="0"/>
          </a:p>
        </p:txBody>
      </p:sp>
      <p:sp>
        <p:nvSpPr>
          <p:cNvPr id="8" name="Shape 6"/>
          <p:cNvSpPr/>
          <p:nvPr/>
        </p:nvSpPr>
        <p:spPr>
          <a:xfrm>
            <a:off x="4338218" y="1783080"/>
            <a:ext cx="3515258" cy="1737360"/>
          </a:xfrm>
          <a:prstGeom prst="roundRect">
            <a:avLst>
              <a:gd name="adj" fmla="val 4211"/>
            </a:avLst>
          </a:prstGeom>
          <a:solidFill>
            <a:srgbClr val="262B34"/>
          </a:solidFill>
          <a:ln/>
        </p:spPr>
      </p:sp>
      <p:sp>
        <p:nvSpPr>
          <p:cNvPr id="9" name="Text 7"/>
          <p:cNvSpPr/>
          <p:nvPr/>
        </p:nvSpPr>
        <p:spPr>
          <a:xfrm>
            <a:off x="4521098" y="1920240"/>
            <a:ext cx="3149498" cy="548640"/>
          </a:xfrm>
          <a:prstGeom prst="rect">
            <a:avLst/>
          </a:prstGeom>
          <a:noFill/>
          <a:ln/>
        </p:spPr>
        <p:txBody>
          <a:bodyPr wrap="square" lIns="0" tIns="0" rIns="0" bIns="0" rtlCol="0" anchor="ctr"/>
          <a:lstStyle/>
          <a:p>
            <a:pPr indent="0" marL="0">
              <a:buNone/>
            </a:pPr>
            <a:r>
              <a:rPr lang="en-US" sz="3000" b="1" dirty="0">
                <a:solidFill>
                  <a:srgbClr val="B8453F"/>
                </a:solidFill>
                <a:latin typeface="Cambria" pitchFamily="34" charset="0"/>
                <a:ea typeface="Cambria" pitchFamily="34" charset="-122"/>
                <a:cs typeface="Cambria" pitchFamily="34" charset="-120"/>
              </a:rPr>
              <a:t>10.1%</a:t>
            </a:r>
            <a:endParaRPr lang="en-US" sz="3000" dirty="0"/>
          </a:p>
        </p:txBody>
      </p:sp>
      <p:sp>
        <p:nvSpPr>
          <p:cNvPr id="10" name="Text 8"/>
          <p:cNvSpPr/>
          <p:nvPr/>
        </p:nvSpPr>
        <p:spPr>
          <a:xfrm>
            <a:off x="4521098" y="2514600"/>
            <a:ext cx="3149498" cy="502920"/>
          </a:xfrm>
          <a:prstGeom prst="rect">
            <a:avLst/>
          </a:prstGeom>
          <a:noFill/>
          <a:ln/>
        </p:spPr>
        <p:txBody>
          <a:bodyPr wrap="square" lIns="0" tIns="0" rIns="0" bIns="0" rtlCol="0" anchor="ctr"/>
          <a:lstStyle/>
          <a:p>
            <a:pPr indent="0" marL="0">
              <a:lnSpc>
                <a:spcPct val="105000"/>
              </a:lnSpc>
              <a:buNone/>
            </a:pPr>
            <a:r>
              <a:rPr lang="en-US" sz="1100" b="1" dirty="0">
                <a:solidFill>
                  <a:srgbClr val="FFFFFF"/>
                </a:solidFill>
                <a:latin typeface="Calibri" pitchFamily="34" charset="0"/>
                <a:ea typeface="Calibri" pitchFamily="34" charset="-122"/>
                <a:cs typeface="Calibri" pitchFamily="34" charset="-120"/>
              </a:rPr>
              <a:t>In-house rejection rate, YTD FY26-27</a:t>
            </a:r>
            <a:endParaRPr lang="en-US" sz="1100" dirty="0"/>
          </a:p>
        </p:txBody>
      </p:sp>
      <p:sp>
        <p:nvSpPr>
          <p:cNvPr id="11" name="Text 9"/>
          <p:cNvSpPr/>
          <p:nvPr/>
        </p:nvSpPr>
        <p:spPr>
          <a:xfrm>
            <a:off x="4521098" y="3063240"/>
            <a:ext cx="3149498" cy="365760"/>
          </a:xfrm>
          <a:prstGeom prst="rect">
            <a:avLst/>
          </a:prstGeom>
          <a:noFill/>
          <a:ln/>
        </p:spPr>
        <p:txBody>
          <a:bodyPr wrap="square" lIns="0" tIns="0" rIns="0" bIns="0" rtlCol="0" anchor="ctr"/>
          <a:lstStyle/>
          <a:p>
            <a:pPr indent="0" marL="0">
              <a:buNone/>
            </a:pPr>
            <a:r>
              <a:rPr lang="en-US" sz="930" dirty="0">
                <a:solidFill>
                  <a:srgbClr val="9AA2AD"/>
                </a:solidFill>
                <a:latin typeface="Calibri" pitchFamily="34" charset="0"/>
                <a:ea typeface="Calibri" pitchFamily="34" charset="-122"/>
                <a:cs typeface="Calibri" pitchFamily="34" charset="-120"/>
              </a:rPr>
              <a:t>Worst of any period on record</a:t>
            </a:r>
            <a:endParaRPr lang="en-US" sz="930" dirty="0"/>
          </a:p>
        </p:txBody>
      </p:sp>
      <p:sp>
        <p:nvSpPr>
          <p:cNvPr id="12" name="Shape 10"/>
          <p:cNvSpPr/>
          <p:nvPr/>
        </p:nvSpPr>
        <p:spPr>
          <a:xfrm>
            <a:off x="8127797" y="1783080"/>
            <a:ext cx="3515258" cy="1737360"/>
          </a:xfrm>
          <a:prstGeom prst="roundRect">
            <a:avLst>
              <a:gd name="adj" fmla="val 4211"/>
            </a:avLst>
          </a:prstGeom>
          <a:solidFill>
            <a:srgbClr val="262B34"/>
          </a:solidFill>
          <a:ln/>
        </p:spPr>
      </p:sp>
      <p:sp>
        <p:nvSpPr>
          <p:cNvPr id="13" name="Text 11"/>
          <p:cNvSpPr/>
          <p:nvPr/>
        </p:nvSpPr>
        <p:spPr>
          <a:xfrm>
            <a:off x="8310677" y="1920240"/>
            <a:ext cx="3149498" cy="548640"/>
          </a:xfrm>
          <a:prstGeom prst="rect">
            <a:avLst/>
          </a:prstGeom>
          <a:noFill/>
          <a:ln/>
        </p:spPr>
        <p:txBody>
          <a:bodyPr wrap="square" lIns="0" tIns="0" rIns="0" bIns="0" rtlCol="0" anchor="ctr"/>
          <a:lstStyle/>
          <a:p>
            <a:pPr indent="0" marL="0">
              <a:buNone/>
            </a:pPr>
            <a:r>
              <a:rPr lang="en-US" sz="3000" b="1" dirty="0">
                <a:solidFill>
                  <a:srgbClr val="B8453F"/>
                </a:solidFill>
                <a:latin typeface="Cambria" pitchFamily="34" charset="0"/>
                <a:ea typeface="Cambria" pitchFamily="34" charset="-122"/>
                <a:cs typeface="Cambria" pitchFamily="34" charset="-120"/>
              </a:rPr>
              <a:t>-53%</a:t>
            </a:r>
            <a:endParaRPr lang="en-US" sz="3000" dirty="0"/>
          </a:p>
        </p:txBody>
      </p:sp>
      <p:sp>
        <p:nvSpPr>
          <p:cNvPr id="14" name="Text 12"/>
          <p:cNvSpPr/>
          <p:nvPr/>
        </p:nvSpPr>
        <p:spPr>
          <a:xfrm>
            <a:off x="8310677" y="2514600"/>
            <a:ext cx="3149498" cy="502920"/>
          </a:xfrm>
          <a:prstGeom prst="rect">
            <a:avLst/>
          </a:prstGeom>
          <a:noFill/>
          <a:ln/>
        </p:spPr>
        <p:txBody>
          <a:bodyPr wrap="square" lIns="0" tIns="0" rIns="0" bIns="0" rtlCol="0" anchor="ctr"/>
          <a:lstStyle/>
          <a:p>
            <a:pPr indent="0" marL="0">
              <a:lnSpc>
                <a:spcPct val="105000"/>
              </a:lnSpc>
              <a:buNone/>
            </a:pPr>
            <a:r>
              <a:rPr lang="en-US" sz="1100" b="1" dirty="0">
                <a:solidFill>
                  <a:srgbClr val="FFFFFF"/>
                </a:solidFill>
                <a:latin typeface="Calibri" pitchFamily="34" charset="0"/>
                <a:ea typeface="Calibri" pitchFamily="34" charset="-122"/>
                <a:cs typeface="Calibri" pitchFamily="34" charset="-120"/>
              </a:rPr>
              <a:t>PBT (mgmt. accounts), 4 months YTD vs prior year</a:t>
            </a:r>
            <a:endParaRPr lang="en-US" sz="1100" dirty="0"/>
          </a:p>
        </p:txBody>
      </p:sp>
      <p:sp>
        <p:nvSpPr>
          <p:cNvPr id="15" name="Text 13"/>
          <p:cNvSpPr/>
          <p:nvPr/>
        </p:nvSpPr>
        <p:spPr>
          <a:xfrm>
            <a:off x="8310677" y="3063240"/>
            <a:ext cx="3149498" cy="365760"/>
          </a:xfrm>
          <a:prstGeom prst="rect">
            <a:avLst/>
          </a:prstGeom>
          <a:noFill/>
          <a:ln/>
        </p:spPr>
        <p:txBody>
          <a:bodyPr wrap="square" lIns="0" tIns="0" rIns="0" bIns="0" rtlCol="0" anchor="ctr"/>
          <a:lstStyle/>
          <a:p>
            <a:pPr indent="0" marL="0">
              <a:buNone/>
            </a:pPr>
            <a:r>
              <a:rPr lang="en-US" sz="930" dirty="0">
                <a:solidFill>
                  <a:srgbClr val="9AA2AD"/>
                </a:solidFill>
                <a:latin typeface="Calibri" pitchFamily="34" charset="0"/>
                <a:ea typeface="Calibri" pitchFamily="34" charset="-122"/>
                <a:cs typeface="Calibri" pitchFamily="34" charset="-120"/>
              </a:rPr>
              <a:t>₹0.53 Cr vs ₹1.13 Cr</a:t>
            </a:r>
            <a:endParaRPr lang="en-US" sz="930" dirty="0"/>
          </a:p>
        </p:txBody>
      </p:sp>
      <p:sp>
        <p:nvSpPr>
          <p:cNvPr id="16" name="Shape 14"/>
          <p:cNvSpPr/>
          <p:nvPr/>
        </p:nvSpPr>
        <p:spPr>
          <a:xfrm>
            <a:off x="548640" y="3749040"/>
            <a:ext cx="11094415" cy="914400"/>
          </a:xfrm>
          <a:prstGeom prst="roundRect">
            <a:avLst>
              <a:gd name="adj" fmla="val 8000"/>
            </a:avLst>
          </a:prstGeom>
          <a:solidFill>
            <a:srgbClr val="2E3A2E"/>
          </a:solidFill>
          <a:ln/>
        </p:spPr>
      </p:sp>
      <p:sp>
        <p:nvSpPr>
          <p:cNvPr id="17" name="Shape 15"/>
          <p:cNvSpPr/>
          <p:nvPr/>
        </p:nvSpPr>
        <p:spPr>
          <a:xfrm>
            <a:off x="777240" y="3950208"/>
            <a:ext cx="384048" cy="384048"/>
          </a:xfrm>
          <a:prstGeom prst="ellipse">
            <a:avLst/>
          </a:prstGeom>
          <a:solidFill>
            <a:srgbClr val="3F8F5F"/>
          </a:solidFill>
          <a:ln/>
        </p:spPr>
      </p:sp>
      <p:sp>
        <p:nvSpPr>
          <p:cNvPr id="18" name="Text 16"/>
          <p:cNvSpPr/>
          <p:nvPr/>
        </p:nvSpPr>
        <p:spPr>
          <a:xfrm>
            <a:off x="777240" y="3950208"/>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a:t>
            </a:r>
            <a:endParaRPr lang="en-US" sz="1092" dirty="0"/>
          </a:p>
        </p:txBody>
      </p:sp>
      <p:sp>
        <p:nvSpPr>
          <p:cNvPr id="19" name="Text 17"/>
          <p:cNvSpPr/>
          <p:nvPr/>
        </p:nvSpPr>
        <p:spPr>
          <a:xfrm>
            <a:off x="1325880" y="3794760"/>
            <a:ext cx="10042855" cy="777240"/>
          </a:xfrm>
          <a:prstGeom prst="rect">
            <a:avLst/>
          </a:prstGeom>
          <a:noFill/>
          <a:ln/>
        </p:spPr>
        <p:txBody>
          <a:bodyPr wrap="square" lIns="0" tIns="0" rIns="0" bIns="0"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One counter-signal: July 2026 alone grew +11% YoY (₹2.76 Cr vs ₹2.48 Cr) — an early, unconfirmed sign that the Q1 air-pocket may be easing. One month is not a trend.</a:t>
            </a:r>
            <a:endParaRPr lang="en-US" sz="1050" dirty="0"/>
          </a:p>
        </p:txBody>
      </p:sp>
      <p:sp>
        <p:nvSpPr>
          <p:cNvPr id="20" name="Text 18"/>
          <p:cNvSpPr/>
          <p:nvPr/>
        </p:nvSpPr>
        <p:spPr>
          <a:xfrm>
            <a:off x="548640" y="4892040"/>
            <a:ext cx="9144000" cy="274320"/>
          </a:xfrm>
          <a:prstGeom prst="rect">
            <a:avLst/>
          </a:prstGeom>
          <a:noFill/>
          <a:ln/>
        </p:spPr>
        <p:txBody>
          <a:bodyPr wrap="square" lIns="0" tIns="0" rIns="0" bIns="0" rtlCol="0" anchor="ctr"/>
          <a:lstStyle/>
          <a:p>
            <a:pPr indent="0" marL="0">
              <a:buNone/>
            </a:pPr>
            <a:r>
              <a:rPr lang="en-US" sz="1050" b="1" spc="100" kern="0" dirty="0">
                <a:solidFill>
                  <a:srgbClr val="D9622B"/>
                </a:solidFill>
                <a:latin typeface="Calibri" pitchFamily="34" charset="0"/>
                <a:ea typeface="Calibri" pitchFamily="34" charset="-122"/>
                <a:cs typeface="Calibri" pitchFamily="34" charset="-120"/>
              </a:rPr>
              <a:t>WHAT TO ASK MANAGEMENT</a:t>
            </a:r>
            <a:endParaRPr lang="en-US" sz="1050" dirty="0"/>
          </a:p>
        </p:txBody>
      </p:sp>
      <p:sp>
        <p:nvSpPr>
          <p:cNvPr id="21" name="Text 19"/>
          <p:cNvSpPr/>
          <p:nvPr/>
        </p:nvSpPr>
        <p:spPr>
          <a:xfrm>
            <a:off x="548640" y="5193792"/>
            <a:ext cx="11094415" cy="1188720"/>
          </a:xfrm>
          <a:prstGeom prst="rect">
            <a:avLst/>
          </a:prstGeom>
          <a:noFill/>
          <a:ln/>
        </p:spPr>
        <p:txBody>
          <a:bodyPr wrap="square" lIns="0" tIns="0" rIns="0" bIns="0" rtlCol="0" anchor="ctr"/>
          <a:lstStyle/>
          <a:p>
            <a:pPr marL="342900" indent="-342900">
              <a:lnSpc>
                <a:spcPct val="110000"/>
              </a:lnSpc>
              <a:spcAft>
                <a:spcPts val="600"/>
              </a:spcAft>
              <a:buSzPct val="100000"/>
              <a:buChar char="•"/>
            </a:pPr>
            <a:r>
              <a:rPr lang="en-US" sz="1050" dirty="0">
                <a:solidFill>
                  <a:srgbClr val="CBD3DC"/>
                </a:solidFill>
                <a:latin typeface="Calibri" pitchFamily="34" charset="0"/>
                <a:ea typeface="Calibri" pitchFamily="34" charset="-122"/>
                <a:cs typeface="Calibri" pitchFamily="34" charset="-120"/>
              </a:rPr>
              <a:t>Is the Q1 FY26-27 decline customer-driven (Tega/Escorts order timing) or a broader demand problem?</a:t>
            </a:r>
            <a:endParaRPr lang="en-US" sz="1050" dirty="0"/>
          </a:p>
          <a:p>
            <a:pPr marL="342900" indent="-342900">
              <a:lnSpc>
                <a:spcPct val="110000"/>
              </a:lnSpc>
              <a:spcAft>
                <a:spcPts val="600"/>
              </a:spcAft>
              <a:buSzPct val="100000"/>
              <a:buChar char="•"/>
            </a:pPr>
            <a:r>
              <a:rPr lang="en-US" sz="1050" dirty="0">
                <a:solidFill>
                  <a:srgbClr val="CBD3DC"/>
                </a:solidFill>
                <a:latin typeface="Calibri" pitchFamily="34" charset="0"/>
                <a:ea typeface="Calibri" pitchFamily="34" charset="-122"/>
                <a:cs typeface="Calibri" pitchFamily="34" charset="-120"/>
              </a:rPr>
              <a:t>What is driving the rejection-rate climb to 10%+, and what specifically is being done to reverse it?</a:t>
            </a:r>
            <a:endParaRPr lang="en-US" sz="1050" dirty="0"/>
          </a:p>
          <a:p>
            <a:pPr marL="342900" indent="-342900">
              <a:lnSpc>
                <a:spcPct val="110000"/>
              </a:lnSpc>
              <a:buSzPct val="100000"/>
              <a:buChar char="•"/>
            </a:pPr>
            <a:r>
              <a:rPr lang="en-US" sz="1050" dirty="0">
                <a:solidFill>
                  <a:srgbClr val="CBD3DC"/>
                </a:solidFill>
                <a:latin typeface="Calibri" pitchFamily="34" charset="0"/>
                <a:ea typeface="Calibri" pitchFamily="34" charset="-122"/>
                <a:cs typeface="Calibri" pitchFamily="34" charset="-120"/>
              </a:rPr>
              <a:t>Is April 2026's loss-making month (-₹0.11 Cr PBT) a one-off or the start of a pattern?</a:t>
            </a:r>
            <a:endParaRPr lang="en-US" sz="1050" dirty="0"/>
          </a:p>
        </p:txBody>
      </p:sp>
      <p:sp>
        <p:nvSpPr>
          <p:cNvPr id="22" name="Text 20"/>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8B93A0"/>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23" name="Text 21"/>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8B93A0"/>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THE MOAT, APPLIED</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1C1F26"/>
                </a:solidFill>
                <a:latin typeface="Cambria" pitchFamily="34" charset="0"/>
                <a:ea typeface="Cambria" pitchFamily="34" charset="-122"/>
                <a:cs typeface="Cambria" pitchFamily="34" charset="-120"/>
              </a:rPr>
              <a:t>Datre has closed a bigger gap than this before — with the same toolkit</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194560"/>
                <a:gridCol w="4663440"/>
                <a:gridCol w="4690872"/>
              </a:tblGrid>
              <a:tr h="777240">
                <a:tc>
                  <a:txBody>
                    <a:bodyPr/>
                    <a:lstStyle/>
                    <a:p>
                      <a:pPr algn="l" indent="0" marL="0">
                        <a:buNone/>
                      </a:pPr>
                      <a:endParaRPr lang="en-US" sz="1000" dirty="0">
                        <a:latin typeface="Calibri" charset="0"/>
                        <a:ea typeface="Calibri" charset="0"/>
                        <a:cs typeface="Calibri" charset="0"/>
                      </a:endParaRPr>
                    </a:p>
                  </a:txBody>
                  <a:tcPr marL="114300" marR="114300" marT="76200" marB="762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1C1F26"/>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FY20 → FY21 (the real precedent)</a:t>
                      </a:r>
                      <a:endParaRPr lang="en-US" sz="1000" dirty="0">
                        <a:latin typeface="Calibri" charset="0"/>
                        <a:ea typeface="Calibri" charset="0"/>
                        <a:cs typeface="Calibri" charset="0"/>
                      </a:endParaRPr>
                    </a:p>
                  </a:txBody>
                  <a:tcPr marL="114300" marR="114300" marT="76200" marB="762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1C1F26"/>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FY25-26 Q1 → FY26-27 Q1 (today)</a:t>
                      </a:r>
                      <a:endParaRPr lang="en-US" sz="1000" dirty="0">
                        <a:latin typeface="Calibri" charset="0"/>
                        <a:ea typeface="Calibri" charset="0"/>
                        <a:cs typeface="Calibri" charset="0"/>
                      </a:endParaRPr>
                    </a:p>
                  </a:txBody>
                  <a:tcPr marL="114300" marR="114300" marT="76200" marB="762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1C1F26"/>
                    </a:solidFill>
                  </a:tcPr>
                </a:tc>
              </a:tr>
              <a:tr h="777240">
                <a:tc>
                  <a:txBody>
                    <a:bodyPr/>
                    <a:lstStyle/>
                    <a:p>
                      <a:pPr algn="l" indent="0" marL="0">
                        <a:buNone/>
                      </a:pPr>
                      <a:r>
                        <a:rPr lang="en-US" sz="960" b="1" dirty="0">
                          <a:solidFill>
                            <a:srgbClr val="1C1F26"/>
                          </a:solidFill>
                          <a:latin typeface="Calibri" pitchFamily="34" charset="0"/>
                          <a:ea typeface="Calibri" pitchFamily="34" charset="-122"/>
                          <a:cs typeface="Calibri" pitchFamily="34" charset="-120"/>
                        </a:rPr>
                        <a:t>Revenue shock</a:t>
                      </a:r>
                      <a:endParaRPr lang="en-US" sz="960" dirty="0">
                        <a:latin typeface="Calibri" charset="0"/>
                        <a:ea typeface="Calibri" charset="0"/>
                        <a:cs typeface="Calibri" charset="0"/>
                      </a:endParaRPr>
                    </a:p>
                  </a:txBody>
                  <a:tcPr marL="114300" marR="114300" marT="76200" marB="762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c>
                  <a:txBody>
                    <a:bodyPr/>
                    <a:lstStyle/>
                    <a:p>
                      <a:pPr algn="l" indent="0" marL="0">
                        <a:buNone/>
                      </a:pPr>
                      <a:r>
                        <a:rPr lang="en-US" sz="960" dirty="0">
                          <a:solidFill>
                            <a:srgbClr val="1C1F26"/>
                          </a:solidFill>
                          <a:latin typeface="Calibri" pitchFamily="34" charset="0"/>
                          <a:ea typeface="Calibri" pitchFamily="34" charset="-122"/>
                          <a:cs typeface="Calibri" pitchFamily="34" charset="-120"/>
                        </a:rPr>
                        <a:t>₹12.51 Cr → ₹8.49 Cr (-32%)</a:t>
                      </a:r>
                      <a:endParaRPr lang="en-US" sz="960" dirty="0">
                        <a:latin typeface="Calibri" charset="0"/>
                        <a:ea typeface="Calibri" charset="0"/>
                        <a:cs typeface="Calibri" charset="0"/>
                      </a:endParaRPr>
                    </a:p>
                  </a:txBody>
                  <a:tcPr marL="114300" marR="114300" marT="76200" marB="762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c>
                  <a:txBody>
                    <a:bodyPr/>
                    <a:lstStyle/>
                    <a:p>
                      <a:pPr algn="l" indent="0" marL="0">
                        <a:buNone/>
                      </a:pPr>
                      <a:r>
                        <a:rPr lang="en-US" sz="960" dirty="0">
                          <a:solidFill>
                            <a:srgbClr val="1C1F26"/>
                          </a:solidFill>
                          <a:latin typeface="Calibri" pitchFamily="34" charset="0"/>
                          <a:ea typeface="Calibri" pitchFamily="34" charset="-122"/>
                          <a:cs typeface="Calibri" pitchFamily="34" charset="-120"/>
                        </a:rPr>
                        <a:t>₹8.39 Cr → ₹4.84 Cr (-42%)</a:t>
                      </a:r>
                      <a:endParaRPr lang="en-US" sz="960" dirty="0">
                        <a:latin typeface="Calibri" charset="0"/>
                        <a:ea typeface="Calibri" charset="0"/>
                        <a:cs typeface="Calibri" charset="0"/>
                      </a:endParaRPr>
                    </a:p>
                  </a:txBody>
                  <a:tcPr marL="114300" marR="114300" marT="76200" marB="762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r>
              <a:tr h="777240">
                <a:tc>
                  <a:txBody>
                    <a:bodyPr/>
                    <a:lstStyle/>
                    <a:p>
                      <a:pPr algn="l" indent="0" marL="0">
                        <a:buNone/>
                      </a:pPr>
                      <a:r>
                        <a:rPr lang="en-US" sz="960" b="1" dirty="0">
                          <a:solidFill>
                            <a:srgbClr val="1C1F26"/>
                          </a:solidFill>
                          <a:latin typeface="Calibri" pitchFamily="34" charset="0"/>
                          <a:ea typeface="Calibri" pitchFamily="34" charset="-122"/>
                          <a:cs typeface="Calibri" pitchFamily="34" charset="-120"/>
                        </a:rPr>
                        <a:t>Compounded by</a:t>
                      </a:r>
                      <a:endParaRPr lang="en-US" sz="960" dirty="0">
                        <a:latin typeface="Calibri" charset="0"/>
                        <a:ea typeface="Calibri" charset="0"/>
                        <a:cs typeface="Calibri" charset="0"/>
                      </a:endParaRPr>
                    </a:p>
                  </a:txBody>
                  <a:tcPr marL="114300" marR="114300" marT="76200" marB="762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C1F26"/>
                          </a:solidFill>
                          <a:latin typeface="Calibri" pitchFamily="34" charset="0"/>
                          <a:ea typeface="Calibri" pitchFamily="34" charset="-122"/>
                          <a:cs typeface="Calibri" pitchFamily="34" charset="-120"/>
                        </a:rPr>
                        <a:t>Covid, going-concern audit note</a:t>
                      </a:r>
                      <a:endParaRPr lang="en-US" sz="960" dirty="0">
                        <a:latin typeface="Calibri" charset="0"/>
                        <a:ea typeface="Calibri" charset="0"/>
                        <a:cs typeface="Calibri" charset="0"/>
                      </a:endParaRPr>
                    </a:p>
                  </a:txBody>
                  <a:tcPr marL="114300" marR="114300" marT="76200" marB="762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C1F26"/>
                          </a:solidFill>
                          <a:latin typeface="Calibri" pitchFamily="34" charset="0"/>
                          <a:ea typeface="Calibri" pitchFamily="34" charset="-122"/>
                          <a:cs typeface="Calibri" pitchFamily="34" charset="-120"/>
                        </a:rPr>
                        <a:t>Rejection rate at 10.1%, worst on record</a:t>
                      </a:r>
                      <a:endParaRPr lang="en-US" sz="960" dirty="0">
                        <a:latin typeface="Calibri" charset="0"/>
                        <a:ea typeface="Calibri" charset="0"/>
                        <a:cs typeface="Calibri" charset="0"/>
                      </a:endParaRPr>
                    </a:p>
                  </a:txBody>
                  <a:tcPr marL="114300" marR="114300" marT="76200" marB="762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r>
              <a:tr h="777240">
                <a:tc>
                  <a:txBody>
                    <a:bodyPr/>
                    <a:lstStyle/>
                    <a:p>
                      <a:pPr algn="l" indent="0" marL="0">
                        <a:buNone/>
                      </a:pPr>
                      <a:r>
                        <a:rPr lang="en-US" sz="960" b="1" dirty="0">
                          <a:solidFill>
                            <a:srgbClr val="1C1F26"/>
                          </a:solidFill>
                          <a:latin typeface="Calibri" pitchFamily="34" charset="0"/>
                          <a:ea typeface="Calibri" pitchFamily="34" charset="-122"/>
                          <a:cs typeface="Calibri" pitchFamily="34" charset="-120"/>
                        </a:rPr>
                        <a:t>What closed it</a:t>
                      </a:r>
                      <a:endParaRPr lang="en-US" sz="960" dirty="0">
                        <a:latin typeface="Calibri" charset="0"/>
                        <a:ea typeface="Calibri" charset="0"/>
                        <a:cs typeface="Calibri" charset="0"/>
                      </a:endParaRPr>
                    </a:p>
                  </a:txBody>
                  <a:tcPr marL="114300" marR="114300" marT="76200" marB="762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c>
                  <a:txBody>
                    <a:bodyPr/>
                    <a:lstStyle/>
                    <a:p>
                      <a:pPr algn="l" indent="0" marL="0">
                        <a:buNone/>
                      </a:pPr>
                      <a:r>
                        <a:rPr lang="en-US" sz="960" dirty="0">
                          <a:solidFill>
                            <a:srgbClr val="1C1F26"/>
                          </a:solidFill>
                          <a:latin typeface="Calibri" pitchFamily="34" charset="0"/>
                          <a:ea typeface="Calibri" pitchFamily="34" charset="-122"/>
                          <a:cs typeface="Calibri" pitchFamily="34" charset="-120"/>
                        </a:rPr>
                        <a:t>In-house localization, no fresh capex, incremental utilization gains, deeper OEM qualification (Tega)</a:t>
                      </a:r>
                      <a:endParaRPr lang="en-US" sz="960" dirty="0">
                        <a:latin typeface="Calibri" charset="0"/>
                        <a:ea typeface="Calibri" charset="0"/>
                        <a:cs typeface="Calibri" charset="0"/>
                      </a:endParaRPr>
                    </a:p>
                  </a:txBody>
                  <a:tcPr marL="114300" marR="114300" marT="76200" marB="762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c>
                  <a:txBody>
                    <a:bodyPr/>
                    <a:lstStyle/>
                    <a:p>
                      <a:pPr algn="l" indent="0" marL="0">
                        <a:buNone/>
                      </a:pPr>
                      <a:r>
                        <a:rPr lang="en-US" sz="960" dirty="0">
                          <a:solidFill>
                            <a:srgbClr val="1C1F26"/>
                          </a:solidFill>
                          <a:latin typeface="Calibri" pitchFamily="34" charset="0"/>
                          <a:ea typeface="Calibri" pitchFamily="34" charset="-122"/>
                          <a:cs typeface="Calibri" pitchFamily="34" charset="-120"/>
                        </a:rPr>
                        <a:t>Same toolkit is available — not yet evidenced as applied to this episode</a:t>
                      </a:r>
                      <a:endParaRPr lang="en-US" sz="960" dirty="0">
                        <a:latin typeface="Calibri" charset="0"/>
                        <a:ea typeface="Calibri" charset="0"/>
                        <a:cs typeface="Calibri" charset="0"/>
                      </a:endParaRPr>
                    </a:p>
                  </a:txBody>
                  <a:tcPr marL="114300" marR="114300" marT="76200" marB="762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r>
              <a:tr h="777240">
                <a:tc>
                  <a:txBody>
                    <a:bodyPr/>
                    <a:lstStyle/>
                    <a:p>
                      <a:pPr algn="l" indent="0" marL="0">
                        <a:buNone/>
                      </a:pPr>
                      <a:r>
                        <a:rPr lang="en-US" sz="960" b="1" dirty="0">
                          <a:solidFill>
                            <a:srgbClr val="1C1F26"/>
                          </a:solidFill>
                          <a:latin typeface="Calibri" pitchFamily="34" charset="0"/>
                          <a:ea typeface="Calibri" pitchFamily="34" charset="-122"/>
                          <a:cs typeface="Calibri" pitchFamily="34" charset="-120"/>
                        </a:rPr>
                        <a:t>Time to recover</a:t>
                      </a:r>
                      <a:endParaRPr lang="en-US" sz="960" dirty="0">
                        <a:latin typeface="Calibri" charset="0"/>
                        <a:ea typeface="Calibri" charset="0"/>
                        <a:cs typeface="Calibri" charset="0"/>
                      </a:endParaRPr>
                    </a:p>
                  </a:txBody>
                  <a:tcPr marL="114300" marR="114300" marT="76200" marB="762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C1F26"/>
                          </a:solidFill>
                          <a:latin typeface="Calibri" pitchFamily="34" charset="0"/>
                          <a:ea typeface="Calibri" pitchFamily="34" charset="-122"/>
                          <a:cs typeface="Calibri" pitchFamily="34" charset="-120"/>
                        </a:rPr>
                        <a:t>~2 years to first audited profit (FY23); ~4 years to record revenue (FY25-26)</a:t>
                      </a:r>
                      <a:endParaRPr lang="en-US" sz="960" dirty="0">
                        <a:latin typeface="Calibri" charset="0"/>
                        <a:ea typeface="Calibri" charset="0"/>
                        <a:cs typeface="Calibri" charset="0"/>
                      </a:endParaRPr>
                    </a:p>
                  </a:txBody>
                  <a:tcPr marL="114300" marR="114300" marT="76200" marB="762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C1F26"/>
                          </a:solidFill>
                          <a:latin typeface="Calibri" pitchFamily="34" charset="0"/>
                          <a:ea typeface="Calibri" pitchFamily="34" charset="-122"/>
                          <a:cs typeface="Calibri" pitchFamily="34" charset="-120"/>
                        </a:rPr>
                        <a:t>Unknown — this is the honest gap in the data</a:t>
                      </a:r>
                      <a:endParaRPr lang="en-US" sz="960" dirty="0">
                        <a:latin typeface="Calibri" charset="0"/>
                        <a:ea typeface="Calibri" charset="0"/>
                        <a:cs typeface="Calibri" charset="0"/>
                      </a:endParaRPr>
                    </a:p>
                  </a:txBody>
                  <a:tcPr marL="114300" marR="114300" marT="76200" marB="762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623560"/>
            <a:ext cx="11094415" cy="777240"/>
          </a:xfrm>
          <a:prstGeom prst="roundRect">
            <a:avLst>
              <a:gd name="adj" fmla="val 9412"/>
            </a:avLst>
          </a:prstGeom>
          <a:solidFill>
            <a:srgbClr val="FCEFE6"/>
          </a:solidFill>
          <a:ln/>
        </p:spPr>
      </p:sp>
      <p:sp>
        <p:nvSpPr>
          <p:cNvPr id="6" name="Text 3"/>
          <p:cNvSpPr/>
          <p:nvPr/>
        </p:nvSpPr>
        <p:spPr>
          <a:xfrm>
            <a:off x="777240" y="5623560"/>
            <a:ext cx="10637215" cy="777240"/>
          </a:xfrm>
          <a:prstGeom prst="rect">
            <a:avLst/>
          </a:prstGeom>
          <a:noFill/>
          <a:ln/>
        </p:spPr>
        <p:txBody>
          <a:bodyPr wrap="square" lIns="0" tIns="0" rIns="0" bIns="0" rtlCol="0" anchor="ctr"/>
          <a:lstStyle/>
          <a:p>
            <a:pPr indent="0" marL="0">
              <a:lnSpc>
                <a:spcPct val="115000"/>
              </a:lnSpc>
              <a:buNone/>
            </a:pPr>
            <a:r>
              <a:rPr lang="en-US" sz="980" i="1" dirty="0">
                <a:solidFill>
                  <a:srgbClr val="1C1F26"/>
                </a:solidFill>
                <a:latin typeface="Calibri" pitchFamily="34" charset="0"/>
                <a:ea typeface="Calibri" pitchFamily="34" charset="-122"/>
                <a:cs typeface="Calibri" pitchFamily="34" charset="-120"/>
              </a:rPr>
              <a:t>What this is, and isn't: this is evidence about how management responds to a shock, not a forecast that today's hurdle resolves on the same timeline. Slides 14-17 still stand — concentration, the balance sheet and the quality trend are live risks, not settled ones.</a:t>
            </a:r>
            <a:endParaRPr lang="en-US" sz="980" dirty="0"/>
          </a:p>
        </p:txBody>
      </p:sp>
      <p:sp>
        <p:nvSpPr>
          <p:cNvPr id="7" name="Text 4"/>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8"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CRITICAL ANALYSIS — BALANCE SHEET</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1C1F26"/>
                </a:solidFill>
                <a:latin typeface="Cambria" pitchFamily="34" charset="0"/>
                <a:ea typeface="Cambria" pitchFamily="34" charset="-122"/>
                <a:cs typeface="Cambria" pitchFamily="34" charset="-120"/>
              </a:rPr>
              <a:t>Net worth is negative, but closing fast — not yet at zero</a:t>
            </a:r>
            <a:endParaRPr lang="en-US" sz="3000" dirty="0"/>
          </a:p>
        </p:txBody>
      </p:sp>
      <p:graphicFrame>
        <p:nvGraphicFramePr>
          <p:cNvPr id="4" name="Chart 0" descr=""/>
          <p:cNvGraphicFramePr/>
          <p:nvPr/>
        </p:nvGraphicFramePr>
        <p:xfrm>
          <a:off x="548640" y="1737360"/>
          <a:ext cx="6035040" cy="3246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48640" y="5074920"/>
            <a:ext cx="6035040" cy="960120"/>
          </a:xfrm>
          <a:prstGeom prst="rect">
            <a:avLst/>
          </a:prstGeom>
          <a:noFill/>
          <a:ln/>
        </p:spPr>
        <p:txBody>
          <a:bodyPr wrap="square" lIns="0" tIns="0" rIns="0" bIns="0" rtlCol="0" anchor="ctr"/>
          <a:lstStyle/>
          <a:p>
            <a:pPr indent="0" marL="0">
              <a:lnSpc>
                <a:spcPct val="115000"/>
              </a:lnSpc>
              <a:buNone/>
            </a:pPr>
            <a:r>
              <a:rPr lang="en-US" sz="1000" dirty="0">
                <a:solidFill>
                  <a:srgbClr val="3A4553"/>
                </a:solidFill>
                <a:latin typeface="Calibri" pitchFamily="34" charset="0"/>
                <a:ea typeface="Calibri" pitchFamily="34" charset="-122"/>
                <a:cs typeface="Calibri" pitchFamily="34" charset="-120"/>
              </a:rPr>
              <a:t>Liabilities have exceeded assets every audited year (FY22-25) — but the gap has narrowed every year, from -₹5.94 Cr to -₹1.54 Cr. At the FY24-25 pace, FY26 crosses to positive — FY26-27's slower start (slide 12) puts that timeline at risk, though slide 13 shows a bigger gap closed before. See slide 17 for the trend.</a:t>
            </a:r>
            <a:endParaRPr lang="en-US" sz="1000" dirty="0"/>
          </a:p>
        </p:txBody>
      </p:sp>
      <p:sp>
        <p:nvSpPr>
          <p:cNvPr id="6" name="Text 3"/>
          <p:cNvSpPr/>
          <p:nvPr/>
        </p:nvSpPr>
        <p:spPr>
          <a:xfrm>
            <a:off x="548640" y="6080760"/>
            <a:ext cx="6035040" cy="274320"/>
          </a:xfrm>
          <a:prstGeom prst="rect">
            <a:avLst/>
          </a:prstGeom>
          <a:noFill/>
          <a:ln/>
        </p:spPr>
        <p:txBody>
          <a:bodyPr wrap="square" lIns="0" tIns="0" rIns="0" bIns="0" rtlCol="0" anchor="ctr"/>
          <a:lstStyle/>
          <a:p>
            <a:pPr indent="0" marL="0">
              <a:buNone/>
            </a:pPr>
            <a:r>
              <a:rPr lang="en-US" sz="800" i="1" dirty="0">
                <a:solidFill>
                  <a:srgbClr val="6B7684"/>
                </a:solidFill>
                <a:latin typeface="Calibri" pitchFamily="34" charset="0"/>
                <a:ea typeface="Calibri" pitchFamily="34" charset="-122"/>
                <a:cs typeface="Calibri" pitchFamily="34" charset="-120"/>
              </a:rPr>
              <a:t>Source: audited balance sheets, FY22-FY25.</a:t>
            </a:r>
            <a:endParaRPr lang="en-US" sz="800" dirty="0"/>
          </a:p>
        </p:txBody>
      </p:sp>
      <p:sp>
        <p:nvSpPr>
          <p:cNvPr id="7" name="Shape 4"/>
          <p:cNvSpPr/>
          <p:nvPr/>
        </p:nvSpPr>
        <p:spPr>
          <a:xfrm>
            <a:off x="6858000" y="1737360"/>
            <a:ext cx="4785055" cy="4434840"/>
          </a:xfrm>
          <a:prstGeom prst="roundRect">
            <a:avLst>
              <a:gd name="adj" fmla="val 1649"/>
            </a:avLst>
          </a:prstGeom>
          <a:solidFill>
            <a:srgbClr val="FBEEEC"/>
          </a:solidFill>
          <a:ln/>
        </p:spPr>
      </p:sp>
      <p:sp>
        <p:nvSpPr>
          <p:cNvPr id="8" name="Text 5"/>
          <p:cNvSpPr/>
          <p:nvPr/>
        </p:nvSpPr>
        <p:spPr>
          <a:xfrm>
            <a:off x="7132320" y="1920240"/>
            <a:ext cx="4236415" cy="274320"/>
          </a:xfrm>
          <a:prstGeom prst="rect">
            <a:avLst/>
          </a:prstGeom>
          <a:noFill/>
          <a:ln/>
        </p:spPr>
        <p:txBody>
          <a:bodyPr wrap="square" lIns="0" tIns="0" rIns="0" bIns="0" rtlCol="0" anchor="ctr"/>
          <a:lstStyle/>
          <a:p>
            <a:pPr indent="0" marL="0">
              <a:buNone/>
            </a:pPr>
            <a:r>
              <a:rPr lang="en-US" sz="1050" b="1" spc="100" kern="0" dirty="0">
                <a:solidFill>
                  <a:srgbClr val="B8453F"/>
                </a:solidFill>
                <a:latin typeface="Calibri" pitchFamily="34" charset="0"/>
                <a:ea typeface="Calibri" pitchFamily="34" charset="-122"/>
                <a:cs typeface="Calibri" pitchFamily="34" charset="-120"/>
              </a:rPr>
              <a:t>GOVERNANCE FLAGS</a:t>
            </a:r>
            <a:endParaRPr lang="en-US" sz="1050" dirty="0"/>
          </a:p>
        </p:txBody>
      </p:sp>
      <p:sp>
        <p:nvSpPr>
          <p:cNvPr id="9" name="Text 6"/>
          <p:cNvSpPr/>
          <p:nvPr/>
        </p:nvSpPr>
        <p:spPr>
          <a:xfrm>
            <a:off x="7132320" y="2240280"/>
            <a:ext cx="4236415" cy="237744"/>
          </a:xfrm>
          <a:prstGeom prst="rect">
            <a:avLst/>
          </a:prstGeom>
          <a:noFill/>
          <a:ln/>
        </p:spPr>
        <p:txBody>
          <a:bodyPr wrap="square" lIns="0" tIns="0" rIns="0" bIns="0" rtlCol="0" anchor="ctr"/>
          <a:lstStyle/>
          <a:p>
            <a:pPr indent="0" marL="0">
              <a:buNone/>
            </a:pPr>
            <a:r>
              <a:rPr lang="en-US" sz="1000" b="1" dirty="0">
                <a:solidFill>
                  <a:srgbClr val="1C1F26"/>
                </a:solidFill>
                <a:latin typeface="Calibri" pitchFamily="34" charset="0"/>
                <a:ea typeface="Calibri" pitchFamily="34" charset="-122"/>
                <a:cs typeface="Calibri" pitchFamily="34" charset="-120"/>
              </a:rPr>
              <a:t>Recurring audit qualification</a:t>
            </a:r>
            <a:endParaRPr lang="en-US" sz="1000" dirty="0"/>
          </a:p>
        </p:txBody>
      </p:sp>
      <p:sp>
        <p:nvSpPr>
          <p:cNvPr id="10" name="Text 7"/>
          <p:cNvSpPr/>
          <p:nvPr/>
        </p:nvSpPr>
        <p:spPr>
          <a:xfrm>
            <a:off x="7132320" y="2478024"/>
            <a:ext cx="4236415" cy="640080"/>
          </a:xfrm>
          <a:prstGeom prst="rect">
            <a:avLst/>
          </a:prstGeom>
          <a:noFill/>
          <a:ln/>
        </p:spPr>
        <p:txBody>
          <a:bodyPr wrap="square" lIns="0" tIns="0" rIns="0" bIns="0" rtlCol="0" anchor="ctr"/>
          <a:lstStyle/>
          <a:p>
            <a:pPr indent="0" marL="0">
              <a:lnSpc>
                <a:spcPct val="105000"/>
              </a:lnSpc>
              <a:buNone/>
            </a:pPr>
            <a:r>
              <a:rPr lang="en-US" sz="880" dirty="0">
                <a:solidFill>
                  <a:srgbClr val="3A4553"/>
                </a:solidFill>
                <a:latin typeface="Calibri" pitchFamily="34" charset="0"/>
                <a:ea typeface="Calibri" pitchFamily="34" charset="-122"/>
                <a:cs typeface="Calibri" pitchFamily="34" charset="-120"/>
              </a:rPr>
              <a:t>Auditors have repeatedly qualified their opinion for non-ascertainment of employee benefit liability via actuarial valuation (Ind AS 19) — a fixable gap, open across multiple years.</a:t>
            </a:r>
            <a:endParaRPr lang="en-US" sz="880" dirty="0"/>
          </a:p>
        </p:txBody>
      </p:sp>
      <p:sp>
        <p:nvSpPr>
          <p:cNvPr id="11" name="Text 8"/>
          <p:cNvSpPr/>
          <p:nvPr/>
        </p:nvSpPr>
        <p:spPr>
          <a:xfrm>
            <a:off x="7132320" y="3200400"/>
            <a:ext cx="4236415" cy="237744"/>
          </a:xfrm>
          <a:prstGeom prst="rect">
            <a:avLst/>
          </a:prstGeom>
          <a:noFill/>
          <a:ln/>
        </p:spPr>
        <p:txBody>
          <a:bodyPr wrap="square" lIns="0" tIns="0" rIns="0" bIns="0" rtlCol="0" anchor="ctr"/>
          <a:lstStyle/>
          <a:p>
            <a:pPr indent="0" marL="0">
              <a:buNone/>
            </a:pPr>
            <a:r>
              <a:rPr lang="en-US" sz="1000" b="1" dirty="0">
                <a:solidFill>
                  <a:srgbClr val="1C1F26"/>
                </a:solidFill>
                <a:latin typeface="Calibri" pitchFamily="34" charset="0"/>
                <a:ea typeface="Calibri" pitchFamily="34" charset="-122"/>
                <a:cs typeface="Calibri" pitchFamily="34" charset="-120"/>
              </a:rPr>
              <a:t>Negative net worth, narrowing</a:t>
            </a:r>
            <a:endParaRPr lang="en-US" sz="1000" dirty="0"/>
          </a:p>
        </p:txBody>
      </p:sp>
      <p:sp>
        <p:nvSpPr>
          <p:cNvPr id="12" name="Text 9"/>
          <p:cNvSpPr/>
          <p:nvPr/>
        </p:nvSpPr>
        <p:spPr>
          <a:xfrm>
            <a:off x="7132320" y="3438144"/>
            <a:ext cx="4236415" cy="640080"/>
          </a:xfrm>
          <a:prstGeom prst="rect">
            <a:avLst/>
          </a:prstGeom>
          <a:noFill/>
          <a:ln/>
        </p:spPr>
        <p:txBody>
          <a:bodyPr wrap="square" lIns="0" tIns="0" rIns="0" bIns="0" rtlCol="0" anchor="ctr"/>
          <a:lstStyle/>
          <a:p>
            <a:pPr indent="0" marL="0">
              <a:lnSpc>
                <a:spcPct val="105000"/>
              </a:lnSpc>
              <a:buNone/>
            </a:pPr>
            <a:r>
              <a:rPr lang="en-US" sz="880" dirty="0">
                <a:solidFill>
                  <a:srgbClr val="3A4553"/>
                </a:solidFill>
                <a:latin typeface="Calibri" pitchFamily="34" charset="0"/>
                <a:ea typeface="Calibri" pitchFamily="34" charset="-122"/>
                <a:cs typeface="Calibri" pitchFamily="34" charset="-120"/>
              </a:rPr>
              <a:t>-₹1.54 Cr as of FY25, down from -₹5.94 Cr in FY22. Genuine progress, but still a priority for any capital structure discussion.</a:t>
            </a:r>
            <a:endParaRPr lang="en-US" sz="880" dirty="0"/>
          </a:p>
        </p:txBody>
      </p:sp>
      <p:sp>
        <p:nvSpPr>
          <p:cNvPr id="13" name="Text 10"/>
          <p:cNvSpPr/>
          <p:nvPr/>
        </p:nvSpPr>
        <p:spPr>
          <a:xfrm>
            <a:off x="7132320" y="4160520"/>
            <a:ext cx="4236415" cy="237744"/>
          </a:xfrm>
          <a:prstGeom prst="rect">
            <a:avLst/>
          </a:prstGeom>
          <a:noFill/>
          <a:ln/>
        </p:spPr>
        <p:txBody>
          <a:bodyPr wrap="square" lIns="0" tIns="0" rIns="0" bIns="0" rtlCol="0" anchor="ctr"/>
          <a:lstStyle/>
          <a:p>
            <a:pPr indent="0" marL="0">
              <a:buNone/>
            </a:pPr>
            <a:r>
              <a:rPr lang="en-US" sz="1000" b="1" dirty="0">
                <a:solidFill>
                  <a:srgbClr val="1C1F26"/>
                </a:solidFill>
                <a:latin typeface="Calibri" pitchFamily="34" charset="0"/>
                <a:ea typeface="Calibri" pitchFamily="34" charset="-122"/>
                <a:cs typeface="Calibri" pitchFamily="34" charset="-120"/>
              </a:rPr>
              <a:t>Ownership &amp; related-party funding</a:t>
            </a:r>
            <a:endParaRPr lang="en-US" sz="1000" dirty="0"/>
          </a:p>
        </p:txBody>
      </p:sp>
      <p:sp>
        <p:nvSpPr>
          <p:cNvPr id="14" name="Text 11"/>
          <p:cNvSpPr/>
          <p:nvPr/>
        </p:nvSpPr>
        <p:spPr>
          <a:xfrm>
            <a:off x="7132320" y="4398264"/>
            <a:ext cx="4236415" cy="640080"/>
          </a:xfrm>
          <a:prstGeom prst="rect">
            <a:avLst/>
          </a:prstGeom>
          <a:noFill/>
          <a:ln/>
        </p:spPr>
        <p:txBody>
          <a:bodyPr wrap="square" lIns="0" tIns="0" rIns="0" bIns="0" rtlCol="0" anchor="ctr"/>
          <a:lstStyle/>
          <a:p>
            <a:pPr indent="0" marL="0">
              <a:lnSpc>
                <a:spcPct val="105000"/>
              </a:lnSpc>
              <a:buNone/>
            </a:pPr>
            <a:r>
              <a:rPr lang="en-US" sz="880" dirty="0">
                <a:solidFill>
                  <a:srgbClr val="3A4553"/>
                </a:solidFill>
                <a:latin typeface="Calibri" pitchFamily="34" charset="0"/>
                <a:ea typeface="Calibri" pitchFamily="34" charset="-122"/>
                <a:cs typeface="Calibri" pitchFamily="34" charset="-120"/>
              </a:rPr>
              <a:t>99.88% held by Sarvagah Engineering Pvt Ltd. A flat ₹12.90 Cr unsecured, 0%-interest convertible debenture is unchanged for 2+ years — confirm counterparty and conversion terms.</a:t>
            </a:r>
            <a:endParaRPr lang="en-US" sz="880" dirty="0"/>
          </a:p>
        </p:txBody>
      </p:sp>
      <p:sp>
        <p:nvSpPr>
          <p:cNvPr id="15" name="Text 12"/>
          <p:cNvSpPr/>
          <p:nvPr/>
        </p:nvSpPr>
        <p:spPr>
          <a:xfrm>
            <a:off x="7132320" y="5120640"/>
            <a:ext cx="4236415" cy="237744"/>
          </a:xfrm>
          <a:prstGeom prst="rect">
            <a:avLst/>
          </a:prstGeom>
          <a:noFill/>
          <a:ln/>
        </p:spPr>
        <p:txBody>
          <a:bodyPr wrap="square" lIns="0" tIns="0" rIns="0" bIns="0" rtlCol="0" anchor="ctr"/>
          <a:lstStyle/>
          <a:p>
            <a:pPr indent="0" marL="0">
              <a:buNone/>
            </a:pPr>
            <a:r>
              <a:rPr lang="en-US" sz="1000" b="1" dirty="0">
                <a:solidFill>
                  <a:srgbClr val="1C1F26"/>
                </a:solidFill>
                <a:latin typeface="Calibri" pitchFamily="34" charset="0"/>
                <a:ea typeface="Calibri" pitchFamily="34" charset="-122"/>
                <a:cs typeface="Calibri" pitchFamily="34" charset="-120"/>
              </a:rPr>
              <a:t>Historical restructuring reference</a:t>
            </a:r>
            <a:endParaRPr lang="en-US" sz="1000" dirty="0"/>
          </a:p>
        </p:txBody>
      </p:sp>
      <p:sp>
        <p:nvSpPr>
          <p:cNvPr id="16" name="Text 13"/>
          <p:cNvSpPr/>
          <p:nvPr/>
        </p:nvSpPr>
        <p:spPr>
          <a:xfrm>
            <a:off x="7132320" y="5358384"/>
            <a:ext cx="4236415" cy="640080"/>
          </a:xfrm>
          <a:prstGeom prst="rect">
            <a:avLst/>
          </a:prstGeom>
          <a:noFill/>
          <a:ln/>
        </p:spPr>
        <p:txBody>
          <a:bodyPr wrap="square" lIns="0" tIns="0" rIns="0" bIns="0" rtlCol="0" anchor="ctr"/>
          <a:lstStyle/>
          <a:p>
            <a:pPr indent="0" marL="0">
              <a:lnSpc>
                <a:spcPct val="105000"/>
              </a:lnSpc>
              <a:buNone/>
            </a:pPr>
            <a:r>
              <a:rPr lang="en-US" sz="880" dirty="0">
                <a:solidFill>
                  <a:srgbClr val="3A4553"/>
                </a:solidFill>
                <a:latin typeface="Calibri" pitchFamily="34" charset="0"/>
                <a:ea typeface="Calibri" pitchFamily="34" charset="-122"/>
                <a:cs typeface="Calibri" pitchFamily="34" charset="-120"/>
              </a:rPr>
              <a:t>One internal document references “post-NCLT” status. A decade-long turnover statement shows a ₹51.47 Cr exceptional gain in FY2018-19 against an operating loss that year — likely this event, not formally confirmed. Confirm mechanism and terms before external circulation.</a:t>
            </a:r>
            <a:endParaRPr lang="en-US" sz="880" dirty="0"/>
          </a:p>
        </p:txBody>
      </p:sp>
      <p:sp>
        <p:nvSpPr>
          <p:cNvPr id="17" name="Text 14"/>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18" name="Text 1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GOVERNANCE — MANAGEMENT COMPENSATION</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1C1F26"/>
                </a:solidFill>
                <a:latin typeface="Cambria" pitchFamily="34" charset="0"/>
                <a:ea typeface="Cambria" pitchFamily="34" charset="-122"/>
                <a:cs typeface="Cambria" pitchFamily="34" charset="-120"/>
              </a:rPr>
              <a:t>CEO compensation has tracked turnover for five years — FY26-27 is the test</a:t>
            </a:r>
            <a:endParaRPr lang="en-US" sz="3000" dirty="0"/>
          </a:p>
        </p:txBody>
      </p:sp>
      <p:graphicFrame>
        <p:nvGraphicFramePr>
          <p:cNvPr id="4" name="Chart 0" descr=""/>
          <p:cNvGraphicFramePr/>
          <p:nvPr/>
        </p:nvGraphicFramePr>
        <p:xfrm>
          <a:off x="548640" y="1737360"/>
          <a:ext cx="640080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48640" y="5074920"/>
            <a:ext cx="6400800" cy="502920"/>
          </a:xfrm>
          <a:prstGeom prst="rect">
            <a:avLst/>
          </a:prstGeom>
          <a:noFill/>
          <a:ln/>
        </p:spPr>
        <p:txBody>
          <a:bodyPr wrap="square" lIns="0" tIns="0" rIns="0" bIns="0" rtlCol="0" anchor="ctr"/>
          <a:lstStyle/>
          <a:p>
            <a:pPr indent="0" marL="0">
              <a:lnSpc>
                <a:spcPct val="110000"/>
              </a:lnSpc>
              <a:buNone/>
            </a:pPr>
            <a:r>
              <a:rPr lang="en-US" sz="900" i="1" dirty="0">
                <a:solidFill>
                  <a:srgbClr val="6B7684"/>
                </a:solidFill>
                <a:latin typeface="Calibri" pitchFamily="34" charset="0"/>
                <a:ea typeface="Calibri" pitchFamily="34" charset="-122"/>
                <a:cs typeface="Calibri" pitchFamily="34" charset="-120"/>
              </a:rPr>
              <a:t>Five straight years in a 1.26%-1.72% band — compensation scaled with the business, not ahead of it. Source: internal CTC records vs. audited/turnover-statement revenue.</a:t>
            </a:r>
            <a:endParaRPr lang="en-US" sz="900" dirty="0"/>
          </a:p>
        </p:txBody>
      </p:sp>
      <p:sp>
        <p:nvSpPr>
          <p:cNvPr id="6" name="Text 3"/>
          <p:cNvSpPr/>
          <p:nvPr/>
        </p:nvSpPr>
        <p:spPr>
          <a:xfrm>
            <a:off x="7223760" y="1737360"/>
            <a:ext cx="4419295" cy="411480"/>
          </a:xfrm>
          <a:prstGeom prst="rect">
            <a:avLst/>
          </a:prstGeom>
          <a:noFill/>
          <a:ln/>
        </p:spPr>
        <p:txBody>
          <a:bodyPr wrap="square" lIns="0" tIns="0" rIns="0" bIns="0" rtlCol="0" anchor="ctr"/>
          <a:lstStyle/>
          <a:p>
            <a:pPr indent="0" marL="0">
              <a:buNone/>
            </a:pPr>
            <a:r>
              <a:rPr lang="en-US" sz="2100" b="1" dirty="0">
                <a:solidFill>
                  <a:srgbClr val="1C1F26"/>
                </a:solidFill>
                <a:latin typeface="Cambria" pitchFamily="34" charset="0"/>
                <a:ea typeface="Cambria" pitchFamily="34" charset="-122"/>
                <a:cs typeface="Cambria" pitchFamily="34" charset="-120"/>
              </a:rPr>
              <a:t>1.18x</a:t>
            </a:r>
            <a:endParaRPr lang="en-US" sz="2100" dirty="0"/>
          </a:p>
        </p:txBody>
      </p:sp>
      <p:sp>
        <p:nvSpPr>
          <p:cNvPr id="7" name="Text 4"/>
          <p:cNvSpPr/>
          <p:nvPr/>
        </p:nvSpPr>
        <p:spPr>
          <a:xfrm>
            <a:off x="7223760" y="2139696"/>
            <a:ext cx="4419295" cy="685800"/>
          </a:xfrm>
          <a:prstGeom prst="rect">
            <a:avLst/>
          </a:prstGeom>
          <a:noFill/>
          <a:ln/>
        </p:spPr>
        <p:txBody>
          <a:bodyPr wrap="square" lIns="0" tIns="0" rIns="0" bIns="0" rtlCol="0" anchor="ctr"/>
          <a:lstStyle/>
          <a:p>
            <a:pPr indent="0" marL="0">
              <a:lnSpc>
                <a:spcPct val="115000"/>
              </a:lnSpc>
              <a:buNone/>
            </a:pPr>
            <a:r>
              <a:rPr lang="en-US" sz="950" dirty="0">
                <a:solidFill>
                  <a:srgbClr val="3A4553"/>
                </a:solidFill>
                <a:latin typeface="Calibri" pitchFamily="34" charset="0"/>
                <a:ea typeface="Calibri" pitchFamily="34" charset="-122"/>
                <a:cs typeface="Calibri" pitchFamily="34" charset="-120"/>
              </a:rPr>
              <a:t>CEO CTC vs. CFO CTC, FY26-27 — a narrow premium, consistent across all 5 years</a:t>
            </a:r>
            <a:endParaRPr lang="en-US" sz="950" dirty="0"/>
          </a:p>
        </p:txBody>
      </p:sp>
      <p:sp>
        <p:nvSpPr>
          <p:cNvPr id="8" name="Text 5"/>
          <p:cNvSpPr/>
          <p:nvPr/>
        </p:nvSpPr>
        <p:spPr>
          <a:xfrm>
            <a:off x="7223760" y="2907792"/>
            <a:ext cx="4419295" cy="411480"/>
          </a:xfrm>
          <a:prstGeom prst="rect">
            <a:avLst/>
          </a:prstGeom>
          <a:noFill/>
          <a:ln/>
        </p:spPr>
        <p:txBody>
          <a:bodyPr wrap="square" lIns="0" tIns="0" rIns="0" bIns="0" rtlCol="0" anchor="ctr"/>
          <a:lstStyle/>
          <a:p>
            <a:pPr indent="0" marL="0">
              <a:buNone/>
            </a:pPr>
            <a:r>
              <a:rPr lang="en-US" sz="2100" b="1" dirty="0">
                <a:solidFill>
                  <a:srgbClr val="1C1F26"/>
                </a:solidFill>
                <a:latin typeface="Cambria" pitchFamily="34" charset="0"/>
                <a:ea typeface="Cambria" pitchFamily="34" charset="-122"/>
                <a:cs typeface="Cambria" pitchFamily="34" charset="-120"/>
              </a:rPr>
              <a:t>61.5%</a:t>
            </a:r>
            <a:endParaRPr lang="en-US" sz="2100" dirty="0"/>
          </a:p>
        </p:txBody>
      </p:sp>
      <p:sp>
        <p:nvSpPr>
          <p:cNvPr id="9" name="Text 6"/>
          <p:cNvSpPr/>
          <p:nvPr/>
        </p:nvSpPr>
        <p:spPr>
          <a:xfrm>
            <a:off x="7223760" y="3310128"/>
            <a:ext cx="4419295" cy="685800"/>
          </a:xfrm>
          <a:prstGeom prst="rect">
            <a:avLst/>
          </a:prstGeom>
          <a:noFill/>
          <a:ln/>
        </p:spPr>
        <p:txBody>
          <a:bodyPr wrap="square" lIns="0" tIns="0" rIns="0" bIns="0" rtlCol="0" anchor="ctr"/>
          <a:lstStyle/>
          <a:p>
            <a:pPr indent="0" marL="0">
              <a:lnSpc>
                <a:spcPct val="115000"/>
              </a:lnSpc>
              <a:buNone/>
            </a:pPr>
            <a:r>
              <a:rPr lang="en-US" sz="950" dirty="0">
                <a:solidFill>
                  <a:srgbClr val="3A4553"/>
                </a:solidFill>
                <a:latin typeface="Calibri" pitchFamily="34" charset="0"/>
                <a:ea typeface="Calibri" pitchFamily="34" charset="-122"/>
                <a:cs typeface="Calibri" pitchFamily="34" charset="-120"/>
              </a:rPr>
              <a:t>CEO's CTC relative to the combined CTC of the other 28 listed staff (ex-CFO), FY26-27</a:t>
            </a:r>
            <a:endParaRPr lang="en-US" sz="950" dirty="0"/>
          </a:p>
        </p:txBody>
      </p:sp>
      <p:sp>
        <p:nvSpPr>
          <p:cNvPr id="10" name="Text 7"/>
          <p:cNvSpPr/>
          <p:nvPr/>
        </p:nvSpPr>
        <p:spPr>
          <a:xfrm>
            <a:off x="7223760" y="4078224"/>
            <a:ext cx="4419295" cy="411480"/>
          </a:xfrm>
          <a:prstGeom prst="rect">
            <a:avLst/>
          </a:prstGeom>
          <a:noFill/>
          <a:ln/>
        </p:spPr>
        <p:txBody>
          <a:bodyPr wrap="square" lIns="0" tIns="0" rIns="0" bIns="0" rtlCol="0" anchor="ctr"/>
          <a:lstStyle/>
          <a:p>
            <a:pPr indent="0" marL="0">
              <a:buNone/>
            </a:pPr>
            <a:r>
              <a:rPr lang="en-US" sz="2100" b="1" dirty="0">
                <a:solidFill>
                  <a:srgbClr val="1C1F26"/>
                </a:solidFill>
                <a:latin typeface="Cambria" pitchFamily="34" charset="0"/>
                <a:ea typeface="Cambria" pitchFamily="34" charset="-122"/>
                <a:cs typeface="Cambria" pitchFamily="34" charset="-120"/>
              </a:rPr>
              <a:t>24%/yr</a:t>
            </a:r>
            <a:endParaRPr lang="en-US" sz="2100" dirty="0"/>
          </a:p>
        </p:txBody>
      </p:sp>
      <p:sp>
        <p:nvSpPr>
          <p:cNvPr id="11" name="Text 8"/>
          <p:cNvSpPr/>
          <p:nvPr/>
        </p:nvSpPr>
        <p:spPr>
          <a:xfrm>
            <a:off x="7223760" y="4480560"/>
            <a:ext cx="4419295" cy="685800"/>
          </a:xfrm>
          <a:prstGeom prst="rect">
            <a:avLst/>
          </a:prstGeom>
          <a:noFill/>
          <a:ln/>
        </p:spPr>
        <p:txBody>
          <a:bodyPr wrap="square" lIns="0" tIns="0" rIns="0" bIns="0" rtlCol="0" anchor="ctr"/>
          <a:lstStyle/>
          <a:p>
            <a:pPr indent="0" marL="0">
              <a:lnSpc>
                <a:spcPct val="115000"/>
              </a:lnSpc>
              <a:buNone/>
            </a:pPr>
            <a:r>
              <a:rPr lang="en-US" sz="950" dirty="0">
                <a:solidFill>
                  <a:srgbClr val="3A4553"/>
                </a:solidFill>
                <a:latin typeface="Calibri" pitchFamily="34" charset="0"/>
                <a:ea typeface="Calibri" pitchFamily="34" charset="-122"/>
                <a:cs typeface="Calibri" pitchFamily="34" charset="-120"/>
              </a:rPr>
              <a:t>CEO CTC 5-year CAGR — faster than most operating roles (6-17%/yr), in line with the CFO (21%/yr)</a:t>
            </a:r>
            <a:endParaRPr lang="en-US" sz="950" dirty="0"/>
          </a:p>
        </p:txBody>
      </p:sp>
      <p:sp>
        <p:nvSpPr>
          <p:cNvPr id="12" name="Shape 9"/>
          <p:cNvSpPr/>
          <p:nvPr/>
        </p:nvSpPr>
        <p:spPr>
          <a:xfrm>
            <a:off x="548640" y="5669280"/>
            <a:ext cx="11094415" cy="777240"/>
          </a:xfrm>
          <a:prstGeom prst="roundRect">
            <a:avLst>
              <a:gd name="adj" fmla="val 9412"/>
            </a:avLst>
          </a:prstGeom>
          <a:solidFill>
            <a:srgbClr val="FBEEEC"/>
          </a:solidFill>
          <a:ln/>
        </p:spPr>
      </p:sp>
      <p:sp>
        <p:nvSpPr>
          <p:cNvPr id="13" name="Text 10"/>
          <p:cNvSpPr/>
          <p:nvPr/>
        </p:nvSpPr>
        <p:spPr>
          <a:xfrm>
            <a:off x="777240" y="5669280"/>
            <a:ext cx="10637215" cy="777240"/>
          </a:xfrm>
          <a:prstGeom prst="rect">
            <a:avLst/>
          </a:prstGeom>
          <a:noFill/>
          <a:ln/>
        </p:spPr>
        <p:txBody>
          <a:bodyPr wrap="square" lIns="0" tIns="0" rIns="0" bIns="0" rtlCol="0" anchor="ctr"/>
          <a:lstStyle/>
          <a:p>
            <a:pPr indent="0" marL="0">
              <a:lnSpc>
                <a:spcPct val="112000"/>
              </a:lnSpc>
              <a:buNone/>
            </a:pPr>
            <a:r>
              <a:rPr lang="en-US" sz="950" i="1" dirty="0">
                <a:solidFill>
                  <a:srgbClr val="B8453F"/>
                </a:solidFill>
                <a:latin typeface="Calibri" pitchFamily="34" charset="0"/>
                <a:ea typeface="Calibri" pitchFamily="34" charset="-122"/>
                <a:cs typeface="Calibri" pitchFamily="34" charset="-120"/>
              </a:rPr>
              <a:t>FY26-27, untested: CTC was set 29% higher than FY25-26 — but Q1 revenue is down 42% YoY (slide 12). At last year's turnover (₹25.9 Cr) the ratio becomes 1.95%; at the pace Q1 implies (~₹20.5 Cr) it becomes 2.47%. Either way, this is the first year in five the pattern may not hold.</a:t>
            </a:r>
            <a:endParaRPr lang="en-US" sz="950" dirty="0"/>
          </a:p>
        </p:txBody>
      </p:sp>
      <p:sp>
        <p:nvSpPr>
          <p:cNvPr id="14" name="Text 11"/>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15" name="Text 1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C1F26"/>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GOVERNANCE — THE FRAMEWORK</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Why turnover is the right anchor — and what compensation should be</a:t>
            </a:r>
            <a:endParaRPr lang="en-US" sz="3000" dirty="0"/>
          </a:p>
        </p:txBody>
      </p:sp>
      <p:sp>
        <p:nvSpPr>
          <p:cNvPr id="4" name="Shape 2"/>
          <p:cNvSpPr/>
          <p:nvPr/>
        </p:nvSpPr>
        <p:spPr>
          <a:xfrm>
            <a:off x="548640" y="1737360"/>
            <a:ext cx="384048" cy="384048"/>
          </a:xfrm>
          <a:prstGeom prst="ellipse">
            <a:avLst/>
          </a:prstGeom>
          <a:solidFill>
            <a:srgbClr val="D9622B"/>
          </a:solidFill>
          <a:ln/>
        </p:spPr>
      </p:sp>
      <p:sp>
        <p:nvSpPr>
          <p:cNvPr id="5" name="Text 3"/>
          <p:cNvSpPr/>
          <p:nvPr/>
        </p:nvSpPr>
        <p:spPr>
          <a:xfrm>
            <a:off x="548640" y="173736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1</a:t>
            </a:r>
            <a:endParaRPr lang="en-US" sz="1092" dirty="0"/>
          </a:p>
        </p:txBody>
      </p:sp>
      <p:sp>
        <p:nvSpPr>
          <p:cNvPr id="6" name="Text 4"/>
          <p:cNvSpPr/>
          <p:nvPr/>
        </p:nvSpPr>
        <p:spPr>
          <a:xfrm>
            <a:off x="1115568" y="1709928"/>
            <a:ext cx="10527487"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No statutory cap applies</a:t>
            </a:r>
            <a:endParaRPr lang="en-US" sz="1350" dirty="0"/>
          </a:p>
        </p:txBody>
      </p:sp>
      <p:sp>
        <p:nvSpPr>
          <p:cNvPr id="7" name="Text 5"/>
          <p:cNvSpPr/>
          <p:nvPr/>
        </p:nvSpPr>
        <p:spPr>
          <a:xfrm>
            <a:off x="1115568" y="2084832"/>
            <a:ext cx="10527487" cy="594360"/>
          </a:xfrm>
          <a:prstGeom prst="rect">
            <a:avLst/>
          </a:prstGeom>
          <a:noFill/>
          <a:ln/>
        </p:spPr>
        <p:txBody>
          <a:bodyPr wrap="square" lIns="0" tIns="0" rIns="0" bIns="0" rtlCol="0" anchor="ctr"/>
          <a:lstStyle/>
          <a:p>
            <a:pPr indent="0" marL="0">
              <a:lnSpc>
                <a:spcPct val="115000"/>
              </a:lnSpc>
              <a:buNone/>
            </a:pPr>
            <a:r>
              <a:rPr lang="en-US" sz="1000" dirty="0">
                <a:solidFill>
                  <a:srgbClr val="CBD3DC"/>
                </a:solidFill>
                <a:latin typeface="Calibri" pitchFamily="34" charset="0"/>
                <a:ea typeface="Calibri" pitchFamily="34" charset="-122"/>
                <a:cs typeface="Calibri" pitchFamily="34" charset="-120"/>
              </a:rPr>
              <a:t>Datre is a private limited company. The Companies Act's profit-linked remuneration caps (Section 197) bind public companies, not this one — there's no legal reason profit has to be the reference point.</a:t>
            </a:r>
            <a:endParaRPr lang="en-US" sz="1000" dirty="0"/>
          </a:p>
        </p:txBody>
      </p:sp>
      <p:sp>
        <p:nvSpPr>
          <p:cNvPr id="8" name="Shape 6"/>
          <p:cNvSpPr/>
          <p:nvPr/>
        </p:nvSpPr>
        <p:spPr>
          <a:xfrm>
            <a:off x="548640" y="2788920"/>
            <a:ext cx="384048" cy="384048"/>
          </a:xfrm>
          <a:prstGeom prst="ellipse">
            <a:avLst/>
          </a:prstGeom>
          <a:solidFill>
            <a:srgbClr val="D9622B"/>
          </a:solidFill>
          <a:ln/>
        </p:spPr>
      </p:sp>
      <p:sp>
        <p:nvSpPr>
          <p:cNvPr id="9" name="Text 7"/>
          <p:cNvSpPr/>
          <p:nvPr/>
        </p:nvSpPr>
        <p:spPr>
          <a:xfrm>
            <a:off x="548640" y="278892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2</a:t>
            </a:r>
            <a:endParaRPr lang="en-US" sz="1092" dirty="0"/>
          </a:p>
        </p:txBody>
      </p:sp>
      <p:sp>
        <p:nvSpPr>
          <p:cNvPr id="10" name="Text 8"/>
          <p:cNvSpPr/>
          <p:nvPr/>
        </p:nvSpPr>
        <p:spPr>
          <a:xfrm>
            <a:off x="1115568" y="2761488"/>
            <a:ext cx="10527487"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Turnover is the stable base</a:t>
            </a:r>
            <a:endParaRPr lang="en-US" sz="1350" dirty="0"/>
          </a:p>
        </p:txBody>
      </p:sp>
      <p:sp>
        <p:nvSpPr>
          <p:cNvPr id="11" name="Text 9"/>
          <p:cNvSpPr/>
          <p:nvPr/>
        </p:nvSpPr>
        <p:spPr>
          <a:xfrm>
            <a:off x="1115568" y="3136392"/>
            <a:ext cx="10527487" cy="594360"/>
          </a:xfrm>
          <a:prstGeom prst="rect">
            <a:avLst/>
          </a:prstGeom>
          <a:noFill/>
          <a:ln/>
        </p:spPr>
        <p:txBody>
          <a:bodyPr wrap="square" lIns="0" tIns="0" rIns="0" bIns="0" rtlCol="0" anchor="ctr"/>
          <a:lstStyle/>
          <a:p>
            <a:pPr indent="0" marL="0">
              <a:lnSpc>
                <a:spcPct val="115000"/>
              </a:lnSpc>
              <a:buNone/>
            </a:pPr>
            <a:r>
              <a:rPr lang="en-US" sz="1000" dirty="0">
                <a:solidFill>
                  <a:srgbClr val="CBD3DC"/>
                </a:solidFill>
                <a:latin typeface="Calibri" pitchFamily="34" charset="0"/>
                <a:ea typeface="Calibri" pitchFamily="34" charset="-122"/>
                <a:cs typeface="Calibri" pitchFamily="34" charset="-120"/>
              </a:rPr>
              <a:t>Datre ran losses or near-breakeven for most of FY16-FY22. A profit-linked formula would have paid the CEO almost nothing through the exact years he was engineering the turnaround, and only rewarded him after the fact.</a:t>
            </a:r>
            <a:endParaRPr lang="en-US" sz="1000" dirty="0"/>
          </a:p>
        </p:txBody>
      </p:sp>
      <p:sp>
        <p:nvSpPr>
          <p:cNvPr id="12" name="Shape 10"/>
          <p:cNvSpPr/>
          <p:nvPr/>
        </p:nvSpPr>
        <p:spPr>
          <a:xfrm>
            <a:off x="548640" y="3840480"/>
            <a:ext cx="384048" cy="384048"/>
          </a:xfrm>
          <a:prstGeom prst="ellipse">
            <a:avLst/>
          </a:prstGeom>
          <a:solidFill>
            <a:srgbClr val="D9622B"/>
          </a:solidFill>
          <a:ln/>
        </p:spPr>
      </p:sp>
      <p:sp>
        <p:nvSpPr>
          <p:cNvPr id="13" name="Text 11"/>
          <p:cNvSpPr/>
          <p:nvPr/>
        </p:nvSpPr>
        <p:spPr>
          <a:xfrm>
            <a:off x="548640" y="384048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3</a:t>
            </a:r>
            <a:endParaRPr lang="en-US" sz="1092" dirty="0"/>
          </a:p>
        </p:txBody>
      </p:sp>
      <p:sp>
        <p:nvSpPr>
          <p:cNvPr id="14" name="Text 12"/>
          <p:cNvSpPr/>
          <p:nvPr/>
        </p:nvSpPr>
        <p:spPr>
          <a:xfrm>
            <a:off x="1115568" y="3813048"/>
            <a:ext cx="10527487"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It resists being gamed</a:t>
            </a:r>
            <a:endParaRPr lang="en-US" sz="1350" dirty="0"/>
          </a:p>
        </p:txBody>
      </p:sp>
      <p:sp>
        <p:nvSpPr>
          <p:cNvPr id="15" name="Text 13"/>
          <p:cNvSpPr/>
          <p:nvPr/>
        </p:nvSpPr>
        <p:spPr>
          <a:xfrm>
            <a:off x="1115568" y="4187952"/>
            <a:ext cx="10527487" cy="594360"/>
          </a:xfrm>
          <a:prstGeom prst="rect">
            <a:avLst/>
          </a:prstGeom>
          <a:noFill/>
          <a:ln/>
        </p:spPr>
        <p:txBody>
          <a:bodyPr wrap="square" lIns="0" tIns="0" rIns="0" bIns="0" rtlCol="0" anchor="ctr"/>
          <a:lstStyle/>
          <a:p>
            <a:pPr indent="0" marL="0">
              <a:lnSpc>
                <a:spcPct val="115000"/>
              </a:lnSpc>
              <a:buNone/>
            </a:pPr>
            <a:r>
              <a:rPr lang="en-US" sz="1000" dirty="0">
                <a:solidFill>
                  <a:srgbClr val="CBD3DC"/>
                </a:solidFill>
                <a:latin typeface="Calibri" pitchFamily="34" charset="0"/>
                <a:ea typeface="Calibri" pitchFamily="34" charset="-122"/>
                <a:cs typeface="Calibri" pitchFamily="34" charset="-120"/>
              </a:rPr>
              <a:t>Profit is sensitive to expense timing and provisioning — the same Ind AS 19 gap and FY26 capex-as-abnormal-expense treatment flagged on slide 14. Turnover is harder to manipulate and cleaner to benchmark against.</a:t>
            </a:r>
            <a:endParaRPr lang="en-US" sz="1000" dirty="0"/>
          </a:p>
        </p:txBody>
      </p:sp>
      <p:sp>
        <p:nvSpPr>
          <p:cNvPr id="16" name="Shape 14"/>
          <p:cNvSpPr/>
          <p:nvPr/>
        </p:nvSpPr>
        <p:spPr>
          <a:xfrm>
            <a:off x="548640" y="4846320"/>
            <a:ext cx="11094415" cy="1097280"/>
          </a:xfrm>
          <a:prstGeom prst="roundRect">
            <a:avLst>
              <a:gd name="adj" fmla="val 6667"/>
            </a:avLst>
          </a:prstGeom>
          <a:solidFill>
            <a:srgbClr val="262B34"/>
          </a:solidFill>
          <a:ln/>
        </p:spPr>
      </p:sp>
      <p:sp>
        <p:nvSpPr>
          <p:cNvPr id="17" name="Text 15"/>
          <p:cNvSpPr/>
          <p:nvPr/>
        </p:nvSpPr>
        <p:spPr>
          <a:xfrm>
            <a:off x="822960" y="4983480"/>
            <a:ext cx="10545775" cy="274320"/>
          </a:xfrm>
          <a:prstGeom prst="rect">
            <a:avLst/>
          </a:prstGeom>
          <a:noFill/>
          <a:ln/>
        </p:spPr>
        <p:txBody>
          <a:bodyPr wrap="square" lIns="0" tIns="0" rIns="0" bIns="0" rtlCol="0" anchor="ctr"/>
          <a:lstStyle/>
          <a:p>
            <a:pPr indent="0" marL="0">
              <a:buNone/>
            </a:pPr>
            <a:r>
              <a:rPr lang="en-US" sz="1000" b="1" spc="100" kern="0" dirty="0">
                <a:solidFill>
                  <a:srgbClr val="E8B84B"/>
                </a:solidFill>
                <a:latin typeface="Calibri" pitchFamily="34" charset="0"/>
                <a:ea typeface="Calibri" pitchFamily="34" charset="-122"/>
                <a:cs typeface="Calibri" pitchFamily="34" charset="-120"/>
              </a:rPr>
              <a:t>RECOMMENDATION</a:t>
            </a:r>
            <a:endParaRPr lang="en-US" sz="1000" dirty="0"/>
          </a:p>
        </p:txBody>
      </p:sp>
      <p:sp>
        <p:nvSpPr>
          <p:cNvPr id="18" name="Text 16"/>
          <p:cNvSpPr/>
          <p:nvPr/>
        </p:nvSpPr>
        <p:spPr>
          <a:xfrm>
            <a:off x="822960" y="5257800"/>
            <a:ext cx="10545775" cy="621792"/>
          </a:xfrm>
          <a:prstGeom prst="rect">
            <a:avLst/>
          </a:prstGeom>
          <a:noFill/>
          <a:ln/>
        </p:spPr>
        <p:txBody>
          <a:bodyPr wrap="square" lIns="0" tIns="0" rIns="0" bIns="0" rtlCol="0" anchor="ctr"/>
          <a:lstStyle/>
          <a:p>
            <a:pPr indent="0" marL="0">
              <a:lnSpc>
                <a:spcPct val="110000"/>
              </a:lnSpc>
              <a:buNone/>
            </a:pPr>
            <a:r>
              <a:rPr lang="en-US" sz="1000" dirty="0">
                <a:solidFill>
                  <a:srgbClr val="FFFFFF"/>
                </a:solidFill>
                <a:latin typeface="Calibri" pitchFamily="34" charset="0"/>
                <a:ea typeface="Calibri" pitchFamily="34" charset="-122"/>
                <a:cs typeface="Calibri" pitchFamily="34" charset="-120"/>
              </a:rPr>
              <a:t>Anchor CEO CTC to 1.5%-1.7% of trailing-twelve-month audited turnover — the band Datre's own 5-year record already supports. Revise annually at Board level off the prior full audited year, not projections; any increase beyond the band should require Board justification, as FY26-27's now does.</a:t>
            </a:r>
            <a:endParaRPr lang="en-US" sz="1000" dirty="0"/>
          </a:p>
        </p:txBody>
      </p:sp>
      <p:sp>
        <p:nvSpPr>
          <p:cNvPr id="19" name="Text 17"/>
          <p:cNvSpPr/>
          <p:nvPr/>
        </p:nvSpPr>
        <p:spPr>
          <a:xfrm>
            <a:off x="548640" y="6053328"/>
            <a:ext cx="11094415" cy="320040"/>
          </a:xfrm>
          <a:prstGeom prst="rect">
            <a:avLst/>
          </a:prstGeom>
          <a:noFill/>
          <a:ln/>
        </p:spPr>
        <p:txBody>
          <a:bodyPr wrap="square" lIns="0" tIns="0" rIns="0" bIns="0" rtlCol="0" anchor="ctr"/>
          <a:lstStyle/>
          <a:p>
            <a:pPr indent="0" marL="0">
              <a:lnSpc>
                <a:spcPct val="110000"/>
              </a:lnSpc>
              <a:buNone/>
            </a:pPr>
            <a:r>
              <a:rPr lang="en-US" sz="850" i="1" dirty="0">
                <a:solidFill>
                  <a:srgbClr val="9AA2AD"/>
                </a:solidFill>
                <a:latin typeface="Calibri" pitchFamily="34" charset="0"/>
                <a:ea typeface="Calibri" pitchFamily="34" charset="-122"/>
                <a:cs typeface="Calibri" pitchFamily="34" charset="-120"/>
              </a:rPr>
              <a:t>This framework is grounded in Datre's own history, not a verified external benchmark. Recommend a formal SME/foundry-sector compensation study before treating it as permanent.</a:t>
            </a:r>
            <a:endParaRPr lang="en-US" sz="850" dirty="0"/>
          </a:p>
        </p:txBody>
      </p:sp>
      <p:sp>
        <p:nvSpPr>
          <p:cNvPr id="20" name="Text 18"/>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8B93A0"/>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21"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8B93A0"/>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THE PROGRESS CASE</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1C1F26"/>
                </a:solidFill>
                <a:latin typeface="Cambria" pitchFamily="34" charset="0"/>
                <a:ea typeface="Cambria" pitchFamily="34" charset="-122"/>
                <a:cs typeface="Cambria" pitchFamily="34" charset="-120"/>
              </a:rPr>
              <a:t>Four numbers that show this is a multi-year rebuild, not one good year</a:t>
            </a:r>
            <a:endParaRPr lang="en-US" sz="3000" dirty="0"/>
          </a:p>
        </p:txBody>
      </p:sp>
      <p:sp>
        <p:nvSpPr>
          <p:cNvPr id="4" name="Shape 2"/>
          <p:cNvSpPr/>
          <p:nvPr/>
        </p:nvSpPr>
        <p:spPr>
          <a:xfrm>
            <a:off x="548640" y="1737360"/>
            <a:ext cx="2567864" cy="1600200"/>
          </a:xfrm>
          <a:prstGeom prst="roundRect">
            <a:avLst>
              <a:gd name="adj" fmla="val 4571"/>
            </a:avLst>
          </a:prstGeom>
          <a:solidFill>
            <a:srgbClr val="EDF5EF"/>
          </a:solidFill>
          <a:ln/>
        </p:spPr>
      </p:sp>
      <p:sp>
        <p:nvSpPr>
          <p:cNvPr id="5" name="Text 3"/>
          <p:cNvSpPr/>
          <p:nvPr/>
        </p:nvSpPr>
        <p:spPr>
          <a:xfrm>
            <a:off x="713232" y="1874520"/>
            <a:ext cx="2238680" cy="502920"/>
          </a:xfrm>
          <a:prstGeom prst="rect">
            <a:avLst/>
          </a:prstGeom>
          <a:noFill/>
          <a:ln/>
        </p:spPr>
        <p:txBody>
          <a:bodyPr wrap="square" lIns="0" tIns="0" rIns="0" bIns="0" rtlCol="0" anchor="ctr"/>
          <a:lstStyle/>
          <a:p>
            <a:pPr indent="0" marL="0">
              <a:buNone/>
            </a:pPr>
            <a:r>
              <a:rPr lang="en-US" sz="2400" b="1" dirty="0">
                <a:solidFill>
                  <a:srgbClr val="3F8F5F"/>
                </a:solidFill>
                <a:latin typeface="Cambria" pitchFamily="34" charset="0"/>
                <a:ea typeface="Cambria" pitchFamily="34" charset="-122"/>
                <a:cs typeface="Cambria" pitchFamily="34" charset="-120"/>
              </a:rPr>
              <a:t>~25%</a:t>
            </a:r>
            <a:endParaRPr lang="en-US" sz="2400" dirty="0"/>
          </a:p>
        </p:txBody>
      </p:sp>
      <p:sp>
        <p:nvSpPr>
          <p:cNvPr id="6" name="Text 4"/>
          <p:cNvSpPr/>
          <p:nvPr/>
        </p:nvSpPr>
        <p:spPr>
          <a:xfrm>
            <a:off x="713232" y="2395728"/>
            <a:ext cx="2238680" cy="502920"/>
          </a:xfrm>
          <a:prstGeom prst="rect">
            <a:avLst/>
          </a:prstGeom>
          <a:noFill/>
          <a:ln/>
        </p:spPr>
        <p:txBody>
          <a:bodyPr wrap="square" lIns="0" tIns="0" rIns="0" bIns="0" rtlCol="0" anchor="ctr"/>
          <a:lstStyle/>
          <a:p>
            <a:pPr indent="0" marL="0">
              <a:lnSpc>
                <a:spcPct val="105000"/>
              </a:lnSpc>
              <a:buNone/>
            </a:pPr>
            <a:r>
              <a:rPr lang="en-US" sz="1030" b="1" dirty="0">
                <a:solidFill>
                  <a:srgbClr val="1C1F26"/>
                </a:solidFill>
                <a:latin typeface="Calibri" pitchFamily="34" charset="0"/>
                <a:ea typeface="Calibri" pitchFamily="34" charset="-122"/>
                <a:cs typeface="Calibri" pitchFamily="34" charset="-120"/>
              </a:rPr>
              <a:t>Revenue CAGR, FY21 trough to FY25-26</a:t>
            </a:r>
            <a:endParaRPr lang="en-US" sz="1030" dirty="0"/>
          </a:p>
        </p:txBody>
      </p:sp>
      <p:sp>
        <p:nvSpPr>
          <p:cNvPr id="7" name="Text 5"/>
          <p:cNvSpPr/>
          <p:nvPr/>
        </p:nvSpPr>
        <p:spPr>
          <a:xfrm>
            <a:off x="713232" y="2889504"/>
            <a:ext cx="2238680" cy="411480"/>
          </a:xfrm>
          <a:prstGeom prst="rect">
            <a:avLst/>
          </a:prstGeom>
          <a:noFill/>
          <a:ln/>
        </p:spPr>
        <p:txBody>
          <a:bodyPr wrap="square" lIns="0" tIns="0" rIns="0" bIns="0" rtlCol="0" anchor="ctr"/>
          <a:lstStyle/>
          <a:p>
            <a:pPr indent="0" marL="0">
              <a:lnSpc>
                <a:spcPct val="105000"/>
              </a:lnSpc>
              <a:buNone/>
            </a:pPr>
            <a:r>
              <a:rPr lang="en-US" sz="900" dirty="0">
                <a:solidFill>
                  <a:srgbClr val="3A4553"/>
                </a:solidFill>
                <a:latin typeface="Calibri" pitchFamily="34" charset="0"/>
                <a:ea typeface="Calibri" pitchFamily="34" charset="-122"/>
                <a:cs typeface="Calibri" pitchFamily="34" charset="-120"/>
              </a:rPr>
              <a:t>₹8.5 Cr → ₹25.9 Cr over 5 years</a:t>
            </a:r>
            <a:endParaRPr lang="en-US" sz="900" dirty="0"/>
          </a:p>
        </p:txBody>
      </p:sp>
      <p:sp>
        <p:nvSpPr>
          <p:cNvPr id="8" name="Shape 6"/>
          <p:cNvSpPr/>
          <p:nvPr/>
        </p:nvSpPr>
        <p:spPr>
          <a:xfrm>
            <a:off x="3390824" y="1737360"/>
            <a:ext cx="2567864" cy="1600200"/>
          </a:xfrm>
          <a:prstGeom prst="roundRect">
            <a:avLst>
              <a:gd name="adj" fmla="val 4571"/>
            </a:avLst>
          </a:prstGeom>
          <a:solidFill>
            <a:srgbClr val="EDF5EF"/>
          </a:solidFill>
          <a:ln/>
        </p:spPr>
      </p:sp>
      <p:sp>
        <p:nvSpPr>
          <p:cNvPr id="9" name="Text 7"/>
          <p:cNvSpPr/>
          <p:nvPr/>
        </p:nvSpPr>
        <p:spPr>
          <a:xfrm>
            <a:off x="3555416" y="1874520"/>
            <a:ext cx="2238680" cy="502920"/>
          </a:xfrm>
          <a:prstGeom prst="rect">
            <a:avLst/>
          </a:prstGeom>
          <a:noFill/>
          <a:ln/>
        </p:spPr>
        <p:txBody>
          <a:bodyPr wrap="square" lIns="0" tIns="0" rIns="0" bIns="0" rtlCol="0" anchor="ctr"/>
          <a:lstStyle/>
          <a:p>
            <a:pPr indent="0" marL="0">
              <a:buNone/>
            </a:pPr>
            <a:r>
              <a:rPr lang="en-US" sz="2400" b="1" dirty="0">
                <a:solidFill>
                  <a:srgbClr val="3F8F5F"/>
                </a:solidFill>
                <a:latin typeface="Cambria" pitchFamily="34" charset="0"/>
                <a:ea typeface="Cambria" pitchFamily="34" charset="-122"/>
                <a:cs typeface="Cambria" pitchFamily="34" charset="-120"/>
              </a:rPr>
              <a:t>₹4.4 Cr</a:t>
            </a:r>
            <a:endParaRPr lang="en-US" sz="2400" dirty="0"/>
          </a:p>
        </p:txBody>
      </p:sp>
      <p:sp>
        <p:nvSpPr>
          <p:cNvPr id="10" name="Text 8"/>
          <p:cNvSpPr/>
          <p:nvPr/>
        </p:nvSpPr>
        <p:spPr>
          <a:xfrm>
            <a:off x="3555416" y="2395728"/>
            <a:ext cx="2238680" cy="502920"/>
          </a:xfrm>
          <a:prstGeom prst="rect">
            <a:avLst/>
          </a:prstGeom>
          <a:noFill/>
          <a:ln/>
        </p:spPr>
        <p:txBody>
          <a:bodyPr wrap="square" lIns="0" tIns="0" rIns="0" bIns="0" rtlCol="0" anchor="ctr"/>
          <a:lstStyle/>
          <a:p>
            <a:pPr indent="0" marL="0">
              <a:lnSpc>
                <a:spcPct val="105000"/>
              </a:lnSpc>
              <a:buNone/>
            </a:pPr>
            <a:r>
              <a:rPr lang="en-US" sz="1030" b="1" dirty="0">
                <a:solidFill>
                  <a:srgbClr val="1C1F26"/>
                </a:solidFill>
                <a:latin typeface="Calibri" pitchFamily="34" charset="0"/>
                <a:ea typeface="Calibri" pitchFamily="34" charset="-122"/>
                <a:cs typeface="Calibri" pitchFamily="34" charset="-120"/>
              </a:rPr>
              <a:t>Net worth recovered, FY22 to FY25</a:t>
            </a:r>
            <a:endParaRPr lang="en-US" sz="1030" dirty="0"/>
          </a:p>
        </p:txBody>
      </p:sp>
      <p:sp>
        <p:nvSpPr>
          <p:cNvPr id="11" name="Text 9"/>
          <p:cNvSpPr/>
          <p:nvPr/>
        </p:nvSpPr>
        <p:spPr>
          <a:xfrm>
            <a:off x="3555416" y="2889504"/>
            <a:ext cx="2238680" cy="411480"/>
          </a:xfrm>
          <a:prstGeom prst="rect">
            <a:avLst/>
          </a:prstGeom>
          <a:noFill/>
          <a:ln/>
        </p:spPr>
        <p:txBody>
          <a:bodyPr wrap="square" lIns="0" tIns="0" rIns="0" bIns="0" rtlCol="0" anchor="ctr"/>
          <a:lstStyle/>
          <a:p>
            <a:pPr indent="0" marL="0">
              <a:lnSpc>
                <a:spcPct val="105000"/>
              </a:lnSpc>
              <a:buNone/>
            </a:pPr>
            <a:r>
              <a:rPr lang="en-US" sz="900" dirty="0">
                <a:solidFill>
                  <a:srgbClr val="3A4553"/>
                </a:solidFill>
                <a:latin typeface="Calibri" pitchFamily="34" charset="0"/>
                <a:ea typeface="Calibri" pitchFamily="34" charset="-122"/>
                <a:cs typeface="Calibri" pitchFamily="34" charset="-120"/>
              </a:rPr>
              <a:t>-₹5.94 Cr → -₹1.54 Cr, narrower every year</a:t>
            </a:r>
            <a:endParaRPr lang="en-US" sz="900" dirty="0"/>
          </a:p>
        </p:txBody>
      </p:sp>
      <p:sp>
        <p:nvSpPr>
          <p:cNvPr id="12" name="Shape 10"/>
          <p:cNvSpPr/>
          <p:nvPr/>
        </p:nvSpPr>
        <p:spPr>
          <a:xfrm>
            <a:off x="6233008" y="1737360"/>
            <a:ext cx="2567864" cy="1600200"/>
          </a:xfrm>
          <a:prstGeom prst="roundRect">
            <a:avLst>
              <a:gd name="adj" fmla="val 4571"/>
            </a:avLst>
          </a:prstGeom>
          <a:solidFill>
            <a:srgbClr val="EDF5EF"/>
          </a:solidFill>
          <a:ln/>
        </p:spPr>
      </p:sp>
      <p:sp>
        <p:nvSpPr>
          <p:cNvPr id="13" name="Text 11"/>
          <p:cNvSpPr/>
          <p:nvPr/>
        </p:nvSpPr>
        <p:spPr>
          <a:xfrm>
            <a:off x="6397600" y="1874520"/>
            <a:ext cx="2238680" cy="502920"/>
          </a:xfrm>
          <a:prstGeom prst="rect">
            <a:avLst/>
          </a:prstGeom>
          <a:noFill/>
          <a:ln/>
        </p:spPr>
        <p:txBody>
          <a:bodyPr wrap="square" lIns="0" tIns="0" rIns="0" bIns="0" rtlCol="0" anchor="ctr"/>
          <a:lstStyle/>
          <a:p>
            <a:pPr indent="0" marL="0">
              <a:buNone/>
            </a:pPr>
            <a:r>
              <a:rPr lang="en-US" sz="2400" b="1" dirty="0">
                <a:solidFill>
                  <a:srgbClr val="3F8F5F"/>
                </a:solidFill>
                <a:latin typeface="Cambria" pitchFamily="34" charset="0"/>
                <a:ea typeface="Cambria" pitchFamily="34" charset="-122"/>
                <a:cs typeface="Cambria" pitchFamily="34" charset="-120"/>
              </a:rPr>
              <a:t>+45%</a:t>
            </a:r>
            <a:endParaRPr lang="en-US" sz="2400" dirty="0"/>
          </a:p>
        </p:txBody>
      </p:sp>
      <p:sp>
        <p:nvSpPr>
          <p:cNvPr id="14" name="Text 12"/>
          <p:cNvSpPr/>
          <p:nvPr/>
        </p:nvSpPr>
        <p:spPr>
          <a:xfrm>
            <a:off x="6397600" y="2395728"/>
            <a:ext cx="2238680" cy="502920"/>
          </a:xfrm>
          <a:prstGeom prst="rect">
            <a:avLst/>
          </a:prstGeom>
          <a:noFill/>
          <a:ln/>
        </p:spPr>
        <p:txBody>
          <a:bodyPr wrap="square" lIns="0" tIns="0" rIns="0" bIns="0" rtlCol="0" anchor="ctr"/>
          <a:lstStyle/>
          <a:p>
            <a:pPr indent="0" marL="0">
              <a:lnSpc>
                <a:spcPct val="105000"/>
              </a:lnSpc>
              <a:buNone/>
            </a:pPr>
            <a:r>
              <a:rPr lang="en-US" sz="1030" b="1" dirty="0">
                <a:solidFill>
                  <a:srgbClr val="1C1F26"/>
                </a:solidFill>
                <a:latin typeface="Calibri" pitchFamily="34" charset="0"/>
                <a:ea typeface="Calibri" pitchFamily="34" charset="-122"/>
                <a:cs typeface="Calibri" pitchFamily="34" charset="-120"/>
              </a:rPr>
              <a:t>Tega contribution/kg, FY22-23 to FY25-26</a:t>
            </a:r>
            <a:endParaRPr lang="en-US" sz="1030" dirty="0"/>
          </a:p>
        </p:txBody>
      </p:sp>
      <p:sp>
        <p:nvSpPr>
          <p:cNvPr id="15" name="Text 13"/>
          <p:cNvSpPr/>
          <p:nvPr/>
        </p:nvSpPr>
        <p:spPr>
          <a:xfrm>
            <a:off x="6397600" y="2889504"/>
            <a:ext cx="2238680" cy="411480"/>
          </a:xfrm>
          <a:prstGeom prst="rect">
            <a:avLst/>
          </a:prstGeom>
          <a:noFill/>
          <a:ln/>
        </p:spPr>
        <p:txBody>
          <a:bodyPr wrap="square" lIns="0" tIns="0" rIns="0" bIns="0" rtlCol="0" anchor="ctr"/>
          <a:lstStyle/>
          <a:p>
            <a:pPr indent="0" marL="0">
              <a:lnSpc>
                <a:spcPct val="105000"/>
              </a:lnSpc>
              <a:buNone/>
            </a:pPr>
            <a:r>
              <a:rPr lang="en-US" sz="900" dirty="0">
                <a:solidFill>
                  <a:srgbClr val="3A4553"/>
                </a:solidFill>
                <a:latin typeface="Calibri" pitchFamily="34" charset="0"/>
                <a:ea typeface="Calibri" pitchFamily="34" charset="-122"/>
                <a:cs typeface="Calibri" pitchFamily="34" charset="-120"/>
              </a:rPr>
              <a:t>~₹40/kg → ~₹59/kg average</a:t>
            </a:r>
            <a:endParaRPr lang="en-US" sz="900" dirty="0"/>
          </a:p>
        </p:txBody>
      </p:sp>
      <p:sp>
        <p:nvSpPr>
          <p:cNvPr id="16" name="Shape 14"/>
          <p:cNvSpPr/>
          <p:nvPr/>
        </p:nvSpPr>
        <p:spPr>
          <a:xfrm>
            <a:off x="9075191" y="1737360"/>
            <a:ext cx="2567864" cy="1600200"/>
          </a:xfrm>
          <a:prstGeom prst="roundRect">
            <a:avLst>
              <a:gd name="adj" fmla="val 4571"/>
            </a:avLst>
          </a:prstGeom>
          <a:solidFill>
            <a:srgbClr val="EDF5EF"/>
          </a:solidFill>
          <a:ln/>
        </p:spPr>
      </p:sp>
      <p:sp>
        <p:nvSpPr>
          <p:cNvPr id="17" name="Text 15"/>
          <p:cNvSpPr/>
          <p:nvPr/>
        </p:nvSpPr>
        <p:spPr>
          <a:xfrm>
            <a:off x="9239783" y="1874520"/>
            <a:ext cx="2238680" cy="502920"/>
          </a:xfrm>
          <a:prstGeom prst="rect">
            <a:avLst/>
          </a:prstGeom>
          <a:noFill/>
          <a:ln/>
        </p:spPr>
        <p:txBody>
          <a:bodyPr wrap="square" lIns="0" tIns="0" rIns="0" bIns="0" rtlCol="0" anchor="ctr"/>
          <a:lstStyle/>
          <a:p>
            <a:pPr indent="0" marL="0">
              <a:buNone/>
            </a:pPr>
            <a:r>
              <a:rPr lang="en-US" sz="2400" b="1" dirty="0">
                <a:solidFill>
                  <a:srgbClr val="3F8F5F"/>
                </a:solidFill>
                <a:latin typeface="Cambria" pitchFamily="34" charset="0"/>
                <a:ea typeface="Cambria" pitchFamily="34" charset="-122"/>
                <a:cs typeface="Cambria" pitchFamily="34" charset="-120"/>
              </a:rPr>
              <a:t>8+ yrs</a:t>
            </a:r>
            <a:endParaRPr lang="en-US" sz="2400" dirty="0"/>
          </a:p>
        </p:txBody>
      </p:sp>
      <p:sp>
        <p:nvSpPr>
          <p:cNvPr id="18" name="Text 16"/>
          <p:cNvSpPr/>
          <p:nvPr/>
        </p:nvSpPr>
        <p:spPr>
          <a:xfrm>
            <a:off x="9239783" y="2395728"/>
            <a:ext cx="2238680" cy="502920"/>
          </a:xfrm>
          <a:prstGeom prst="rect">
            <a:avLst/>
          </a:prstGeom>
          <a:noFill/>
          <a:ln/>
        </p:spPr>
        <p:txBody>
          <a:bodyPr wrap="square" lIns="0" tIns="0" rIns="0" bIns="0" rtlCol="0" anchor="ctr"/>
          <a:lstStyle/>
          <a:p>
            <a:pPr indent="0" marL="0">
              <a:lnSpc>
                <a:spcPct val="105000"/>
              </a:lnSpc>
              <a:buNone/>
            </a:pPr>
            <a:r>
              <a:rPr lang="en-US" sz="1030" b="1" dirty="0">
                <a:solidFill>
                  <a:srgbClr val="1C1F26"/>
                </a:solidFill>
                <a:latin typeface="Calibri" pitchFamily="34" charset="0"/>
                <a:ea typeface="Calibri" pitchFamily="34" charset="-122"/>
                <a:cs typeface="Calibri" pitchFamily="34" charset="-120"/>
              </a:rPr>
              <a:t>Tenure of several anchor accounts</a:t>
            </a:r>
            <a:endParaRPr lang="en-US" sz="1030" dirty="0"/>
          </a:p>
        </p:txBody>
      </p:sp>
      <p:sp>
        <p:nvSpPr>
          <p:cNvPr id="19" name="Text 17"/>
          <p:cNvSpPr/>
          <p:nvPr/>
        </p:nvSpPr>
        <p:spPr>
          <a:xfrm>
            <a:off x="9239783" y="2889504"/>
            <a:ext cx="2238680" cy="411480"/>
          </a:xfrm>
          <a:prstGeom prst="rect">
            <a:avLst/>
          </a:prstGeom>
          <a:noFill/>
          <a:ln/>
        </p:spPr>
        <p:txBody>
          <a:bodyPr wrap="square" lIns="0" tIns="0" rIns="0" bIns="0" rtlCol="0" anchor="ctr"/>
          <a:lstStyle/>
          <a:p>
            <a:pPr indent="0" marL="0">
              <a:lnSpc>
                <a:spcPct val="105000"/>
              </a:lnSpc>
              <a:buNone/>
            </a:pPr>
            <a:r>
              <a:rPr lang="en-US" sz="900" dirty="0">
                <a:solidFill>
                  <a:srgbClr val="3A4553"/>
                </a:solidFill>
                <a:latin typeface="Calibri" pitchFamily="34" charset="0"/>
                <a:ea typeface="Calibri" pitchFamily="34" charset="-122"/>
                <a:cs typeface="Calibri" pitchFamily="34" charset="-120"/>
              </a:rPr>
              <a:t>BEML, Escort, Tega, Tata Metaliks tracked since FY17-18</a:t>
            </a:r>
            <a:endParaRPr lang="en-US" sz="900" dirty="0"/>
          </a:p>
        </p:txBody>
      </p:sp>
      <p:sp>
        <p:nvSpPr>
          <p:cNvPr id="20" name="Shape 18"/>
          <p:cNvSpPr/>
          <p:nvPr/>
        </p:nvSpPr>
        <p:spPr>
          <a:xfrm>
            <a:off x="548640" y="3611880"/>
            <a:ext cx="5364328" cy="2331720"/>
          </a:xfrm>
          <a:prstGeom prst="roundRect">
            <a:avLst>
              <a:gd name="adj" fmla="val 3137"/>
            </a:avLst>
          </a:prstGeom>
          <a:solidFill>
            <a:srgbClr val="F4F5F7"/>
          </a:solidFill>
          <a:ln/>
        </p:spPr>
      </p:sp>
      <p:sp>
        <p:nvSpPr>
          <p:cNvPr id="21" name="Text 19"/>
          <p:cNvSpPr/>
          <p:nvPr/>
        </p:nvSpPr>
        <p:spPr>
          <a:xfrm>
            <a:off x="804672" y="3794760"/>
            <a:ext cx="4852264" cy="274320"/>
          </a:xfrm>
          <a:prstGeom prst="rect">
            <a:avLst/>
          </a:prstGeom>
          <a:noFill/>
          <a:ln/>
        </p:spPr>
        <p:txBody>
          <a:bodyPr wrap="square" lIns="0" tIns="0" rIns="0" bIns="0" rtlCol="0" anchor="ctr"/>
          <a:lstStyle/>
          <a:p>
            <a:pPr indent="0" marL="0">
              <a:buNone/>
            </a:pPr>
            <a:r>
              <a:rPr lang="en-US" sz="1000" b="1" spc="100" kern="0" dirty="0">
                <a:solidFill>
                  <a:srgbClr val="3F8F5F"/>
                </a:solidFill>
                <a:latin typeface="Calibri" pitchFamily="34" charset="0"/>
                <a:ea typeface="Calibri" pitchFamily="34" charset="-122"/>
                <a:cs typeface="Calibri" pitchFamily="34" charset="-120"/>
              </a:rPr>
              <a:t>BALANCE SHEET: ON PACE TO CROSS ZERO</a:t>
            </a:r>
            <a:endParaRPr lang="en-US" sz="1000" dirty="0"/>
          </a:p>
        </p:txBody>
      </p:sp>
      <p:sp>
        <p:nvSpPr>
          <p:cNvPr id="22" name="Text 20"/>
          <p:cNvSpPr/>
          <p:nvPr/>
        </p:nvSpPr>
        <p:spPr>
          <a:xfrm>
            <a:off x="804672" y="4096512"/>
            <a:ext cx="4852264" cy="1737360"/>
          </a:xfrm>
          <a:prstGeom prst="rect">
            <a:avLst/>
          </a:prstGeom>
          <a:noFill/>
          <a:ln/>
        </p:spPr>
        <p:txBody>
          <a:bodyPr wrap="square" lIns="0" tIns="0" rIns="0" bIns="0" rtlCol="0" anchor="ctr"/>
          <a:lstStyle/>
          <a:p>
            <a:pPr indent="0" marL="0">
              <a:lnSpc>
                <a:spcPct val="120000"/>
              </a:lnSpc>
              <a:buNone/>
            </a:pPr>
            <a:r>
              <a:rPr lang="en-US" sz="1000" dirty="0">
                <a:solidFill>
                  <a:srgbClr val="1C1F26"/>
                </a:solidFill>
                <a:latin typeface="Calibri" pitchFamily="34" charset="0"/>
                <a:ea typeface="Calibri" pitchFamily="34" charset="-122"/>
                <a:cs typeface="Calibri" pitchFamily="34" charset="-120"/>
              </a:rPr>
              <a:t>Net worth has improved in every audited year since FY22 — not a one-off recovery. At the FY24-25 pace (~₹1.4 Cr/yr), the company crosses into positive net worth around FY26. That is a real, trackable milestone: the moment Datre stops being balance-sheet-insolvent on paper, four years after the Covid-era trough.</a:t>
            </a:r>
            <a:endParaRPr lang="en-US" sz="1000" dirty="0"/>
          </a:p>
        </p:txBody>
      </p:sp>
      <p:sp>
        <p:nvSpPr>
          <p:cNvPr id="23" name="Shape 21"/>
          <p:cNvSpPr/>
          <p:nvPr/>
        </p:nvSpPr>
        <p:spPr>
          <a:xfrm>
            <a:off x="6278728" y="3611880"/>
            <a:ext cx="5364328" cy="2331720"/>
          </a:xfrm>
          <a:prstGeom prst="roundRect">
            <a:avLst>
              <a:gd name="adj" fmla="val 3137"/>
            </a:avLst>
          </a:prstGeom>
          <a:solidFill>
            <a:srgbClr val="F4F5F7"/>
          </a:solidFill>
          <a:ln/>
        </p:spPr>
      </p:sp>
      <p:sp>
        <p:nvSpPr>
          <p:cNvPr id="24" name="Text 22"/>
          <p:cNvSpPr/>
          <p:nvPr/>
        </p:nvSpPr>
        <p:spPr>
          <a:xfrm>
            <a:off x="6534760" y="3794760"/>
            <a:ext cx="4852264" cy="274320"/>
          </a:xfrm>
          <a:prstGeom prst="rect">
            <a:avLst/>
          </a:prstGeom>
          <a:noFill/>
          <a:ln/>
        </p:spPr>
        <p:txBody>
          <a:bodyPr wrap="square" lIns="0" tIns="0" rIns="0" bIns="0" rtlCol="0" anchor="ctr"/>
          <a:lstStyle/>
          <a:p>
            <a:pPr indent="0" marL="0">
              <a:buNone/>
            </a:pPr>
            <a:r>
              <a:rPr lang="en-US" sz="1000" b="1" spc="100" kern="0" dirty="0">
                <a:solidFill>
                  <a:srgbClr val="3F8F5F"/>
                </a:solidFill>
                <a:latin typeface="Calibri" pitchFamily="34" charset="0"/>
                <a:ea typeface="Calibri" pitchFamily="34" charset="-122"/>
                <a:cs typeface="Calibri" pitchFamily="34" charset="-120"/>
              </a:rPr>
              <a:t>NOT JUST A GOOD YEAR — A REBUILT CUSTOMER BASE</a:t>
            </a:r>
            <a:endParaRPr lang="en-US" sz="1000" dirty="0"/>
          </a:p>
        </p:txBody>
      </p:sp>
      <p:sp>
        <p:nvSpPr>
          <p:cNvPr id="25" name="Text 23"/>
          <p:cNvSpPr/>
          <p:nvPr/>
        </p:nvSpPr>
        <p:spPr>
          <a:xfrm>
            <a:off x="6534760" y="4096512"/>
            <a:ext cx="4852264" cy="1737360"/>
          </a:xfrm>
          <a:prstGeom prst="rect">
            <a:avLst/>
          </a:prstGeom>
          <a:noFill/>
          <a:ln/>
        </p:spPr>
        <p:txBody>
          <a:bodyPr wrap="square" lIns="0" tIns="0" rIns="0" bIns="0" rtlCol="0" anchor="ctr"/>
          <a:lstStyle/>
          <a:p>
            <a:pPr indent="0" marL="0">
              <a:lnSpc>
                <a:spcPct val="120000"/>
              </a:lnSpc>
              <a:buNone/>
            </a:pPr>
            <a:r>
              <a:rPr lang="en-US" sz="1000" dirty="0">
                <a:solidFill>
                  <a:srgbClr val="1C1F26"/>
                </a:solidFill>
                <a:latin typeface="Calibri" pitchFamily="34" charset="0"/>
                <a:ea typeface="Calibri" pitchFamily="34" charset="-122"/>
                <a:cs typeface="Calibri" pitchFamily="34" charset="-120"/>
              </a:rPr>
              <a:t>Internal contribution records track named OEM accounts — BEML, Escort, Tega, Bhushan/Tata Steel, IISCO, Metco, Neo Metaliks, Paharpur, Tata Metaliks — back to FY2017-18. The current profitability isn't built on a handful of one-off wins; it sits on relationships that have held, and in Tega's case deepened, across an 8-year span that includes the FY21 near-failure.</a:t>
            </a:r>
            <a:endParaRPr lang="en-US" sz="1000" dirty="0"/>
          </a:p>
        </p:txBody>
      </p:sp>
      <p:sp>
        <p:nvSpPr>
          <p:cNvPr id="26" name="Text 24"/>
          <p:cNvSpPr/>
          <p:nvPr/>
        </p:nvSpPr>
        <p:spPr>
          <a:xfrm>
            <a:off x="548640" y="6108192"/>
            <a:ext cx="11094415" cy="320040"/>
          </a:xfrm>
          <a:prstGeom prst="rect">
            <a:avLst/>
          </a:prstGeom>
          <a:noFill/>
          <a:ln/>
        </p:spPr>
        <p:txBody>
          <a:bodyPr wrap="square" lIns="0" tIns="0" rIns="0" bIns="0" rtlCol="0" anchor="ctr"/>
          <a:lstStyle/>
          <a:p>
            <a:pPr indent="0" marL="0">
              <a:buNone/>
            </a:pPr>
            <a:r>
              <a:rPr lang="en-US" sz="900" i="1" dirty="0">
                <a:solidFill>
                  <a:srgbClr val="6B7684"/>
                </a:solidFill>
                <a:latin typeface="Calibri" pitchFamily="34" charset="0"/>
                <a:ea typeface="Calibri" pitchFamily="34" charset="-122"/>
                <a:cs typeface="Calibri" pitchFamily="34" charset="-120"/>
              </a:rPr>
              <a:t>Read alongside the balance-sheet, concentration and quality-control slides that follow: the progress is real and multi-year, but customer concentration, the quality trend and the FY26-27 slowdown are real too. Both things are true at once.</a:t>
            </a:r>
            <a:endParaRPr lang="en-US" sz="900" dirty="0"/>
          </a:p>
        </p:txBody>
      </p:sp>
      <p:sp>
        <p:nvSpPr>
          <p:cNvPr id="27" name="Text 25"/>
          <p:cNvSpPr/>
          <p:nvPr/>
        </p:nvSpPr>
        <p:spPr>
          <a:xfrm>
            <a:off x="548640" y="6400800"/>
            <a:ext cx="11094415" cy="256032"/>
          </a:xfrm>
          <a:prstGeom prst="rect">
            <a:avLst/>
          </a:prstGeom>
          <a:noFill/>
          <a:ln/>
        </p:spPr>
        <p:txBody>
          <a:bodyPr wrap="square" lIns="0" tIns="0" rIns="0" bIns="0" rtlCol="0" anchor="ctr"/>
          <a:lstStyle/>
          <a:p>
            <a:pPr indent="0" marL="0">
              <a:buNone/>
            </a:pPr>
            <a:r>
              <a:rPr lang="en-US" sz="750" i="1" dirty="0">
                <a:solidFill>
                  <a:srgbClr val="6B7684"/>
                </a:solidFill>
                <a:latin typeface="Calibri" pitchFamily="34" charset="0"/>
                <a:ea typeface="Calibri" pitchFamily="34" charset="-122"/>
                <a:cs typeface="Calibri" pitchFamily="34" charset="-120"/>
              </a:rPr>
              <a:t>Source: audited balance sheets FY22-FY25; internal contribution-tracking records, FY2017-18 through FY2025-26; Aug 2025 order-book analysis (Tega ₹/kg).</a:t>
            </a:r>
            <a:endParaRPr lang="en-US" sz="750" dirty="0"/>
          </a:p>
        </p:txBody>
      </p:sp>
      <p:sp>
        <p:nvSpPr>
          <p:cNvPr id="28" name="Text 26"/>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29" name="Text 2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CRITICAL ANALYSIS — CONCENTRATION RISK</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1C1F26"/>
                </a:solidFill>
                <a:latin typeface="Cambria" pitchFamily="34" charset="0"/>
                <a:ea typeface="Cambria" pitchFamily="34" charset="-122"/>
                <a:cs typeface="Cambria" pitchFamily="34" charset="-120"/>
              </a:rPr>
              <a:t>Two customers now drive roughly 80% of contribution</a:t>
            </a:r>
            <a:endParaRPr lang="en-US" sz="3000" dirty="0"/>
          </a:p>
        </p:txBody>
      </p:sp>
      <p:graphicFrame>
        <p:nvGraphicFramePr>
          <p:cNvPr id="4" name="Chart 0" descr=""/>
          <p:cNvGraphicFramePr/>
          <p:nvPr/>
        </p:nvGraphicFramePr>
        <p:xfrm>
          <a:off x="548640" y="1737360"/>
          <a:ext cx="612648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48640" y="5074920"/>
            <a:ext cx="6126480" cy="640080"/>
          </a:xfrm>
          <a:prstGeom prst="rect">
            <a:avLst/>
          </a:prstGeom>
          <a:noFill/>
          <a:ln/>
        </p:spPr>
        <p:txBody>
          <a:bodyPr wrap="square" lIns="0" tIns="0" rIns="0" bIns="0" rtlCol="0" anchor="ctr"/>
          <a:lstStyle/>
          <a:p>
            <a:pPr indent="0" marL="0">
              <a:lnSpc>
                <a:spcPct val="110000"/>
              </a:lnSpc>
              <a:buNone/>
            </a:pPr>
            <a:r>
              <a:rPr lang="en-US" sz="800" i="1" dirty="0">
                <a:solidFill>
                  <a:srgbClr val="6B7684"/>
                </a:solidFill>
                <a:latin typeface="Calibri" pitchFamily="34" charset="0"/>
                <a:ea typeface="Calibri" pitchFamily="34" charset="-122"/>
                <a:cs typeface="Calibri" pitchFamily="34" charset="-120"/>
              </a:rPr>
              <a:t>Chart: Tega's individual share (company financial statements &amp; internal analysis, FY21-FY24 actuals, FY26 projection). "All OEM" figure in the panel at right uses a separate Net Contribution basis — see source note below.</a:t>
            </a:r>
            <a:endParaRPr lang="en-US" sz="800" dirty="0"/>
          </a:p>
        </p:txBody>
      </p:sp>
      <p:sp>
        <p:nvSpPr>
          <p:cNvPr id="6" name="Text 3"/>
          <p:cNvSpPr/>
          <p:nvPr/>
        </p:nvSpPr>
        <p:spPr>
          <a:xfrm>
            <a:off x="6949440" y="1691640"/>
            <a:ext cx="4693615" cy="320040"/>
          </a:xfrm>
          <a:prstGeom prst="rect">
            <a:avLst/>
          </a:prstGeom>
          <a:noFill/>
          <a:ln/>
        </p:spPr>
        <p:txBody>
          <a:bodyPr wrap="square" lIns="0" tIns="0" rIns="0" bIns="0" rtlCol="0" anchor="ctr"/>
          <a:lstStyle/>
          <a:p>
            <a:pPr indent="0" marL="0">
              <a:buNone/>
            </a:pPr>
            <a:r>
              <a:rPr lang="en-US" sz="1500" b="1" dirty="0">
                <a:solidFill>
                  <a:srgbClr val="1C1F26"/>
                </a:solidFill>
                <a:latin typeface="Cambria" pitchFamily="34" charset="0"/>
                <a:ea typeface="Cambria" pitchFamily="34" charset="-122"/>
                <a:cs typeface="Cambria" pitchFamily="34" charset="-120"/>
              </a:rPr>
              <a:t>43% → 82%</a:t>
            </a:r>
            <a:endParaRPr lang="en-US" sz="1500" dirty="0"/>
          </a:p>
        </p:txBody>
      </p:sp>
      <p:sp>
        <p:nvSpPr>
          <p:cNvPr id="7" name="Text 4"/>
          <p:cNvSpPr/>
          <p:nvPr/>
        </p:nvSpPr>
        <p:spPr>
          <a:xfrm>
            <a:off x="6949440" y="2020824"/>
            <a:ext cx="4693615" cy="621792"/>
          </a:xfrm>
          <a:prstGeom prst="rect">
            <a:avLst/>
          </a:prstGeom>
          <a:noFill/>
          <a:ln/>
        </p:spPr>
        <p:txBody>
          <a:bodyPr wrap="square" lIns="0" tIns="0" rIns="0" bIns="0" rtlCol="0" anchor="ctr"/>
          <a:lstStyle/>
          <a:p>
            <a:pPr indent="0" marL="0">
              <a:lnSpc>
                <a:spcPct val="110000"/>
              </a:lnSpc>
              <a:buNone/>
            </a:pPr>
            <a:r>
              <a:rPr lang="en-US" sz="930" dirty="0">
                <a:solidFill>
                  <a:srgbClr val="3A4553"/>
                </a:solidFill>
                <a:latin typeface="Calibri" pitchFamily="34" charset="0"/>
                <a:ea typeface="Calibri" pitchFamily="34" charset="-122"/>
                <a:cs typeface="Calibri" pitchFamily="34" charset="-120"/>
              </a:rPr>
              <a:t>OEM share of total contribution, FY22 to FY26 (proj.) — a deliberate pivot, not passive drift</a:t>
            </a:r>
            <a:endParaRPr lang="en-US" sz="930" dirty="0"/>
          </a:p>
        </p:txBody>
      </p:sp>
      <p:sp>
        <p:nvSpPr>
          <p:cNvPr id="8" name="Text 5"/>
          <p:cNvSpPr/>
          <p:nvPr/>
        </p:nvSpPr>
        <p:spPr>
          <a:xfrm>
            <a:off x="6949440" y="2715768"/>
            <a:ext cx="4693615" cy="320040"/>
          </a:xfrm>
          <a:prstGeom prst="rect">
            <a:avLst/>
          </a:prstGeom>
          <a:noFill/>
          <a:ln/>
        </p:spPr>
        <p:txBody>
          <a:bodyPr wrap="square" lIns="0" tIns="0" rIns="0" bIns="0" rtlCol="0" anchor="ctr"/>
          <a:lstStyle/>
          <a:p>
            <a:pPr indent="0" marL="0">
              <a:buNone/>
            </a:pPr>
            <a:r>
              <a:rPr lang="en-US" sz="1500" b="1" dirty="0">
                <a:solidFill>
                  <a:srgbClr val="1C1F26"/>
                </a:solidFill>
                <a:latin typeface="Cambria" pitchFamily="34" charset="0"/>
                <a:ea typeface="Cambria" pitchFamily="34" charset="-122"/>
                <a:cs typeface="Cambria" pitchFamily="34" charset="-120"/>
              </a:rPr>
              <a:t>₹0</a:t>
            </a:r>
            <a:endParaRPr lang="en-US" sz="1500" dirty="0"/>
          </a:p>
        </p:txBody>
      </p:sp>
      <p:sp>
        <p:nvSpPr>
          <p:cNvPr id="9" name="Text 6"/>
          <p:cNvSpPr/>
          <p:nvPr/>
        </p:nvSpPr>
        <p:spPr>
          <a:xfrm>
            <a:off x="6949440" y="3044952"/>
            <a:ext cx="4693615" cy="621792"/>
          </a:xfrm>
          <a:prstGeom prst="rect">
            <a:avLst/>
          </a:prstGeom>
          <a:noFill/>
          <a:ln/>
        </p:spPr>
        <p:txBody>
          <a:bodyPr wrap="square" lIns="0" tIns="0" rIns="0" bIns="0" rtlCol="0" anchor="ctr"/>
          <a:lstStyle/>
          <a:p>
            <a:pPr indent="0" marL="0">
              <a:lnSpc>
                <a:spcPct val="110000"/>
              </a:lnSpc>
              <a:buNone/>
            </a:pPr>
            <a:r>
              <a:rPr lang="en-US" sz="930" dirty="0">
                <a:solidFill>
                  <a:srgbClr val="3A4553"/>
                </a:solidFill>
                <a:latin typeface="Calibri" pitchFamily="34" charset="0"/>
                <a:ea typeface="Calibri" pitchFamily="34" charset="-122"/>
                <a:cs typeface="Calibri" pitchFamily="34" charset="-120"/>
              </a:rPr>
              <a:t>Non-OEM legacy contribution by FY25 — IISCO, Bhushan Steel, Tata Metaliks, ESL and Metso wound down to zero, on purpose</a:t>
            </a:r>
            <a:endParaRPr lang="en-US" sz="930" dirty="0"/>
          </a:p>
        </p:txBody>
      </p:sp>
      <p:sp>
        <p:nvSpPr>
          <p:cNvPr id="10" name="Text 7"/>
          <p:cNvSpPr/>
          <p:nvPr/>
        </p:nvSpPr>
        <p:spPr>
          <a:xfrm>
            <a:off x="6949440" y="3739896"/>
            <a:ext cx="4693615" cy="320040"/>
          </a:xfrm>
          <a:prstGeom prst="rect">
            <a:avLst/>
          </a:prstGeom>
          <a:noFill/>
          <a:ln/>
        </p:spPr>
        <p:txBody>
          <a:bodyPr wrap="square" lIns="0" tIns="0" rIns="0" bIns="0" rtlCol="0" anchor="ctr"/>
          <a:lstStyle/>
          <a:p>
            <a:pPr indent="0" marL="0">
              <a:buNone/>
            </a:pPr>
            <a:r>
              <a:rPr lang="en-US" sz="1500" b="1" dirty="0">
                <a:solidFill>
                  <a:srgbClr val="1C1F26"/>
                </a:solidFill>
                <a:latin typeface="Cambria" pitchFamily="34" charset="0"/>
                <a:ea typeface="Cambria" pitchFamily="34" charset="-122"/>
                <a:cs typeface="Cambria" pitchFamily="34" charset="-120"/>
              </a:rPr>
              <a:t>₹9.0 → ₹7.5 Cr</a:t>
            </a:r>
            <a:endParaRPr lang="en-US" sz="1500" dirty="0"/>
          </a:p>
        </p:txBody>
      </p:sp>
      <p:sp>
        <p:nvSpPr>
          <p:cNvPr id="11" name="Text 8"/>
          <p:cNvSpPr/>
          <p:nvPr/>
        </p:nvSpPr>
        <p:spPr>
          <a:xfrm>
            <a:off x="6949440" y="4069080"/>
            <a:ext cx="4693615" cy="621792"/>
          </a:xfrm>
          <a:prstGeom prst="rect">
            <a:avLst/>
          </a:prstGeom>
          <a:noFill/>
          <a:ln/>
        </p:spPr>
        <p:txBody>
          <a:bodyPr wrap="square" lIns="0" tIns="0" rIns="0" bIns="0" rtlCol="0" anchor="ctr"/>
          <a:lstStyle/>
          <a:p>
            <a:pPr indent="0" marL="0">
              <a:lnSpc>
                <a:spcPct val="110000"/>
              </a:lnSpc>
              <a:buNone/>
            </a:pPr>
            <a:r>
              <a:rPr lang="en-US" sz="930" dirty="0">
                <a:solidFill>
                  <a:srgbClr val="3A4553"/>
                </a:solidFill>
                <a:latin typeface="Calibri" pitchFamily="34" charset="0"/>
                <a:ea typeface="Calibri" pitchFamily="34" charset="-122"/>
                <a:cs typeface="Calibri" pitchFamily="34" charset="-120"/>
              </a:rPr>
              <a:t>Tega's small-casting orders still declined YoY, FY23-24 to FY24-25</a:t>
            </a:r>
            <a:endParaRPr lang="en-US" sz="930" dirty="0"/>
          </a:p>
        </p:txBody>
      </p:sp>
      <p:sp>
        <p:nvSpPr>
          <p:cNvPr id="12" name="Text 9"/>
          <p:cNvSpPr/>
          <p:nvPr/>
        </p:nvSpPr>
        <p:spPr>
          <a:xfrm>
            <a:off x="6949440" y="4764024"/>
            <a:ext cx="4693615" cy="320040"/>
          </a:xfrm>
          <a:prstGeom prst="rect">
            <a:avLst/>
          </a:prstGeom>
          <a:noFill/>
          <a:ln/>
        </p:spPr>
        <p:txBody>
          <a:bodyPr wrap="square" lIns="0" tIns="0" rIns="0" bIns="0" rtlCol="0" anchor="ctr"/>
          <a:lstStyle/>
          <a:p>
            <a:pPr indent="0" marL="0">
              <a:buNone/>
            </a:pPr>
            <a:r>
              <a:rPr lang="en-US" sz="1500" b="1" dirty="0">
                <a:solidFill>
                  <a:srgbClr val="1C1F26"/>
                </a:solidFill>
                <a:latin typeface="Cambria" pitchFamily="34" charset="0"/>
                <a:ea typeface="Cambria" pitchFamily="34" charset="-122"/>
                <a:cs typeface="Cambria" pitchFamily="34" charset="-120"/>
              </a:rPr>
              <a:t>Thejo Engineering</a:t>
            </a:r>
            <a:endParaRPr lang="en-US" sz="1500" dirty="0"/>
          </a:p>
        </p:txBody>
      </p:sp>
      <p:sp>
        <p:nvSpPr>
          <p:cNvPr id="13" name="Text 10"/>
          <p:cNvSpPr/>
          <p:nvPr/>
        </p:nvSpPr>
        <p:spPr>
          <a:xfrm>
            <a:off x="6949440" y="5093208"/>
            <a:ext cx="4693615" cy="621792"/>
          </a:xfrm>
          <a:prstGeom prst="rect">
            <a:avLst/>
          </a:prstGeom>
          <a:noFill/>
          <a:ln/>
        </p:spPr>
        <p:txBody>
          <a:bodyPr wrap="square" lIns="0" tIns="0" rIns="0" bIns="0" rtlCol="0" anchor="ctr"/>
          <a:lstStyle/>
          <a:p>
            <a:pPr indent="0" marL="0">
              <a:lnSpc>
                <a:spcPct val="110000"/>
              </a:lnSpc>
              <a:buNone/>
            </a:pPr>
            <a:r>
              <a:rPr lang="en-US" sz="930" dirty="0">
                <a:solidFill>
                  <a:srgbClr val="3A4553"/>
                </a:solidFill>
                <a:latin typeface="Calibri" pitchFamily="34" charset="0"/>
                <a:ea typeface="Calibri" pitchFamily="34" charset="-122"/>
                <a:cs typeface="Calibri" pitchFamily="34" charset="-120"/>
              </a:rPr>
              <a:t>NDA/exclusive tie-up alongside Tega — the real second leg, still small next to Tega/Escorts</a:t>
            </a:r>
            <a:endParaRPr lang="en-US" sz="930" dirty="0"/>
          </a:p>
        </p:txBody>
      </p:sp>
      <p:sp>
        <p:nvSpPr>
          <p:cNvPr id="14" name="Text 11"/>
          <p:cNvSpPr/>
          <p:nvPr/>
        </p:nvSpPr>
        <p:spPr>
          <a:xfrm>
            <a:off x="6949440" y="5833872"/>
            <a:ext cx="4693615" cy="502920"/>
          </a:xfrm>
          <a:prstGeom prst="rect">
            <a:avLst/>
          </a:prstGeom>
          <a:noFill/>
          <a:ln/>
        </p:spPr>
        <p:txBody>
          <a:bodyPr wrap="square" lIns="0" tIns="0" rIns="0" bIns="0" rtlCol="0" anchor="ctr"/>
          <a:lstStyle/>
          <a:p>
            <a:pPr indent="0" marL="0">
              <a:lnSpc>
                <a:spcPct val="110000"/>
              </a:lnSpc>
              <a:buNone/>
            </a:pPr>
            <a:r>
              <a:rPr lang="en-US" sz="750" i="1" dirty="0">
                <a:solidFill>
                  <a:srgbClr val="6B7684"/>
                </a:solidFill>
                <a:latin typeface="Calibri" pitchFamily="34" charset="0"/>
                <a:ea typeface="Calibri" pitchFamily="34" charset="-122"/>
                <a:cs typeface="Calibri" pitchFamily="34" charset="-120"/>
              </a:rPr>
              <a:t>Panel figures: internal "Net Contribution" analysis (FY22 vs. FY26 projected) — a different basis from the Tega-share chart at left; both point the same direction.</a:t>
            </a:r>
            <a:endParaRPr lang="en-US" sz="750" dirty="0"/>
          </a:p>
        </p:txBody>
      </p:sp>
      <p:sp>
        <p:nvSpPr>
          <p:cNvPr id="15" name="Text 12"/>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16" name="Text 1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CRITICAL ANALYSIS — OPERATIONS</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1C1F26"/>
                </a:solidFill>
                <a:latin typeface="Cambria" pitchFamily="34" charset="0"/>
                <a:ea typeface="Cambria" pitchFamily="34" charset="-122"/>
                <a:cs typeface="Cambria" pitchFamily="34" charset="-120"/>
              </a:rPr>
              <a:t>Rejection rate has trended the wrong way for four periods</a:t>
            </a:r>
            <a:endParaRPr lang="en-US" sz="3000" dirty="0"/>
          </a:p>
        </p:txBody>
      </p:sp>
      <p:graphicFrame>
        <p:nvGraphicFramePr>
          <p:cNvPr id="4" name="Chart 0" descr=""/>
          <p:cNvGraphicFramePr/>
          <p:nvPr/>
        </p:nvGraphicFramePr>
        <p:xfrm>
          <a:off x="548640" y="1737360"/>
          <a:ext cx="7315200" cy="35661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48640" y="5394960"/>
            <a:ext cx="7315200" cy="365760"/>
          </a:xfrm>
          <a:prstGeom prst="rect">
            <a:avLst/>
          </a:prstGeom>
          <a:noFill/>
          <a:ln/>
        </p:spPr>
        <p:txBody>
          <a:bodyPr wrap="square" lIns="0" tIns="0" rIns="0" bIns="0" rtlCol="0" anchor="ctr"/>
          <a:lstStyle/>
          <a:p>
            <a:pPr indent="0" marL="0">
              <a:buNone/>
            </a:pPr>
            <a:r>
              <a:rPr lang="en-US" sz="800" i="1" dirty="0">
                <a:solidFill>
                  <a:srgbClr val="6B7684"/>
                </a:solidFill>
                <a:latin typeface="Calibri" pitchFamily="34" charset="0"/>
                <a:ea typeface="Calibri" pitchFamily="34" charset="-122"/>
                <a:cs typeface="Calibri" pitchFamily="34" charset="-120"/>
              </a:rPr>
              <a:t>Source: management MIS, production &amp; rejection registers, FY22-23 through FY26-27 (4 months).</a:t>
            </a:r>
            <a:endParaRPr lang="en-US" sz="800" dirty="0"/>
          </a:p>
        </p:txBody>
      </p:sp>
      <p:sp>
        <p:nvSpPr>
          <p:cNvPr id="6" name="Shape 3"/>
          <p:cNvSpPr/>
          <p:nvPr/>
        </p:nvSpPr>
        <p:spPr>
          <a:xfrm>
            <a:off x="8138160" y="1737360"/>
            <a:ext cx="3504895" cy="4023360"/>
          </a:xfrm>
          <a:prstGeom prst="roundRect">
            <a:avLst>
              <a:gd name="adj" fmla="val 2087"/>
            </a:avLst>
          </a:prstGeom>
          <a:solidFill>
            <a:srgbClr val="F4F5F7"/>
          </a:solidFill>
          <a:ln/>
        </p:spPr>
      </p:sp>
      <p:sp>
        <p:nvSpPr>
          <p:cNvPr id="7" name="Text 4"/>
          <p:cNvSpPr/>
          <p:nvPr/>
        </p:nvSpPr>
        <p:spPr>
          <a:xfrm>
            <a:off x="8366760" y="1920240"/>
            <a:ext cx="3047695" cy="274320"/>
          </a:xfrm>
          <a:prstGeom prst="rect">
            <a:avLst/>
          </a:prstGeom>
          <a:noFill/>
          <a:ln/>
        </p:spPr>
        <p:txBody>
          <a:bodyPr wrap="square" lIns="0" tIns="0" rIns="0" bIns="0" rtlCol="0" anchor="ctr"/>
          <a:lstStyle/>
          <a:p>
            <a:pPr indent="0" marL="0">
              <a:buNone/>
            </a:pPr>
            <a:r>
              <a:rPr lang="en-US" sz="1000" b="1" spc="100" kern="0" dirty="0">
                <a:solidFill>
                  <a:srgbClr val="D9622B"/>
                </a:solidFill>
                <a:latin typeface="Calibri" pitchFamily="34" charset="0"/>
                <a:ea typeface="Calibri" pitchFamily="34" charset="-122"/>
                <a:cs typeface="Calibri" pitchFamily="34" charset="-120"/>
              </a:rPr>
              <a:t>ALSO RISING</a:t>
            </a:r>
            <a:endParaRPr lang="en-US" sz="1000" dirty="0"/>
          </a:p>
        </p:txBody>
      </p:sp>
      <p:sp>
        <p:nvSpPr>
          <p:cNvPr id="8" name="Text 5"/>
          <p:cNvSpPr/>
          <p:nvPr/>
        </p:nvSpPr>
        <p:spPr>
          <a:xfrm>
            <a:off x="8366760" y="2212848"/>
            <a:ext cx="3047695" cy="274320"/>
          </a:xfrm>
          <a:prstGeom prst="rect">
            <a:avLst/>
          </a:prstGeom>
          <a:noFill/>
          <a:ln/>
        </p:spPr>
        <p:txBody>
          <a:bodyPr wrap="square" lIns="0" tIns="0" rIns="0" bIns="0" rtlCol="0" anchor="ctr"/>
          <a:lstStyle/>
          <a:p>
            <a:pPr indent="0" marL="0">
              <a:buNone/>
            </a:pPr>
            <a:r>
              <a:rPr lang="en-US" sz="1100" b="1" dirty="0">
                <a:solidFill>
                  <a:srgbClr val="1C1F26"/>
                </a:solidFill>
                <a:latin typeface="Calibri" pitchFamily="34" charset="0"/>
                <a:ea typeface="Calibri" pitchFamily="34" charset="-122"/>
                <a:cs typeface="Calibri" pitchFamily="34" charset="-120"/>
              </a:rPr>
              <a:t>Fixed costs as % of net sales</a:t>
            </a:r>
            <a:endParaRPr lang="en-US" sz="1100" dirty="0"/>
          </a:p>
        </p:txBody>
      </p:sp>
      <p:sp>
        <p:nvSpPr>
          <p:cNvPr id="9" name="Text 6"/>
          <p:cNvSpPr/>
          <p:nvPr/>
        </p:nvSpPr>
        <p:spPr>
          <a:xfrm>
            <a:off x="8366760" y="2487168"/>
            <a:ext cx="3047695" cy="365760"/>
          </a:xfrm>
          <a:prstGeom prst="rect">
            <a:avLst/>
          </a:prstGeom>
          <a:noFill/>
          <a:ln/>
        </p:spPr>
        <p:txBody>
          <a:bodyPr wrap="square" lIns="0" tIns="0" rIns="0" bIns="0" rtlCol="0" anchor="ctr"/>
          <a:lstStyle/>
          <a:p>
            <a:pPr indent="0" marL="0">
              <a:buNone/>
            </a:pPr>
            <a:r>
              <a:rPr lang="en-US" sz="1700" b="1" dirty="0">
                <a:solidFill>
                  <a:srgbClr val="B8453F"/>
                </a:solidFill>
                <a:latin typeface="Cambria" pitchFamily="34" charset="0"/>
                <a:ea typeface="Cambria" pitchFamily="34" charset="-122"/>
                <a:cs typeface="Cambria" pitchFamily="34" charset="-120"/>
              </a:rPr>
              <a:t>16.06%  →  17.09%</a:t>
            </a:r>
            <a:endParaRPr lang="en-US" sz="1700" dirty="0"/>
          </a:p>
        </p:txBody>
      </p:sp>
      <p:sp>
        <p:nvSpPr>
          <p:cNvPr id="10" name="Text 7"/>
          <p:cNvSpPr/>
          <p:nvPr/>
        </p:nvSpPr>
        <p:spPr>
          <a:xfrm>
            <a:off x="8366760" y="2880360"/>
            <a:ext cx="3047695" cy="457200"/>
          </a:xfrm>
          <a:prstGeom prst="rect">
            <a:avLst/>
          </a:prstGeom>
          <a:noFill/>
          <a:ln/>
        </p:spPr>
        <p:txBody>
          <a:bodyPr wrap="square" lIns="0" tIns="0" rIns="0" bIns="0" rtlCol="0" anchor="ctr"/>
          <a:lstStyle/>
          <a:p>
            <a:pPr indent="0" marL="0">
              <a:lnSpc>
                <a:spcPct val="110000"/>
              </a:lnSpc>
              <a:buNone/>
            </a:pPr>
            <a:r>
              <a:rPr lang="en-US" sz="930" dirty="0">
                <a:solidFill>
                  <a:srgbClr val="3A4553"/>
                </a:solidFill>
                <a:latin typeface="Calibri" pitchFamily="34" charset="0"/>
                <a:ea typeface="Calibri" pitchFamily="34" charset="-122"/>
                <a:cs typeface="Calibri" pitchFamily="34" charset="-120"/>
              </a:rPr>
              <a:t>FY23-24 to FY24-25 — rose even in the year sales dipped.</a:t>
            </a:r>
            <a:endParaRPr lang="en-US" sz="930" dirty="0"/>
          </a:p>
        </p:txBody>
      </p:sp>
      <p:sp>
        <p:nvSpPr>
          <p:cNvPr id="11" name="Shape 8"/>
          <p:cNvSpPr/>
          <p:nvPr/>
        </p:nvSpPr>
        <p:spPr>
          <a:xfrm>
            <a:off x="8366760" y="3520440"/>
            <a:ext cx="3047695" cy="0"/>
          </a:xfrm>
          <a:prstGeom prst="line">
            <a:avLst/>
          </a:prstGeom>
          <a:noFill/>
          <a:ln w="12700">
            <a:solidFill>
              <a:srgbClr val="E1E4E9"/>
            </a:solidFill>
            <a:prstDash val="solid"/>
          </a:ln>
        </p:spPr>
      </p:sp>
      <p:sp>
        <p:nvSpPr>
          <p:cNvPr id="12" name="Text 9"/>
          <p:cNvSpPr/>
          <p:nvPr/>
        </p:nvSpPr>
        <p:spPr>
          <a:xfrm>
            <a:off x="8366760" y="3703320"/>
            <a:ext cx="3047695" cy="1920240"/>
          </a:xfrm>
          <a:prstGeom prst="rect">
            <a:avLst/>
          </a:prstGeom>
          <a:noFill/>
          <a:ln/>
        </p:spPr>
        <p:txBody>
          <a:bodyPr wrap="square" lIns="0" tIns="0" rIns="0" bIns="0" rtlCol="0" anchor="ctr"/>
          <a:lstStyle/>
          <a:p>
            <a:pPr indent="0" marL="0">
              <a:lnSpc>
                <a:spcPct val="120000"/>
              </a:lnSpc>
              <a:buNone/>
            </a:pPr>
            <a:r>
              <a:rPr lang="en-US" sz="1000" dirty="0">
                <a:solidFill>
                  <a:srgbClr val="1C1F26"/>
                </a:solidFill>
                <a:latin typeface="Calibri" pitchFamily="34" charset="0"/>
                <a:ea typeface="Calibri" pitchFamily="34" charset="-122"/>
                <a:cs typeface="Calibri" pitchFamily="34" charset="-120"/>
              </a:rPr>
              <a:t>This is not a one-off spike — it is the same quality-control theme recurring across three fiscal years despite a well-equipped testing lab (slide 8). It belongs on the same diligence list as the customer-concentration risk.</a:t>
            </a:r>
            <a:endParaRPr lang="en-US" sz="1000" dirty="0"/>
          </a:p>
        </p:txBody>
      </p:sp>
      <p:sp>
        <p:nvSpPr>
          <p:cNvPr id="13" name="Text 10"/>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14" name="Text 11"/>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MARGIN UPSIDE</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1C1F26"/>
                </a:solidFill>
                <a:latin typeface="Cambria" pitchFamily="34" charset="0"/>
                <a:ea typeface="Cambria" pitchFamily="34" charset="-122"/>
                <a:cs typeface="Cambria" pitchFamily="34" charset="-120"/>
              </a:rPr>
              <a:t>Where the margin actually comes from: mix and pricing discipline</a:t>
            </a:r>
            <a:endParaRPr lang="en-US" sz="3000" dirty="0"/>
          </a:p>
        </p:txBody>
      </p:sp>
      <p:graphicFrame>
        <p:nvGraphicFramePr>
          <p:cNvPr id="4" name="Chart 0" descr=""/>
          <p:cNvGraphicFramePr/>
          <p:nvPr/>
        </p:nvGraphicFramePr>
        <p:xfrm>
          <a:off x="548640" y="1737360"/>
          <a:ext cx="6309360" cy="3291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48640" y="5120640"/>
            <a:ext cx="6309360" cy="777240"/>
          </a:xfrm>
          <a:prstGeom prst="rect">
            <a:avLst/>
          </a:prstGeom>
          <a:noFill/>
          <a:ln/>
        </p:spPr>
        <p:txBody>
          <a:bodyPr wrap="square" lIns="0" tIns="0" rIns="0" bIns="0" rtlCol="0" anchor="ctr"/>
          <a:lstStyle/>
          <a:p>
            <a:pPr indent="0" marL="0">
              <a:lnSpc>
                <a:spcPct val="115000"/>
              </a:lnSpc>
              <a:buNone/>
            </a:pPr>
            <a:r>
              <a:rPr lang="en-US" sz="980" dirty="0">
                <a:solidFill>
                  <a:srgbClr val="3A4553"/>
                </a:solidFill>
                <a:latin typeface="Calibri" pitchFamily="34" charset="0"/>
                <a:ea typeface="Calibri" pitchFamily="34" charset="-122"/>
                <a:cs typeface="Calibri" pitchFamily="34" charset="-120"/>
              </a:rPr>
              <a:t>Komatsu idler contribution (₹68-114/kg across 4 part numbers, ~₹88/kg average) sits well above the domestic product mix — the clearest evidence that global qualification, not domestic volume, is where the next margin step comes from.</a:t>
            </a:r>
            <a:endParaRPr lang="en-US" sz="980" dirty="0"/>
          </a:p>
        </p:txBody>
      </p:sp>
      <p:sp>
        <p:nvSpPr>
          <p:cNvPr id="6" name="Shape 3"/>
          <p:cNvSpPr/>
          <p:nvPr/>
        </p:nvSpPr>
        <p:spPr>
          <a:xfrm>
            <a:off x="7132320" y="1737360"/>
            <a:ext cx="4510735" cy="4160520"/>
          </a:xfrm>
          <a:prstGeom prst="roundRect">
            <a:avLst>
              <a:gd name="adj" fmla="val 1758"/>
            </a:avLst>
          </a:prstGeom>
          <a:solidFill>
            <a:srgbClr val="F4F5F7"/>
          </a:solidFill>
          <a:ln/>
        </p:spPr>
      </p:sp>
      <p:sp>
        <p:nvSpPr>
          <p:cNvPr id="7" name="Text 4"/>
          <p:cNvSpPr/>
          <p:nvPr/>
        </p:nvSpPr>
        <p:spPr>
          <a:xfrm>
            <a:off x="7406640" y="1938528"/>
            <a:ext cx="3962095" cy="274320"/>
          </a:xfrm>
          <a:prstGeom prst="rect">
            <a:avLst/>
          </a:prstGeom>
          <a:noFill/>
          <a:ln/>
        </p:spPr>
        <p:txBody>
          <a:bodyPr wrap="square" lIns="0" tIns="0" rIns="0" bIns="0" rtlCol="0" anchor="ctr"/>
          <a:lstStyle/>
          <a:p>
            <a:pPr indent="0" marL="0">
              <a:buNone/>
            </a:pPr>
            <a:r>
              <a:rPr lang="en-US" sz="1000" b="1" spc="100" kern="0" dirty="0">
                <a:solidFill>
                  <a:srgbClr val="D9622B"/>
                </a:solidFill>
                <a:latin typeface="Calibri" pitchFamily="34" charset="0"/>
                <a:ea typeface="Calibri" pitchFamily="34" charset="-122"/>
                <a:cs typeface="Calibri" pitchFamily="34" charset="-120"/>
              </a:rPr>
              <a:t>PRICING POWER IN ACTION</a:t>
            </a:r>
            <a:endParaRPr lang="en-US" sz="1000" dirty="0"/>
          </a:p>
        </p:txBody>
      </p:sp>
      <p:sp>
        <p:nvSpPr>
          <p:cNvPr id="8" name="Text 5"/>
          <p:cNvSpPr/>
          <p:nvPr/>
        </p:nvSpPr>
        <p:spPr>
          <a:xfrm>
            <a:off x="7406640" y="2231136"/>
            <a:ext cx="3962095" cy="502920"/>
          </a:xfrm>
          <a:prstGeom prst="rect">
            <a:avLst/>
          </a:prstGeom>
          <a:noFill/>
          <a:ln/>
        </p:spPr>
        <p:txBody>
          <a:bodyPr wrap="square" lIns="0" tIns="0" rIns="0" bIns="0" rtlCol="0" anchor="ctr"/>
          <a:lstStyle/>
          <a:p>
            <a:pPr indent="0" marL="0">
              <a:lnSpc>
                <a:spcPct val="105000"/>
              </a:lnSpc>
              <a:buNone/>
            </a:pPr>
            <a:r>
              <a:rPr lang="en-US" sz="1300" b="1" dirty="0">
                <a:solidFill>
                  <a:srgbClr val="1C1F26"/>
                </a:solidFill>
                <a:latin typeface="Calibri" pitchFamily="34" charset="0"/>
                <a:ea typeface="Calibri" pitchFamily="34" charset="-122"/>
                <a:cs typeface="Calibri" pitchFamily="34" charset="-120"/>
              </a:rPr>
              <a:t>The Sona Comstar knuckle-casting repricing</a:t>
            </a:r>
            <a:endParaRPr lang="en-US" sz="1300" dirty="0"/>
          </a:p>
        </p:txBody>
      </p:sp>
      <p:sp>
        <p:nvSpPr>
          <p:cNvPr id="9" name="Text 6"/>
          <p:cNvSpPr/>
          <p:nvPr/>
        </p:nvSpPr>
        <p:spPr>
          <a:xfrm>
            <a:off x="7406640" y="2834640"/>
            <a:ext cx="3962095" cy="2834640"/>
          </a:xfrm>
          <a:prstGeom prst="rect">
            <a:avLst/>
          </a:prstGeom>
          <a:noFill/>
          <a:ln/>
        </p:spPr>
        <p:txBody>
          <a:bodyPr wrap="square" lIns="0" tIns="0" rIns="0" bIns="0" rtlCol="0" anchor="ctr"/>
          <a:lstStyle/>
          <a:p>
            <a:pPr indent="0" marL="0">
              <a:lnSpc>
                <a:spcPct val="115000"/>
              </a:lnSpc>
              <a:spcAft>
                <a:spcPts val="800"/>
              </a:spcAft>
              <a:buNone/>
            </a:pPr>
            <a:r>
              <a:rPr lang="en-US" sz="1000" dirty="0">
                <a:solidFill>
                  <a:srgbClr val="1C1F26"/>
                </a:solidFill>
                <a:latin typeface="Calibri" pitchFamily="34" charset="0"/>
                <a:ea typeface="Calibri" pitchFamily="34" charset="-122"/>
                <a:cs typeface="Calibri" pitchFamily="34" charset="-120"/>
              </a:rPr>
              <a:t>Legacy pricing compensated raw-material escalation only, leaving overhead and profit on a fracture-critical, safety-rated casting effectively unpriced.</a:t>
            </a:r>
            <a:endParaRPr lang="en-US" sz="1000" dirty="0"/>
          </a:p>
          <a:p>
            <a:pPr indent="0" marL="0">
              <a:lnSpc>
                <a:spcPct val="115000"/>
              </a:lnSpc>
              <a:spcAft>
                <a:spcPts val="800"/>
              </a:spcAft>
              <a:buNone/>
            </a:pPr>
            <a:r>
              <a:rPr lang="en-US" sz="1000" dirty="0">
                <a:solidFill>
                  <a:srgbClr val="1C1F26"/>
                </a:solidFill>
                <a:latin typeface="Calibri" pitchFamily="34" charset="0"/>
                <a:ea typeface="Calibri" pitchFamily="34" charset="-122"/>
                <a:cs typeface="Calibri" pitchFamily="34" charset="-120"/>
              </a:rPr>
              <a:t>Datre proposed a criticality-based cost-to-serve model instead: a ₹206/kg floor and a ₹225/kg target, itemizing the ₹19/kg gap as labor, repeated inspection, engineering control and yield provision — not raw material.</a:t>
            </a:r>
            <a:endParaRPr lang="en-US" sz="1000" dirty="0"/>
          </a:p>
          <a:p>
            <a:pPr indent="0" marL="0">
              <a:lnSpc>
                <a:spcPct val="115000"/>
              </a:lnSpc>
              <a:buNone/>
            </a:pPr>
            <a:r>
              <a:rPr lang="en-US" sz="1000" dirty="0">
                <a:solidFill>
                  <a:srgbClr val="1C1F26"/>
                </a:solidFill>
                <a:latin typeface="Calibri" pitchFamily="34" charset="0"/>
                <a:ea typeface="Calibri" pitchFamily="34" charset="-122"/>
                <a:cs typeface="Calibri" pitchFamily="34" charset="-120"/>
              </a:rPr>
              <a:t>Status: under negotiation, not yet settled. Included here as evidence of commercial discipline, not as booked revenue.</a:t>
            </a:r>
            <a:endParaRPr lang="en-US" sz="1000" dirty="0"/>
          </a:p>
        </p:txBody>
      </p:sp>
      <p:sp>
        <p:nvSpPr>
          <p:cNvPr id="10" name="Text 7"/>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11" name="Text 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C1F26"/>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GROWTH PIPELINE</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Global qualification is real — and not yet fully de-risked</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1691640"/>
                <a:gridCol w="2148840"/>
                <a:gridCol w="3657600"/>
                <a:gridCol w="3593592"/>
              </a:tblGrid>
              <a:tr h="676656">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Partner</a:t>
                      </a:r>
                      <a:endParaRPr lang="en-US" sz="1000" dirty="0">
                        <a:latin typeface="Calibri" charset="0"/>
                        <a:ea typeface="Calibri" charset="0"/>
                        <a:cs typeface="Calibri"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Geography · Sector</a:t>
                      </a:r>
                      <a:endParaRPr lang="en-US" sz="1000" dirty="0">
                        <a:latin typeface="Calibri" charset="0"/>
                        <a:ea typeface="Calibri" charset="0"/>
                        <a:cs typeface="Calibri"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Diligence note</a:t>
                      </a:r>
                      <a:endParaRPr lang="en-US" sz="1000" dirty="0">
                        <a:latin typeface="Calibri" charset="0"/>
                        <a:ea typeface="Calibri" charset="0"/>
                        <a:cs typeface="Calibri"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r>
              <a:tr h="676656">
                <a:tc>
                  <a:txBody>
                    <a:bodyPr/>
                    <a:lstStyle/>
                    <a:p>
                      <a:pPr algn="l" indent="0" marL="0">
                        <a:buNone/>
                      </a:pPr>
                      <a:r>
                        <a:rPr lang="en-US" sz="1050" b="1" dirty="0">
                          <a:solidFill>
                            <a:srgbClr val="FFFFFF"/>
                          </a:solidFill>
                          <a:latin typeface="Cambria" pitchFamily="34" charset="0"/>
                          <a:ea typeface="Cambria" pitchFamily="34" charset="-122"/>
                          <a:cs typeface="Cambria" pitchFamily="34" charset="-120"/>
                        </a:rPr>
                        <a:t>Komatsu</a:t>
                      </a:r>
                      <a:endParaRPr lang="en-US" sz="1050" dirty="0">
                        <a:latin typeface="Cambria" charset="0"/>
                        <a:ea typeface="Cambria" charset="0"/>
                        <a:cs typeface="Cambria"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c>
                  <a:txBody>
                    <a:bodyPr/>
                    <a:lstStyle/>
                    <a:p>
                      <a:pPr algn="l" indent="0" marL="0">
                        <a:buNone/>
                      </a:pPr>
                      <a:r>
                        <a:rPr lang="en-US" sz="900" i="1" dirty="0">
                          <a:solidFill>
                            <a:srgbClr val="9AA2AD"/>
                          </a:solidFill>
                          <a:latin typeface="Calibri" pitchFamily="34" charset="0"/>
                          <a:ea typeface="Calibri" pitchFamily="34" charset="-122"/>
                          <a:cs typeface="Calibri" pitchFamily="34" charset="-120"/>
                        </a:rPr>
                        <a:t>Himi Plant, Japan · via Uchimura</a:t>
                      </a:r>
                      <a:endParaRPr lang="en-US" sz="900" dirty="0">
                        <a:latin typeface="Calibri" charset="0"/>
                        <a:ea typeface="Calibri" charset="0"/>
                        <a:cs typeface="Calibri"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c>
                  <a:txBody>
                    <a:bodyPr/>
                    <a:lstStyle/>
                    <a:p>
                      <a:pPr algn="l" indent="0" marL="0">
                        <a:buNone/>
                      </a:pPr>
                      <a:r>
                        <a:rPr lang="en-US" sz="930" dirty="0">
                          <a:solidFill>
                            <a:srgbClr val="CBD3DC"/>
                          </a:solidFill>
                          <a:latin typeface="Calibri" pitchFamily="34" charset="0"/>
                          <a:ea typeface="Calibri" pitchFamily="34" charset="-122"/>
                          <a:cs typeface="Calibri" pitchFamily="34" charset="-120"/>
                        </a:rPr>
                        <a:t>5 idler part numbers, 3 under RFQ. Best ₹/kg in the portfolio (₹68-114) — but tiny in absolute terms: ₹1.03L (FY25) → ₹5.23L proj. (FY26), vs. Tega's ₹359L.</a:t>
                      </a:r>
                      <a:endParaRPr lang="en-US" sz="930" dirty="0">
                        <a:latin typeface="Calibri" charset="0"/>
                        <a:ea typeface="Calibri" charset="0"/>
                        <a:cs typeface="Calibri"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c>
                  <a:txBody>
                    <a:bodyPr/>
                    <a:lstStyle/>
                    <a:p>
                      <a:pPr algn="l" indent="0" marL="0">
                        <a:buNone/>
                      </a:pPr>
                      <a:r>
                        <a:rPr lang="en-US" sz="900" dirty="0">
                          <a:solidFill>
                            <a:srgbClr val="B8453F"/>
                          </a:solidFill>
                          <a:latin typeface="Calibri" pitchFamily="34" charset="0"/>
                          <a:ea typeface="Calibri" pitchFamily="34" charset="-122"/>
                          <a:cs typeface="Calibri" pitchFamily="34" charset="-120"/>
                        </a:rPr>
                        <a:t>Open first-article nonconformity (Mar 2026, part 17M3053110). Quality must close first — and stays sub-scale even resolved.</a:t>
                      </a:r>
                      <a:endParaRPr lang="en-US" sz="900" dirty="0">
                        <a:latin typeface="Calibri" charset="0"/>
                        <a:ea typeface="Calibri" charset="0"/>
                        <a:cs typeface="Calibri"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r>
              <a:tr h="676656">
                <a:tc>
                  <a:txBody>
                    <a:bodyPr/>
                    <a:lstStyle/>
                    <a:p>
                      <a:pPr algn="l" indent="0" marL="0">
                        <a:buNone/>
                      </a:pPr>
                      <a:r>
                        <a:rPr lang="en-US" sz="1050" b="1" dirty="0">
                          <a:solidFill>
                            <a:srgbClr val="FFFFFF"/>
                          </a:solidFill>
                          <a:latin typeface="Cambria" pitchFamily="34" charset="0"/>
                          <a:ea typeface="Cambria" pitchFamily="34" charset="-122"/>
                          <a:cs typeface="Cambria" pitchFamily="34" charset="-120"/>
                        </a:rPr>
                        <a:t>Thejo Engineering</a:t>
                      </a:r>
                      <a:endParaRPr lang="en-US" sz="1050" dirty="0">
                        <a:latin typeface="Cambria" charset="0"/>
                        <a:ea typeface="Cambria" charset="0"/>
                        <a:cs typeface="Cambria"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c>
                  <a:txBody>
                    <a:bodyPr/>
                    <a:lstStyle/>
                    <a:p>
                      <a:pPr algn="l" indent="0" marL="0">
                        <a:buNone/>
                      </a:pPr>
                      <a:r>
                        <a:rPr lang="en-US" sz="900" i="1" dirty="0">
                          <a:solidFill>
                            <a:srgbClr val="9AA2AD"/>
                          </a:solidFill>
                          <a:latin typeface="Calibri" pitchFamily="34" charset="0"/>
                          <a:ea typeface="Calibri" pitchFamily="34" charset="-122"/>
                          <a:cs typeface="Calibri" pitchFamily="34" charset="-120"/>
                        </a:rPr>
                        <a:t>India · mining wear parts</a:t>
                      </a:r>
                      <a:endParaRPr lang="en-US" sz="900" dirty="0">
                        <a:latin typeface="Calibri" charset="0"/>
                        <a:ea typeface="Calibri" charset="0"/>
                        <a:cs typeface="Calibri"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c>
                  <a:txBody>
                    <a:bodyPr/>
                    <a:lstStyle/>
                    <a:p>
                      <a:pPr algn="l" indent="0" marL="0">
                        <a:buNone/>
                      </a:pPr>
                      <a:r>
                        <a:rPr lang="en-US" sz="930" dirty="0">
                          <a:solidFill>
                            <a:srgbClr val="CBD3DC"/>
                          </a:solidFill>
                          <a:latin typeface="Calibri" pitchFamily="34" charset="0"/>
                          <a:ea typeface="Calibri" pitchFamily="34" charset="-122"/>
                          <a:cs typeface="Calibri" pitchFamily="34" charset="-120"/>
                        </a:rPr>
                        <a:t>NDA/exclusive tie-up alongside Tega. Live, growing account since FY22-23; order volumes rising into FY26-27.</a:t>
                      </a:r>
                      <a:endParaRPr lang="en-US" sz="930" dirty="0">
                        <a:latin typeface="Calibri" charset="0"/>
                        <a:ea typeface="Calibri" charset="0"/>
                        <a:cs typeface="Calibri"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c>
                  <a:txBody>
                    <a:bodyPr/>
                    <a:lstStyle/>
                    <a:p>
                      <a:pPr algn="l" indent="0" marL="0">
                        <a:buNone/>
                      </a:pPr>
                      <a:r>
                        <a:rPr lang="en-US" sz="900" dirty="0">
                          <a:solidFill>
                            <a:srgbClr val="3F8F5F"/>
                          </a:solidFill>
                          <a:latin typeface="Calibri" pitchFamily="34" charset="0"/>
                          <a:ea typeface="Calibri" pitchFamily="34" charset="-122"/>
                          <a:cs typeface="Calibri" pitchFamily="34" charset="-120"/>
                        </a:rPr>
                        <a:t>Small next to Tega/Escorts — the clearest active diversification story today.</a:t>
                      </a:r>
                      <a:endParaRPr lang="en-US" sz="900" dirty="0">
                        <a:latin typeface="Calibri" charset="0"/>
                        <a:ea typeface="Calibri" charset="0"/>
                        <a:cs typeface="Calibri"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r>
              <a:tr h="676656">
                <a:tc>
                  <a:txBody>
                    <a:bodyPr/>
                    <a:lstStyle/>
                    <a:p>
                      <a:pPr algn="l" indent="0" marL="0">
                        <a:buNone/>
                      </a:pPr>
                      <a:r>
                        <a:rPr lang="en-US" sz="1050" b="1" dirty="0">
                          <a:solidFill>
                            <a:srgbClr val="FFFFFF"/>
                          </a:solidFill>
                          <a:latin typeface="Cambria" pitchFamily="34" charset="0"/>
                          <a:ea typeface="Cambria" pitchFamily="34" charset="-122"/>
                          <a:cs typeface="Cambria" pitchFamily="34" charset="-120"/>
                        </a:rPr>
                        <a:t>Henseley Industries</a:t>
                      </a:r>
                      <a:endParaRPr lang="en-US" sz="1050" dirty="0">
                        <a:latin typeface="Cambria" charset="0"/>
                        <a:ea typeface="Cambria" charset="0"/>
                        <a:cs typeface="Cambria"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c>
                  <a:txBody>
                    <a:bodyPr/>
                    <a:lstStyle/>
                    <a:p>
                      <a:pPr algn="l" indent="0" marL="0">
                        <a:buNone/>
                      </a:pPr>
                      <a:r>
                        <a:rPr lang="en-US" sz="900" i="1" dirty="0">
                          <a:solidFill>
                            <a:srgbClr val="9AA2AD"/>
                          </a:solidFill>
                          <a:latin typeface="Calibri" pitchFamily="34" charset="0"/>
                          <a:ea typeface="Calibri" pitchFamily="34" charset="-122"/>
                          <a:cs typeface="Calibri" pitchFamily="34" charset="-120"/>
                        </a:rPr>
                        <a:t>USA · construction, HEMM</a:t>
                      </a:r>
                      <a:endParaRPr lang="en-US" sz="900" dirty="0">
                        <a:latin typeface="Calibri" charset="0"/>
                        <a:ea typeface="Calibri" charset="0"/>
                        <a:cs typeface="Calibri"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c>
                  <a:txBody>
                    <a:bodyPr/>
                    <a:lstStyle/>
                    <a:p>
                      <a:pPr algn="l" indent="0" marL="0">
                        <a:buNone/>
                      </a:pPr>
                      <a:r>
                        <a:rPr lang="en-US" sz="930" dirty="0">
                          <a:solidFill>
                            <a:srgbClr val="CBD3DC"/>
                          </a:solidFill>
                          <a:latin typeface="Calibri" pitchFamily="34" charset="0"/>
                          <a:ea typeface="Calibri" pitchFamily="34" charset="-122"/>
                          <a:cs typeface="Calibri" pitchFamily="34" charset="-120"/>
                        </a:rPr>
                        <a:t>Export tie-up under NDA; initial trial in progress. First contribution projected FY25: ₹0.81L — a start, not yet a business.</a:t>
                      </a:r>
                      <a:endParaRPr lang="en-US" sz="930" dirty="0">
                        <a:latin typeface="Calibri" charset="0"/>
                        <a:ea typeface="Calibri" charset="0"/>
                        <a:cs typeface="Calibri"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c>
                  <a:txBody>
                    <a:bodyPr/>
                    <a:lstStyle/>
                    <a:p>
                      <a:pPr algn="l" indent="0" marL="0">
                        <a:buNone/>
                      </a:pPr>
                      <a:r>
                        <a:rPr lang="en-US" sz="900" dirty="0">
                          <a:solidFill>
                            <a:srgbClr val="B8453F"/>
                          </a:solidFill>
                          <a:latin typeface="Calibri" pitchFamily="34" charset="0"/>
                          <a:ea typeface="Calibri" pitchFamily="34" charset="-122"/>
                          <a:cs typeface="Calibri" pitchFamily="34" charset="-120"/>
                        </a:rPr>
                        <a:t>Earlier sample batches failed on impact properties; corrective re-heat-treatment applied. Not yet a qualified supply line.</a:t>
                      </a:r>
                      <a:endParaRPr lang="en-US" sz="900" dirty="0">
                        <a:latin typeface="Calibri" charset="0"/>
                        <a:ea typeface="Calibri" charset="0"/>
                        <a:cs typeface="Calibri"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r>
              <a:tr h="676656">
                <a:tc>
                  <a:txBody>
                    <a:bodyPr/>
                    <a:lstStyle/>
                    <a:p>
                      <a:pPr algn="l" indent="0" marL="0">
                        <a:buNone/>
                      </a:pPr>
                      <a:r>
                        <a:rPr lang="en-US" sz="1050" b="1" dirty="0">
                          <a:solidFill>
                            <a:srgbClr val="FFFFFF"/>
                          </a:solidFill>
                          <a:latin typeface="Cambria" pitchFamily="34" charset="0"/>
                          <a:ea typeface="Cambria" pitchFamily="34" charset="-122"/>
                          <a:cs typeface="Cambria" pitchFamily="34" charset="-120"/>
                        </a:rPr>
                        <a:t>Knorr-Bremse</a:t>
                      </a:r>
                      <a:endParaRPr lang="en-US" sz="1050" dirty="0">
                        <a:latin typeface="Cambria" charset="0"/>
                        <a:ea typeface="Cambria" charset="0"/>
                        <a:cs typeface="Cambria"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c>
                  <a:txBody>
                    <a:bodyPr/>
                    <a:lstStyle/>
                    <a:p>
                      <a:pPr algn="l" indent="0" marL="0">
                        <a:buNone/>
                      </a:pPr>
                      <a:r>
                        <a:rPr lang="en-US" sz="900" i="1" dirty="0">
                          <a:solidFill>
                            <a:srgbClr val="9AA2AD"/>
                          </a:solidFill>
                          <a:latin typeface="Calibri" pitchFamily="34" charset="0"/>
                          <a:ea typeface="Calibri" pitchFamily="34" charset="-122"/>
                          <a:cs typeface="Calibri" pitchFamily="34" charset="-120"/>
                        </a:rPr>
                        <a:t>Germany · railway components</a:t>
                      </a:r>
                      <a:endParaRPr lang="en-US" sz="900" dirty="0">
                        <a:latin typeface="Calibri" charset="0"/>
                        <a:ea typeface="Calibri" charset="0"/>
                        <a:cs typeface="Calibri"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c>
                  <a:txBody>
                    <a:bodyPr/>
                    <a:lstStyle/>
                    <a:p>
                      <a:pPr algn="l" indent="0" marL="0">
                        <a:buNone/>
                      </a:pPr>
                      <a:r>
                        <a:rPr lang="en-US" sz="930" dirty="0">
                          <a:solidFill>
                            <a:srgbClr val="CBD3DC"/>
                          </a:solidFill>
                          <a:latin typeface="Calibri" pitchFamily="34" charset="0"/>
                          <a:ea typeface="Calibri" pitchFamily="34" charset="-122"/>
                          <a:cs typeface="Calibri" pitchFamily="34" charset="-120"/>
                        </a:rPr>
                        <a:t>Agreement in progress, per company materials.</a:t>
                      </a:r>
                      <a:endParaRPr lang="en-US" sz="930" dirty="0">
                        <a:latin typeface="Calibri" charset="0"/>
                        <a:ea typeface="Calibri" charset="0"/>
                        <a:cs typeface="Calibri"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c>
                  <a:txBody>
                    <a:bodyPr/>
                    <a:lstStyle/>
                    <a:p>
                      <a:pPr algn="l" indent="0" marL="0">
                        <a:buNone/>
                      </a:pPr>
                      <a:r>
                        <a:rPr lang="en-US" sz="900" dirty="0">
                          <a:solidFill>
                            <a:srgbClr val="E8B84B"/>
                          </a:solidFill>
                          <a:latin typeface="Calibri" pitchFamily="34" charset="0"/>
                          <a:ea typeface="Calibri" pitchFamily="34" charset="-122"/>
                          <a:cs typeface="Calibri" pitchFamily="34" charset="-120"/>
                        </a:rPr>
                        <a:t>Early-stage; no order or trial data available to independently size this.</a:t>
                      </a:r>
                      <a:endParaRPr lang="en-US" sz="900" dirty="0">
                        <a:latin typeface="Calibri" charset="0"/>
                        <a:ea typeface="Calibri" charset="0"/>
                        <a:cs typeface="Calibri"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r>
              <a:tr h="676656">
                <a:tc>
                  <a:txBody>
                    <a:bodyPr/>
                    <a:lstStyle/>
                    <a:p>
                      <a:pPr algn="l" indent="0" marL="0">
                        <a:buNone/>
                      </a:pPr>
                      <a:r>
                        <a:rPr lang="en-US" sz="1050" b="1" dirty="0">
                          <a:solidFill>
                            <a:srgbClr val="FFFFFF"/>
                          </a:solidFill>
                          <a:latin typeface="Cambria" pitchFamily="34" charset="0"/>
                          <a:ea typeface="Cambria" pitchFamily="34" charset="-122"/>
                          <a:cs typeface="Cambria" pitchFamily="34" charset="-120"/>
                        </a:rPr>
                        <a:t>Strato</a:t>
                      </a:r>
                      <a:endParaRPr lang="en-US" sz="1050" dirty="0">
                        <a:latin typeface="Cambria" charset="0"/>
                        <a:ea typeface="Cambria" charset="0"/>
                        <a:cs typeface="Cambria"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c>
                  <a:txBody>
                    <a:bodyPr/>
                    <a:lstStyle/>
                    <a:p>
                      <a:pPr algn="l" indent="0" marL="0">
                        <a:buNone/>
                      </a:pPr>
                      <a:r>
                        <a:rPr lang="en-US" sz="900" i="1" dirty="0">
                          <a:solidFill>
                            <a:srgbClr val="9AA2AD"/>
                          </a:solidFill>
                          <a:latin typeface="Calibri" pitchFamily="34" charset="0"/>
                          <a:ea typeface="Calibri" pitchFamily="34" charset="-122"/>
                          <a:cs typeface="Calibri" pitchFamily="34" charset="-120"/>
                        </a:rPr>
                        <a:t>USA · railway components</a:t>
                      </a:r>
                      <a:endParaRPr lang="en-US" sz="900" dirty="0">
                        <a:latin typeface="Calibri" charset="0"/>
                        <a:ea typeface="Calibri" charset="0"/>
                        <a:cs typeface="Calibri"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c>
                  <a:txBody>
                    <a:bodyPr/>
                    <a:lstStyle/>
                    <a:p>
                      <a:pPr algn="l" indent="0" marL="0">
                        <a:buNone/>
                      </a:pPr>
                      <a:r>
                        <a:rPr lang="en-US" sz="930" dirty="0">
                          <a:solidFill>
                            <a:srgbClr val="CBD3DC"/>
                          </a:solidFill>
                          <a:latin typeface="Calibri" pitchFamily="34" charset="0"/>
                          <a:ea typeface="Calibri" pitchFamily="34" charset="-122"/>
                          <a:cs typeface="Calibri" pitchFamily="34" charset="-120"/>
                        </a:rPr>
                        <a:t>Agreement in progress, per company materials.</a:t>
                      </a:r>
                      <a:endParaRPr lang="en-US" sz="930" dirty="0">
                        <a:latin typeface="Calibri" charset="0"/>
                        <a:ea typeface="Calibri" charset="0"/>
                        <a:cs typeface="Calibri"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c>
                  <a:txBody>
                    <a:bodyPr/>
                    <a:lstStyle/>
                    <a:p>
                      <a:pPr algn="l" indent="0" marL="0">
                        <a:buNone/>
                      </a:pPr>
                      <a:r>
                        <a:rPr lang="en-US" sz="900" dirty="0">
                          <a:solidFill>
                            <a:srgbClr val="E8B84B"/>
                          </a:solidFill>
                          <a:latin typeface="Calibri" pitchFamily="34" charset="0"/>
                          <a:ea typeface="Calibri" pitchFamily="34" charset="-122"/>
                          <a:cs typeface="Calibri" pitchFamily="34" charset="-120"/>
                        </a:rPr>
                        <a:t>Early-stage; no order or trial data available to independently size this.</a:t>
                      </a:r>
                      <a:endParaRPr lang="en-US" sz="900" dirty="0">
                        <a:latin typeface="Calibri" charset="0"/>
                        <a:ea typeface="Calibri" charset="0"/>
                        <a:cs typeface="Calibri" charset="0"/>
                      </a:endParaRPr>
                    </a:p>
                  </a:txBody>
                  <a:tcPr marL="114300" marR="114300" marT="63500" marB="63500" anchor="ctr">
                    <a:lnL w="6350" cap="flat" cmpd="sng" algn="ctr">
                      <a:solidFill>
                        <a:srgbClr val="3A4553"/>
                      </a:solidFill>
                      <a:prstDash val="solid"/>
                      <a:round/>
                      <a:headEnd type="none" w="med" len="med"/>
                      <a:tailEnd type="none" w="med" len="med"/>
                    </a:lnL>
                    <a:lnR w="6350" cap="flat" cmpd="sng" algn="ctr">
                      <a:solidFill>
                        <a:srgbClr val="3A4553"/>
                      </a:solidFill>
                      <a:prstDash val="solid"/>
                      <a:round/>
                      <a:headEnd type="none" w="med" len="med"/>
                      <a:tailEnd type="none" w="med" len="med"/>
                    </a:lnR>
                    <a:lnT w="6350" cap="flat" cmpd="sng" algn="ctr">
                      <a:solidFill>
                        <a:srgbClr val="3A4553"/>
                      </a:solidFill>
                      <a:prstDash val="solid"/>
                      <a:round/>
                      <a:headEnd type="none" w="med" len="med"/>
                      <a:tailEnd type="none" w="med" len="med"/>
                    </a:lnT>
                    <a:lnB w="6350" cap="flat" cmpd="sng" algn="ctr">
                      <a:solidFill>
                        <a:srgbClr val="3A4553"/>
                      </a:solidFill>
                      <a:prstDash val="solid"/>
                      <a:round/>
                      <a:headEnd type="none" w="med" len="med"/>
                      <a:tailEnd type="none" w="med" len="med"/>
                    </a:lnB>
                    <a:solidFill>
                      <a:srgbClr val="262B34"/>
                    </a:solidFill>
                  </a:tcPr>
                </a:tc>
              </a:tr>
            </a:tbl>
          </a:graphicData>
        </a:graphic>
      </p:graphicFrame>
      <p:sp>
        <p:nvSpPr>
          <p:cNvPr id="5" name="Text 2"/>
          <p:cNvSpPr/>
          <p:nvPr/>
        </p:nvSpPr>
        <p:spPr>
          <a:xfrm>
            <a:off x="548640" y="5989320"/>
            <a:ext cx="11094415" cy="365760"/>
          </a:xfrm>
          <a:prstGeom prst="rect">
            <a:avLst/>
          </a:prstGeom>
          <a:noFill/>
          <a:ln/>
        </p:spPr>
        <p:txBody>
          <a:bodyPr wrap="square" lIns="0" tIns="0" rIns="0" bIns="0" rtlCol="0" anchor="ctr"/>
          <a:lstStyle/>
          <a:p>
            <a:pPr indent="0" marL="0">
              <a:buNone/>
            </a:pPr>
            <a:r>
              <a:rPr lang="en-US" sz="800" i="1" dirty="0">
                <a:solidFill>
                  <a:srgbClr val="7A828E"/>
                </a:solidFill>
                <a:latin typeface="Calibri" pitchFamily="34" charset="0"/>
                <a:ea typeface="Calibri" pitchFamily="34" charset="-122"/>
                <a:cs typeface="Calibri" pitchFamily="34" charset="-120"/>
              </a:rPr>
              <a:t>“Diligence note” column reflects gaps and open items found during review, not management's own characterization of these relationships.</a:t>
            </a:r>
            <a:endParaRPr lang="en-US" sz="800" dirty="0"/>
          </a:p>
        </p:txBody>
      </p:sp>
      <p:sp>
        <p:nvSpPr>
          <p:cNvPr id="6" name="Text 3"/>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8B93A0"/>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7" name="Text 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8B93A0"/>
                </a:solidFill>
                <a:latin typeface="Calibri" pitchFamily="34" charset="0"/>
                <a:ea typeface="Calibri" pitchFamily="34" charset="-122"/>
                <a:cs typeface="Calibri"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COMPETITIVE POSITION</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1C1F26"/>
                </a:solidFill>
                <a:latin typeface="Cambria" pitchFamily="34" charset="0"/>
                <a:ea typeface="Cambria" pitchFamily="34" charset="-122"/>
                <a:cs typeface="Cambria" pitchFamily="34" charset="-120"/>
              </a:rPr>
              <a:t>Scale and margin, against named Indian foundry peers</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743200"/>
                <a:gridCol w="1417320"/>
                <a:gridCol w="1280160"/>
                <a:gridCol w="1280160"/>
                <a:gridCol w="4370832"/>
              </a:tblGrid>
              <a:tr h="45720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Company</a:t>
                      </a:r>
                      <a:endParaRPr lang="en-US" sz="100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1C1F2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Revenue (₹ Cr)</a:t>
                      </a:r>
                      <a:endParaRPr lang="en-US" sz="100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1C1F2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EBIT margin</a:t>
                      </a:r>
                      <a:endParaRPr lang="en-US" sz="100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1C1F2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Net margin</a:t>
                      </a:r>
                      <a:endParaRPr lang="en-US" sz="100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1C1F26"/>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Note</a:t>
                      </a:r>
                      <a:endParaRPr lang="en-US" sz="100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1C1F26"/>
                    </a:solidFill>
                  </a:tcPr>
                </a:tc>
              </a:tr>
              <a:tr h="457200">
                <a:tc>
                  <a:txBody>
                    <a:bodyPr/>
                    <a:lstStyle/>
                    <a:p>
                      <a:pPr algn="l" indent="0" marL="0">
                        <a:buNone/>
                      </a:pPr>
                      <a:r>
                        <a:rPr lang="en-US" sz="960" b="1" dirty="0">
                          <a:solidFill>
                            <a:srgbClr val="D9622B"/>
                          </a:solidFill>
                          <a:latin typeface="Calibri" pitchFamily="34" charset="0"/>
                          <a:ea typeface="Calibri" pitchFamily="34" charset="-122"/>
                          <a:cs typeface="Calibri" pitchFamily="34" charset="-120"/>
                        </a:rPr>
                        <a:t>Datre Corporation</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BEEEC"/>
                    </a:solidFill>
                  </a:tcPr>
                </a:tc>
                <a:tc>
                  <a:txBody>
                    <a:bodyPr/>
                    <a:lstStyle/>
                    <a:p>
                      <a:pPr algn="ctr" indent="0" marL="0">
                        <a:buNone/>
                      </a:pPr>
                      <a:r>
                        <a:rPr lang="en-US" sz="960" dirty="0">
                          <a:solidFill>
                            <a:srgbClr val="D9622B"/>
                          </a:solidFill>
                          <a:latin typeface="Calibri" pitchFamily="34" charset="0"/>
                          <a:ea typeface="Calibri" pitchFamily="34" charset="-122"/>
                          <a:cs typeface="Calibri" pitchFamily="34" charset="-120"/>
                        </a:rPr>
                        <a:t>8.5</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BEEEC"/>
                    </a:solidFill>
                  </a:tcPr>
                </a:tc>
                <a:tc>
                  <a:txBody>
                    <a:bodyPr/>
                    <a:lstStyle/>
                    <a:p>
                      <a:pPr algn="ctr" indent="0" marL="0">
                        <a:buNone/>
                      </a:pPr>
                      <a:r>
                        <a:rPr lang="en-US" sz="960" dirty="0">
                          <a:solidFill>
                            <a:srgbClr val="D9622B"/>
                          </a:solidFill>
                          <a:latin typeface="Calibri" pitchFamily="34" charset="0"/>
                          <a:ea typeface="Calibri" pitchFamily="34" charset="-122"/>
                          <a:cs typeface="Calibri" pitchFamily="34" charset="-120"/>
                        </a:rPr>
                        <a:t>-0.3%</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BEEEC"/>
                    </a:solidFill>
                  </a:tcPr>
                </a:tc>
                <a:tc>
                  <a:txBody>
                    <a:bodyPr/>
                    <a:lstStyle/>
                    <a:p>
                      <a:pPr algn="ctr" indent="0" marL="0">
                        <a:buNone/>
                      </a:pPr>
                      <a:r>
                        <a:rPr lang="en-US" sz="960" dirty="0">
                          <a:solidFill>
                            <a:srgbClr val="D9622B"/>
                          </a:solidFill>
                          <a:latin typeface="Calibri" pitchFamily="34" charset="0"/>
                          <a:ea typeface="Calibri" pitchFamily="34" charset="-122"/>
                          <a:cs typeface="Calibri" pitchFamily="34" charset="-120"/>
                        </a:rPr>
                        <a:t>-0.3%</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BEEEC"/>
                    </a:solidFill>
                  </a:tcPr>
                </a:tc>
                <a:tc>
                  <a:txBody>
                    <a:bodyPr/>
                    <a:lstStyle/>
                    <a:p>
                      <a:pPr algn="l" indent="0" marL="0">
                        <a:buNone/>
                      </a:pPr>
                      <a:r>
                        <a:rPr lang="en-US" sz="960" dirty="0">
                          <a:solidFill>
                            <a:srgbClr val="D9622B"/>
                          </a:solidFill>
                          <a:latin typeface="Calibri" pitchFamily="34" charset="0"/>
                          <a:ea typeface="Calibri" pitchFamily="34" charset="-122"/>
                          <a:cs typeface="Calibri" pitchFamily="34" charset="-120"/>
                        </a:rPr>
                        <a:t>FY21 — Covid-era trough</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BEEEC"/>
                    </a:solidFill>
                  </a:tcPr>
                </a:tc>
              </a:tr>
              <a:tr h="457200">
                <a:tc>
                  <a:txBody>
                    <a:bodyPr/>
                    <a:lstStyle/>
                    <a:p>
                      <a:pPr algn="l" indent="0" marL="0">
                        <a:buNone/>
                      </a:pPr>
                      <a:r>
                        <a:rPr lang="en-US" sz="960" b="1" dirty="0">
                          <a:solidFill>
                            <a:srgbClr val="1C1F26"/>
                          </a:solidFill>
                          <a:latin typeface="Calibri" pitchFamily="34" charset="0"/>
                          <a:ea typeface="Calibri" pitchFamily="34" charset="-122"/>
                          <a:cs typeface="Calibri" pitchFamily="34" charset="-120"/>
                        </a:rPr>
                        <a:t>Big Castings Pvt Ltd</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c>
                  <a:txBody>
                    <a:bodyPr/>
                    <a:lstStyle/>
                    <a:p>
                      <a:pPr algn="ctr" indent="0" marL="0">
                        <a:buNone/>
                      </a:pPr>
                      <a:r>
                        <a:rPr lang="en-US" sz="960" dirty="0">
                          <a:solidFill>
                            <a:srgbClr val="1C1F26"/>
                          </a:solidFill>
                          <a:latin typeface="Calibri" pitchFamily="34" charset="0"/>
                          <a:ea typeface="Calibri" pitchFamily="34" charset="-122"/>
                          <a:cs typeface="Calibri" pitchFamily="34" charset="-120"/>
                        </a:rPr>
                        <a:t>22.0</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c>
                  <a:txBody>
                    <a:bodyPr/>
                    <a:lstStyle/>
                    <a:p>
                      <a:pPr algn="ctr" indent="0" marL="0">
                        <a:buNone/>
                      </a:pPr>
                      <a:r>
                        <a:rPr lang="en-US" sz="960" dirty="0">
                          <a:solidFill>
                            <a:srgbClr val="1C1F26"/>
                          </a:solidFill>
                          <a:latin typeface="Calibri" pitchFamily="34" charset="0"/>
                          <a:ea typeface="Calibri" pitchFamily="34" charset="-122"/>
                          <a:cs typeface="Calibri" pitchFamily="34" charset="-120"/>
                        </a:rPr>
                        <a:t>10%</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c>
                  <a:txBody>
                    <a:bodyPr/>
                    <a:lstStyle/>
                    <a:p>
                      <a:pPr algn="ctr" indent="0" marL="0">
                        <a:buNone/>
                      </a:pPr>
                      <a:r>
                        <a:rPr lang="en-US" sz="960" dirty="0">
                          <a:solidFill>
                            <a:srgbClr val="1C1F26"/>
                          </a:solidFill>
                          <a:latin typeface="Calibri" pitchFamily="34" charset="0"/>
                          <a:ea typeface="Calibri" pitchFamily="34" charset="-122"/>
                          <a:cs typeface="Calibri" pitchFamily="34" charset="-120"/>
                        </a:rPr>
                        <a:t>8%</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C1F26"/>
                          </a:solidFill>
                          <a:latin typeface="Calibri" pitchFamily="34" charset="0"/>
                          <a:ea typeface="Calibri" pitchFamily="34" charset="-122"/>
                          <a:cs typeface="Calibri" pitchFamily="34" charset="-120"/>
                        </a:rPr>
                        <a:t>Similar scale, best-in-class margin</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r>
              <a:tr h="457200">
                <a:tc>
                  <a:txBody>
                    <a:bodyPr/>
                    <a:lstStyle/>
                    <a:p>
                      <a:pPr algn="l" indent="0" marL="0">
                        <a:buNone/>
                      </a:pPr>
                      <a:r>
                        <a:rPr lang="en-US" sz="960" b="1" dirty="0">
                          <a:solidFill>
                            <a:srgbClr val="1C1F26"/>
                          </a:solidFill>
                          <a:latin typeface="Calibri" pitchFamily="34" charset="0"/>
                          <a:ea typeface="Calibri" pitchFamily="34" charset="-122"/>
                          <a:cs typeface="Calibri" pitchFamily="34" charset="-120"/>
                        </a:rPr>
                        <a:t>Aqua Alloys Pvt Ltd</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c>
                  <a:txBody>
                    <a:bodyPr/>
                    <a:lstStyle/>
                    <a:p>
                      <a:pPr algn="ctr" indent="0" marL="0">
                        <a:buNone/>
                      </a:pPr>
                      <a:r>
                        <a:rPr lang="en-US" sz="960" dirty="0">
                          <a:solidFill>
                            <a:srgbClr val="1C1F26"/>
                          </a:solidFill>
                          <a:latin typeface="Calibri" pitchFamily="34" charset="0"/>
                          <a:ea typeface="Calibri" pitchFamily="34" charset="-122"/>
                          <a:cs typeface="Calibri" pitchFamily="34" charset="-120"/>
                        </a:rPr>
                        <a:t>54.3</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c>
                  <a:txBody>
                    <a:bodyPr/>
                    <a:lstStyle/>
                    <a:p>
                      <a:pPr algn="ctr" indent="0" marL="0">
                        <a:buNone/>
                      </a:pPr>
                      <a:r>
                        <a:rPr lang="en-US" sz="960" dirty="0">
                          <a:solidFill>
                            <a:srgbClr val="1C1F26"/>
                          </a:solidFill>
                          <a:latin typeface="Calibri" pitchFamily="34" charset="0"/>
                          <a:ea typeface="Calibri" pitchFamily="34" charset="-122"/>
                          <a:cs typeface="Calibri" pitchFamily="34" charset="-120"/>
                        </a:rPr>
                        <a:t>3%</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c>
                  <a:txBody>
                    <a:bodyPr/>
                    <a:lstStyle/>
                    <a:p>
                      <a:pPr algn="ctr" indent="0" marL="0">
                        <a:buNone/>
                      </a:pPr>
                      <a:r>
                        <a:rPr lang="en-US" sz="960" dirty="0">
                          <a:solidFill>
                            <a:srgbClr val="1C1F26"/>
                          </a:solidFill>
                          <a:latin typeface="Calibri" pitchFamily="34" charset="0"/>
                          <a:ea typeface="Calibri" pitchFamily="34" charset="-122"/>
                          <a:cs typeface="Calibri" pitchFamily="34" charset="-120"/>
                        </a:rPr>
                        <a:t>7%</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c>
                  <a:txBody>
                    <a:bodyPr/>
                    <a:lstStyle/>
                    <a:p>
                      <a:pPr algn="l" indent="0" marL="0">
                        <a:buNone/>
                      </a:pPr>
                      <a:r>
                        <a:rPr lang="en-US" sz="960" dirty="0">
                          <a:solidFill>
                            <a:srgbClr val="1C1F26"/>
                          </a:solidFill>
                          <a:latin typeface="Calibri" pitchFamily="34" charset="0"/>
                          <a:ea typeface="Calibri" pitchFamily="34" charset="-122"/>
                          <a:cs typeface="Calibri" pitchFamily="34" charset="-120"/>
                        </a:rPr>
                        <a:t>Larger scale, strong margin</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r>
              <a:tr h="457200">
                <a:tc>
                  <a:txBody>
                    <a:bodyPr/>
                    <a:lstStyle/>
                    <a:p>
                      <a:pPr algn="l" indent="0" marL="0">
                        <a:buNone/>
                      </a:pPr>
                      <a:r>
                        <a:rPr lang="en-US" sz="960" b="1" dirty="0">
                          <a:solidFill>
                            <a:srgbClr val="1C1F26"/>
                          </a:solidFill>
                          <a:latin typeface="Calibri" pitchFamily="34" charset="0"/>
                          <a:ea typeface="Calibri" pitchFamily="34" charset="-122"/>
                          <a:cs typeface="Calibri" pitchFamily="34" charset="-120"/>
                        </a:rPr>
                        <a:t>Fortune Foundries</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c>
                  <a:txBody>
                    <a:bodyPr/>
                    <a:lstStyle/>
                    <a:p>
                      <a:pPr algn="ctr" indent="0" marL="0">
                        <a:buNone/>
                      </a:pPr>
                      <a:r>
                        <a:rPr lang="en-US" sz="960" dirty="0">
                          <a:solidFill>
                            <a:srgbClr val="1C1F26"/>
                          </a:solidFill>
                          <a:latin typeface="Calibri" pitchFamily="34" charset="0"/>
                          <a:ea typeface="Calibri" pitchFamily="34" charset="-122"/>
                          <a:cs typeface="Calibri" pitchFamily="34" charset="-120"/>
                        </a:rPr>
                        <a:t>18.7</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c>
                  <a:txBody>
                    <a:bodyPr/>
                    <a:lstStyle/>
                    <a:p>
                      <a:pPr algn="ctr" indent="0" marL="0">
                        <a:buNone/>
                      </a:pPr>
                      <a:r>
                        <a:rPr lang="en-US" sz="960" dirty="0">
                          <a:solidFill>
                            <a:srgbClr val="1C1F26"/>
                          </a:solidFill>
                          <a:latin typeface="Calibri" pitchFamily="34" charset="0"/>
                          <a:ea typeface="Calibri" pitchFamily="34" charset="-122"/>
                          <a:cs typeface="Calibri" pitchFamily="34" charset="-120"/>
                        </a:rPr>
                        <a:t>6%</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c>
                  <a:txBody>
                    <a:bodyPr/>
                    <a:lstStyle/>
                    <a:p>
                      <a:pPr algn="ctr" indent="0" marL="0">
                        <a:buNone/>
                      </a:pPr>
                      <a:r>
                        <a:rPr lang="en-US" sz="960" dirty="0">
                          <a:solidFill>
                            <a:srgbClr val="1C1F26"/>
                          </a:solidFill>
                          <a:latin typeface="Calibri" pitchFamily="34" charset="0"/>
                          <a:ea typeface="Calibri" pitchFamily="34" charset="-122"/>
                          <a:cs typeface="Calibri" pitchFamily="34" charset="-120"/>
                        </a:rPr>
                        <a:t>1%</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C1F26"/>
                          </a:solidFill>
                          <a:latin typeface="Calibri" pitchFamily="34" charset="0"/>
                          <a:ea typeface="Calibri" pitchFamily="34" charset="-122"/>
                          <a:cs typeface="Calibri" pitchFamily="34" charset="-120"/>
                        </a:rPr>
                        <a:t>Similar scale, thin margin</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r>
              <a:tr h="457200">
                <a:tc>
                  <a:txBody>
                    <a:bodyPr/>
                    <a:lstStyle/>
                    <a:p>
                      <a:pPr algn="l" indent="0" marL="0">
                        <a:buNone/>
                      </a:pPr>
                      <a:r>
                        <a:rPr lang="en-US" sz="960" b="1" dirty="0">
                          <a:solidFill>
                            <a:srgbClr val="1C1F26"/>
                          </a:solidFill>
                          <a:latin typeface="Calibri" pitchFamily="34" charset="0"/>
                          <a:ea typeface="Calibri" pitchFamily="34" charset="-122"/>
                          <a:cs typeface="Calibri" pitchFamily="34" charset="-120"/>
                        </a:rPr>
                        <a:t>Prragathi Steel Castings</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c>
                  <a:txBody>
                    <a:bodyPr/>
                    <a:lstStyle/>
                    <a:p>
                      <a:pPr algn="ctr" indent="0" marL="0">
                        <a:buNone/>
                      </a:pPr>
                      <a:r>
                        <a:rPr lang="en-US" sz="960" dirty="0">
                          <a:solidFill>
                            <a:srgbClr val="1C1F26"/>
                          </a:solidFill>
                          <a:latin typeface="Calibri" pitchFamily="34" charset="0"/>
                          <a:ea typeface="Calibri" pitchFamily="34" charset="-122"/>
                          <a:cs typeface="Calibri" pitchFamily="34" charset="-120"/>
                        </a:rPr>
                        <a:t>35.2</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c>
                  <a:txBody>
                    <a:bodyPr/>
                    <a:lstStyle/>
                    <a:p>
                      <a:pPr algn="ctr" indent="0" marL="0">
                        <a:buNone/>
                      </a:pPr>
                      <a:r>
                        <a:rPr lang="en-US" sz="960" dirty="0">
                          <a:solidFill>
                            <a:srgbClr val="1C1F26"/>
                          </a:solidFill>
                          <a:latin typeface="Calibri" pitchFamily="34" charset="0"/>
                          <a:ea typeface="Calibri" pitchFamily="34" charset="-122"/>
                          <a:cs typeface="Calibri" pitchFamily="34" charset="-120"/>
                        </a:rPr>
                        <a:t>12%</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c>
                  <a:txBody>
                    <a:bodyPr/>
                    <a:lstStyle/>
                    <a:p>
                      <a:pPr algn="ctr" indent="0" marL="0">
                        <a:buNone/>
                      </a:pPr>
                      <a:r>
                        <a:rPr lang="en-US" sz="960" dirty="0">
                          <a:solidFill>
                            <a:srgbClr val="1C1F26"/>
                          </a:solidFill>
                          <a:latin typeface="Calibri" pitchFamily="34" charset="0"/>
                          <a:ea typeface="Calibri" pitchFamily="34" charset="-122"/>
                          <a:cs typeface="Calibri" pitchFamily="34" charset="-120"/>
                        </a:rPr>
                        <a:t>0%</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c>
                  <a:txBody>
                    <a:bodyPr/>
                    <a:lstStyle/>
                    <a:p>
                      <a:pPr algn="l" indent="0" marL="0">
                        <a:buNone/>
                      </a:pPr>
                      <a:r>
                        <a:rPr lang="en-US" sz="960" dirty="0">
                          <a:solidFill>
                            <a:srgbClr val="1C1F26"/>
                          </a:solidFill>
                          <a:latin typeface="Calibri" pitchFamily="34" charset="0"/>
                          <a:ea typeface="Calibri" pitchFamily="34" charset="-122"/>
                          <a:cs typeface="Calibri" pitchFamily="34" charset="-120"/>
                        </a:rPr>
                        <a:t>Larger scale, weak conversion</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r>
              <a:tr h="457200">
                <a:tc>
                  <a:txBody>
                    <a:bodyPr/>
                    <a:lstStyle/>
                    <a:p>
                      <a:pPr algn="l" indent="0" marL="0">
                        <a:buNone/>
                      </a:pPr>
                      <a:r>
                        <a:rPr lang="en-US" sz="960" b="1" dirty="0">
                          <a:solidFill>
                            <a:srgbClr val="1C1F26"/>
                          </a:solidFill>
                          <a:latin typeface="Calibri" pitchFamily="34" charset="0"/>
                          <a:ea typeface="Calibri" pitchFamily="34" charset="-122"/>
                          <a:cs typeface="Calibri" pitchFamily="34" charset="-120"/>
                        </a:rPr>
                        <a:t>Precon Technology &amp; Castings</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c>
                  <a:txBody>
                    <a:bodyPr/>
                    <a:lstStyle/>
                    <a:p>
                      <a:pPr algn="ctr" indent="0" marL="0">
                        <a:buNone/>
                      </a:pPr>
                      <a:r>
                        <a:rPr lang="en-US" sz="960" dirty="0">
                          <a:solidFill>
                            <a:srgbClr val="1C1F26"/>
                          </a:solidFill>
                          <a:latin typeface="Calibri" pitchFamily="34" charset="0"/>
                          <a:ea typeface="Calibri" pitchFamily="34" charset="-122"/>
                          <a:cs typeface="Calibri" pitchFamily="34" charset="-120"/>
                        </a:rPr>
                        <a:t>19.4</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c>
                  <a:txBody>
                    <a:bodyPr/>
                    <a:lstStyle/>
                    <a:p>
                      <a:pPr algn="ctr" indent="0" marL="0">
                        <a:buNone/>
                      </a:pPr>
                      <a:r>
                        <a:rPr lang="en-US" sz="960" dirty="0">
                          <a:solidFill>
                            <a:srgbClr val="1C1F26"/>
                          </a:solidFill>
                          <a:latin typeface="Calibri" pitchFamily="34" charset="0"/>
                          <a:ea typeface="Calibri" pitchFamily="34" charset="-122"/>
                          <a:cs typeface="Calibri" pitchFamily="34" charset="-120"/>
                        </a:rPr>
                        <a:t>-11%</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c>
                  <a:txBody>
                    <a:bodyPr/>
                    <a:lstStyle/>
                    <a:p>
                      <a:pPr algn="ctr" indent="0" marL="0">
                        <a:buNone/>
                      </a:pPr>
                      <a:r>
                        <a:rPr lang="en-US" sz="960" dirty="0">
                          <a:solidFill>
                            <a:srgbClr val="1C1F26"/>
                          </a:solidFill>
                          <a:latin typeface="Calibri" pitchFamily="34" charset="0"/>
                          <a:ea typeface="Calibri" pitchFamily="34" charset="-122"/>
                          <a:cs typeface="Calibri" pitchFamily="34" charset="-120"/>
                        </a:rPr>
                        <a:t>-60%</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C1F26"/>
                          </a:solidFill>
                          <a:latin typeface="Calibri" pitchFamily="34" charset="0"/>
                          <a:ea typeface="Calibri" pitchFamily="34" charset="-122"/>
                          <a:cs typeface="Calibri" pitchFamily="34" charset="-120"/>
                        </a:rPr>
                        <a:t>Going-concern-level loss, FY20</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FFFFF"/>
                    </a:solidFill>
                  </a:tcPr>
                </a:tc>
              </a:tr>
              <a:tr h="457200">
                <a:tc>
                  <a:txBody>
                    <a:bodyPr/>
                    <a:lstStyle/>
                    <a:p>
                      <a:pPr algn="l" indent="0" marL="0">
                        <a:buNone/>
                      </a:pPr>
                      <a:r>
                        <a:rPr lang="en-US" sz="960" b="1" dirty="0">
                          <a:solidFill>
                            <a:srgbClr val="1C1F26"/>
                          </a:solidFill>
                          <a:latin typeface="Calibri" pitchFamily="34" charset="0"/>
                          <a:ea typeface="Calibri" pitchFamily="34" charset="-122"/>
                          <a:cs typeface="Calibri" pitchFamily="34" charset="-120"/>
                        </a:rPr>
                        <a:t>Peer set median</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c>
                  <a:txBody>
                    <a:bodyPr/>
                    <a:lstStyle/>
                    <a:p>
                      <a:pPr algn="ctr" indent="0" marL="0">
                        <a:buNone/>
                      </a:pPr>
                      <a:r>
                        <a:rPr lang="en-US" sz="960" b="1" dirty="0">
                          <a:solidFill>
                            <a:srgbClr val="1C1F26"/>
                          </a:solidFill>
                          <a:latin typeface="Calibri" pitchFamily="34" charset="0"/>
                          <a:ea typeface="Calibri" pitchFamily="34" charset="-122"/>
                          <a:cs typeface="Calibri" pitchFamily="34" charset="-120"/>
                        </a:rPr>
                        <a:t>28.8</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c>
                  <a:txBody>
                    <a:bodyPr/>
                    <a:lstStyle/>
                    <a:p>
                      <a:pPr algn="ctr" indent="0" marL="0">
                        <a:buNone/>
                      </a:pPr>
                      <a:r>
                        <a:rPr lang="en-US" sz="960" b="1" dirty="0">
                          <a:solidFill>
                            <a:srgbClr val="1C1F26"/>
                          </a:solidFill>
                          <a:latin typeface="Calibri" pitchFamily="34" charset="0"/>
                          <a:ea typeface="Calibri" pitchFamily="34" charset="-122"/>
                          <a:cs typeface="Calibri" pitchFamily="34" charset="-120"/>
                        </a:rPr>
                        <a:t>7%</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c>
                  <a:txBody>
                    <a:bodyPr/>
                    <a:lstStyle/>
                    <a:p>
                      <a:pPr algn="ctr" indent="0" marL="0">
                        <a:buNone/>
                      </a:pPr>
                      <a:r>
                        <a:rPr lang="en-US" sz="960" b="1" dirty="0">
                          <a:solidFill>
                            <a:srgbClr val="1C1F26"/>
                          </a:solidFill>
                          <a:latin typeface="Calibri" pitchFamily="34" charset="0"/>
                          <a:ea typeface="Calibri" pitchFamily="34" charset="-122"/>
                          <a:cs typeface="Calibri" pitchFamily="34" charset="-120"/>
                        </a:rPr>
                        <a:t>1%</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c>
                  <a:txBody>
                    <a:bodyPr/>
                    <a:lstStyle/>
                    <a:p>
                      <a:pPr algn="l" indent="0" marL="0">
                        <a:buNone/>
                      </a:pPr>
                      <a:r>
                        <a:rPr lang="en-US" sz="960" b="1" dirty="0">
                          <a:solidFill>
                            <a:srgbClr val="1C1F26"/>
                          </a:solidFill>
                          <a:latin typeface="Calibri" pitchFamily="34" charset="0"/>
                          <a:ea typeface="Calibri" pitchFamily="34" charset="-122"/>
                          <a:cs typeface="Calibri" pitchFamily="34" charset="-120"/>
                        </a:rPr>
                        <a:t>16-company benchmark set</a:t>
                      </a:r>
                      <a:endParaRPr lang="en-US" sz="960" dirty="0">
                        <a:latin typeface="Calibri" charset="0"/>
                        <a:ea typeface="Calibri" charset="0"/>
                        <a:cs typeface="Calibri" charset="0"/>
                      </a:endParaRPr>
                    </a:p>
                  </a:txBody>
                  <a:tcPr marL="101600" marR="101600" marT="50800" marB="50800" anchor="ctr">
                    <a:lnL w="6350" cap="flat" cmpd="sng" algn="ctr">
                      <a:solidFill>
                        <a:srgbClr val="E1E4E9"/>
                      </a:solidFill>
                      <a:prstDash val="solid"/>
                      <a:round/>
                      <a:headEnd type="none" w="med" len="med"/>
                      <a:tailEnd type="none" w="med" len="med"/>
                    </a:lnL>
                    <a:lnR w="6350" cap="flat" cmpd="sng" algn="ctr">
                      <a:solidFill>
                        <a:srgbClr val="E1E4E9"/>
                      </a:solidFill>
                      <a:prstDash val="solid"/>
                      <a:round/>
                      <a:headEnd type="none" w="med" len="med"/>
                      <a:tailEnd type="none" w="med" len="med"/>
                    </a:lnR>
                    <a:lnT w="6350" cap="flat" cmpd="sng" algn="ctr">
                      <a:solidFill>
                        <a:srgbClr val="E1E4E9"/>
                      </a:solidFill>
                      <a:prstDash val="solid"/>
                      <a:round/>
                      <a:headEnd type="none" w="med" len="med"/>
                      <a:tailEnd type="none" w="med" len="med"/>
                    </a:lnT>
                    <a:lnB w="6350" cap="flat" cmpd="sng" algn="ctr">
                      <a:solidFill>
                        <a:srgbClr val="E1E4E9"/>
                      </a:solidFill>
                      <a:prstDash val="solid"/>
                      <a:round/>
                      <a:headEnd type="none" w="med" len="med"/>
                      <a:tailEnd type="none" w="med" len="med"/>
                    </a:lnB>
                    <a:solidFill>
                      <a:srgbClr val="F4F5F7"/>
                    </a:solidFill>
                  </a:tcPr>
                </a:tc>
              </a:tr>
            </a:tbl>
          </a:graphicData>
        </a:graphic>
      </p:graphicFrame>
      <p:sp>
        <p:nvSpPr>
          <p:cNvPr id="5" name="Text 2"/>
          <p:cNvSpPr/>
          <p:nvPr/>
        </p:nvSpPr>
        <p:spPr>
          <a:xfrm>
            <a:off x="548640" y="5532120"/>
            <a:ext cx="11094415" cy="685800"/>
          </a:xfrm>
          <a:prstGeom prst="rect">
            <a:avLst/>
          </a:prstGeom>
          <a:noFill/>
          <a:ln/>
        </p:spPr>
        <p:txBody>
          <a:bodyPr wrap="square" lIns="0" tIns="0" rIns="0" bIns="0" rtlCol="0" anchor="ctr"/>
          <a:lstStyle/>
          <a:p>
            <a:pPr indent="0" marL="0">
              <a:lnSpc>
                <a:spcPct val="115000"/>
              </a:lnSpc>
              <a:buNone/>
            </a:pPr>
            <a:r>
              <a:rPr lang="en-US" sz="950" i="1" dirty="0">
                <a:solidFill>
                  <a:srgbClr val="3A4553"/>
                </a:solidFill>
                <a:latin typeface="Calibri" pitchFamily="34" charset="0"/>
                <a:ea typeface="Calibri" pitchFamily="34" charset="-122"/>
                <a:cs typeface="Calibri" pitchFamily="34" charset="-120"/>
              </a:rPr>
              <a:t>Datre sits well below peer-median scale (~₹29 Cr) but is not unusually thin-margined for the sector — the whole Indian MSME foundry set clustered near breakeven in FY19-21. Peers like Big Castings and Aqua Alloys show 7-8% net margins are achievable at Datre's own scale, a credible benchmark for its own margin upside.</a:t>
            </a:r>
            <a:endParaRPr lang="en-US" sz="950" dirty="0"/>
          </a:p>
        </p:txBody>
      </p:sp>
      <p:sp>
        <p:nvSpPr>
          <p:cNvPr id="6" name="Text 3"/>
          <p:cNvSpPr/>
          <p:nvPr/>
        </p:nvSpPr>
        <p:spPr>
          <a:xfrm>
            <a:off x="548640" y="6172200"/>
            <a:ext cx="11094415" cy="274320"/>
          </a:xfrm>
          <a:prstGeom prst="rect">
            <a:avLst/>
          </a:prstGeom>
          <a:noFill/>
          <a:ln/>
        </p:spPr>
        <p:txBody>
          <a:bodyPr wrap="square" lIns="0" tIns="0" rIns="0" bIns="0" rtlCol="0" anchor="ctr"/>
          <a:lstStyle/>
          <a:p>
            <a:pPr indent="0" marL="0">
              <a:buNone/>
            </a:pPr>
            <a:r>
              <a:rPr lang="en-US" sz="800" i="1" dirty="0">
                <a:solidFill>
                  <a:srgbClr val="6B7684"/>
                </a:solidFill>
                <a:latin typeface="Calibri" pitchFamily="34" charset="0"/>
                <a:ea typeface="Calibri" pitchFamily="34" charset="-122"/>
                <a:cs typeface="Calibri" pitchFamily="34" charset="-120"/>
              </a:rPr>
              <a:t>Source: EMIS/Habiliss statutory filings compiled by Datre management, FY19-21 (most recent third-party peer data available).</a:t>
            </a:r>
            <a:endParaRPr lang="en-US" sz="800" dirty="0"/>
          </a:p>
        </p:txBody>
      </p:sp>
      <p:sp>
        <p:nvSpPr>
          <p:cNvPr id="7" name="Text 4"/>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8"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MARKET CONTEXT</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1C1F26"/>
                </a:solidFill>
                <a:latin typeface="Cambria" pitchFamily="34" charset="0"/>
                <a:ea typeface="Cambria" pitchFamily="34" charset="-122"/>
                <a:cs typeface="Cambria" pitchFamily="34" charset="-120"/>
              </a:rPr>
              <a:t>Why the mining-liner franchise matters — and its limits</a:t>
            </a:r>
            <a:endParaRPr lang="en-US" sz="3000" dirty="0"/>
          </a:p>
        </p:txBody>
      </p:sp>
      <p:sp>
        <p:nvSpPr>
          <p:cNvPr id="4" name="Shape 2"/>
          <p:cNvSpPr/>
          <p:nvPr/>
        </p:nvSpPr>
        <p:spPr>
          <a:xfrm>
            <a:off x="548640" y="1783080"/>
            <a:ext cx="2567864" cy="1554480"/>
          </a:xfrm>
          <a:prstGeom prst="roundRect">
            <a:avLst>
              <a:gd name="adj" fmla="val 4706"/>
            </a:avLst>
          </a:prstGeom>
          <a:solidFill>
            <a:srgbClr val="F4F5F7"/>
          </a:solidFill>
          <a:ln/>
        </p:spPr>
      </p:sp>
      <p:sp>
        <p:nvSpPr>
          <p:cNvPr id="5" name="Text 3"/>
          <p:cNvSpPr/>
          <p:nvPr/>
        </p:nvSpPr>
        <p:spPr>
          <a:xfrm>
            <a:off x="713232" y="1938528"/>
            <a:ext cx="2238680" cy="502920"/>
          </a:xfrm>
          <a:prstGeom prst="rect">
            <a:avLst/>
          </a:prstGeom>
          <a:noFill/>
          <a:ln/>
        </p:spPr>
        <p:txBody>
          <a:bodyPr wrap="square" lIns="0" tIns="0" rIns="0" bIns="0" rtlCol="0" anchor="ctr"/>
          <a:lstStyle/>
          <a:p>
            <a:pPr indent="0" marL="0">
              <a:buNone/>
            </a:pPr>
            <a:r>
              <a:rPr lang="en-US" sz="2100" b="1" dirty="0">
                <a:solidFill>
                  <a:srgbClr val="D9622B"/>
                </a:solidFill>
                <a:latin typeface="Cambria" pitchFamily="34" charset="0"/>
                <a:ea typeface="Cambria" pitchFamily="34" charset="-122"/>
                <a:cs typeface="Cambria" pitchFamily="34" charset="-120"/>
              </a:rPr>
              <a:t>~3 MTPA</a:t>
            </a:r>
            <a:endParaRPr lang="en-US" sz="2100" dirty="0"/>
          </a:p>
        </p:txBody>
      </p:sp>
      <p:sp>
        <p:nvSpPr>
          <p:cNvPr id="6" name="Text 4"/>
          <p:cNvSpPr/>
          <p:nvPr/>
        </p:nvSpPr>
        <p:spPr>
          <a:xfrm>
            <a:off x="713232" y="2450592"/>
            <a:ext cx="2238680" cy="822960"/>
          </a:xfrm>
          <a:prstGeom prst="rect">
            <a:avLst/>
          </a:prstGeom>
          <a:noFill/>
          <a:ln/>
        </p:spPr>
        <p:txBody>
          <a:bodyPr wrap="square" lIns="0" tIns="0" rIns="0" bIns="0" rtlCol="0" anchor="ctr"/>
          <a:lstStyle/>
          <a:p>
            <a:pPr indent="0" marL="0">
              <a:lnSpc>
                <a:spcPct val="112000"/>
              </a:lnSpc>
              <a:buNone/>
            </a:pPr>
            <a:r>
              <a:rPr lang="en-US" sz="930" dirty="0">
                <a:solidFill>
                  <a:srgbClr val="3A4553"/>
                </a:solidFill>
                <a:latin typeface="Calibri" pitchFamily="34" charset="0"/>
                <a:ea typeface="Calibri" pitchFamily="34" charset="-122"/>
                <a:cs typeface="Calibri" pitchFamily="34" charset="-120"/>
              </a:rPr>
              <a:t>Global high-chrome mill internals (HCMI) consumption</a:t>
            </a:r>
            <a:endParaRPr lang="en-US" sz="930" dirty="0"/>
          </a:p>
        </p:txBody>
      </p:sp>
      <p:sp>
        <p:nvSpPr>
          <p:cNvPr id="7" name="Shape 5"/>
          <p:cNvSpPr/>
          <p:nvPr/>
        </p:nvSpPr>
        <p:spPr>
          <a:xfrm>
            <a:off x="3390824" y="1783080"/>
            <a:ext cx="2567864" cy="1554480"/>
          </a:xfrm>
          <a:prstGeom prst="roundRect">
            <a:avLst>
              <a:gd name="adj" fmla="val 4706"/>
            </a:avLst>
          </a:prstGeom>
          <a:solidFill>
            <a:srgbClr val="F4F5F7"/>
          </a:solidFill>
          <a:ln/>
        </p:spPr>
      </p:sp>
      <p:sp>
        <p:nvSpPr>
          <p:cNvPr id="8" name="Text 6"/>
          <p:cNvSpPr/>
          <p:nvPr/>
        </p:nvSpPr>
        <p:spPr>
          <a:xfrm>
            <a:off x="3555416" y="1938528"/>
            <a:ext cx="2238680" cy="502920"/>
          </a:xfrm>
          <a:prstGeom prst="rect">
            <a:avLst/>
          </a:prstGeom>
          <a:noFill/>
          <a:ln/>
        </p:spPr>
        <p:txBody>
          <a:bodyPr wrap="square" lIns="0" tIns="0" rIns="0" bIns="0" rtlCol="0" anchor="ctr"/>
          <a:lstStyle/>
          <a:p>
            <a:pPr indent="0" marL="0">
              <a:buNone/>
            </a:pPr>
            <a:r>
              <a:rPr lang="en-US" sz="2100" b="1" dirty="0">
                <a:solidFill>
                  <a:srgbClr val="D9622B"/>
                </a:solidFill>
                <a:latin typeface="Cambria" pitchFamily="34" charset="0"/>
                <a:ea typeface="Cambria" pitchFamily="34" charset="-122"/>
                <a:cs typeface="Cambria" pitchFamily="34" charset="-120"/>
              </a:rPr>
              <a:t>85-90%</a:t>
            </a:r>
            <a:endParaRPr lang="en-US" sz="2100" dirty="0"/>
          </a:p>
        </p:txBody>
      </p:sp>
      <p:sp>
        <p:nvSpPr>
          <p:cNvPr id="9" name="Text 7"/>
          <p:cNvSpPr/>
          <p:nvPr/>
        </p:nvSpPr>
        <p:spPr>
          <a:xfrm>
            <a:off x="3555416" y="2450592"/>
            <a:ext cx="2238680" cy="822960"/>
          </a:xfrm>
          <a:prstGeom prst="rect">
            <a:avLst/>
          </a:prstGeom>
          <a:noFill/>
          <a:ln/>
        </p:spPr>
        <p:txBody>
          <a:bodyPr wrap="square" lIns="0" tIns="0" rIns="0" bIns="0" rtlCol="0" anchor="ctr"/>
          <a:lstStyle/>
          <a:p>
            <a:pPr indent="0" marL="0">
              <a:lnSpc>
                <a:spcPct val="112000"/>
              </a:lnSpc>
              <a:buNone/>
            </a:pPr>
            <a:r>
              <a:rPr lang="en-US" sz="930" dirty="0">
                <a:solidFill>
                  <a:srgbClr val="3A4553"/>
                </a:solidFill>
                <a:latin typeface="Calibri" pitchFamily="34" charset="0"/>
                <a:ea typeface="Calibri" pitchFamily="34" charset="-122"/>
                <a:cs typeface="Calibri" pitchFamily="34" charset="-120"/>
              </a:rPr>
              <a:t>Of HCMI demand is replacement, not new capacity — structurally steady</a:t>
            </a:r>
            <a:endParaRPr lang="en-US" sz="930" dirty="0"/>
          </a:p>
        </p:txBody>
      </p:sp>
      <p:sp>
        <p:nvSpPr>
          <p:cNvPr id="10" name="Shape 8"/>
          <p:cNvSpPr/>
          <p:nvPr/>
        </p:nvSpPr>
        <p:spPr>
          <a:xfrm>
            <a:off x="6233008" y="1783080"/>
            <a:ext cx="2567864" cy="1554480"/>
          </a:xfrm>
          <a:prstGeom prst="roundRect">
            <a:avLst>
              <a:gd name="adj" fmla="val 4706"/>
            </a:avLst>
          </a:prstGeom>
          <a:solidFill>
            <a:srgbClr val="F4F5F7"/>
          </a:solidFill>
          <a:ln/>
        </p:spPr>
      </p:sp>
      <p:sp>
        <p:nvSpPr>
          <p:cNvPr id="11" name="Text 9"/>
          <p:cNvSpPr/>
          <p:nvPr/>
        </p:nvSpPr>
        <p:spPr>
          <a:xfrm>
            <a:off x="6397600" y="1938528"/>
            <a:ext cx="2238680" cy="502920"/>
          </a:xfrm>
          <a:prstGeom prst="rect">
            <a:avLst/>
          </a:prstGeom>
          <a:noFill/>
          <a:ln/>
        </p:spPr>
        <p:txBody>
          <a:bodyPr wrap="square" lIns="0" tIns="0" rIns="0" bIns="0" rtlCol="0" anchor="ctr"/>
          <a:lstStyle/>
          <a:p>
            <a:pPr indent="0" marL="0">
              <a:buNone/>
            </a:pPr>
            <a:r>
              <a:rPr lang="en-US" sz="2100" b="1" dirty="0">
                <a:solidFill>
                  <a:srgbClr val="D9622B"/>
                </a:solidFill>
                <a:latin typeface="Cambria" pitchFamily="34" charset="0"/>
                <a:ea typeface="Cambria" pitchFamily="34" charset="-122"/>
                <a:cs typeface="Cambria" pitchFamily="34" charset="-120"/>
              </a:rPr>
              <a:t>~1.5 MTPA</a:t>
            </a:r>
            <a:endParaRPr lang="en-US" sz="2100" dirty="0"/>
          </a:p>
        </p:txBody>
      </p:sp>
      <p:sp>
        <p:nvSpPr>
          <p:cNvPr id="12" name="Text 10"/>
          <p:cNvSpPr/>
          <p:nvPr/>
        </p:nvSpPr>
        <p:spPr>
          <a:xfrm>
            <a:off x="6397600" y="2450592"/>
            <a:ext cx="2238680" cy="822960"/>
          </a:xfrm>
          <a:prstGeom prst="rect">
            <a:avLst/>
          </a:prstGeom>
          <a:noFill/>
          <a:ln/>
        </p:spPr>
        <p:txBody>
          <a:bodyPr wrap="square" lIns="0" tIns="0" rIns="0" bIns="0" rtlCol="0" anchor="ctr"/>
          <a:lstStyle/>
          <a:p>
            <a:pPr indent="0" marL="0">
              <a:lnSpc>
                <a:spcPct val="112000"/>
              </a:lnSpc>
              <a:buNone/>
            </a:pPr>
            <a:r>
              <a:rPr lang="en-US" sz="930" dirty="0">
                <a:solidFill>
                  <a:srgbClr val="3A4553"/>
                </a:solidFill>
                <a:latin typeface="Calibri" pitchFamily="34" charset="0"/>
                <a:ea typeface="Calibri" pitchFamily="34" charset="-122"/>
                <a:cs typeface="Calibri" pitchFamily="34" charset="-120"/>
              </a:rPr>
              <a:t>Conversion opportunity from forged media to HCMI (3x the cement segment)</a:t>
            </a:r>
            <a:endParaRPr lang="en-US" sz="930" dirty="0"/>
          </a:p>
        </p:txBody>
      </p:sp>
      <p:sp>
        <p:nvSpPr>
          <p:cNvPr id="13" name="Shape 11"/>
          <p:cNvSpPr/>
          <p:nvPr/>
        </p:nvSpPr>
        <p:spPr>
          <a:xfrm>
            <a:off x="9075191" y="1783080"/>
            <a:ext cx="2567864" cy="1554480"/>
          </a:xfrm>
          <a:prstGeom prst="roundRect">
            <a:avLst>
              <a:gd name="adj" fmla="val 4706"/>
            </a:avLst>
          </a:prstGeom>
          <a:solidFill>
            <a:srgbClr val="F4F5F7"/>
          </a:solidFill>
          <a:ln/>
        </p:spPr>
      </p:sp>
      <p:sp>
        <p:nvSpPr>
          <p:cNvPr id="14" name="Text 12"/>
          <p:cNvSpPr/>
          <p:nvPr/>
        </p:nvSpPr>
        <p:spPr>
          <a:xfrm>
            <a:off x="9239783" y="1938528"/>
            <a:ext cx="2238680" cy="502920"/>
          </a:xfrm>
          <a:prstGeom prst="rect">
            <a:avLst/>
          </a:prstGeom>
          <a:noFill/>
          <a:ln/>
        </p:spPr>
        <p:txBody>
          <a:bodyPr wrap="square" lIns="0" tIns="0" rIns="0" bIns="0" rtlCol="0" anchor="ctr"/>
          <a:lstStyle/>
          <a:p>
            <a:pPr indent="0" marL="0">
              <a:buNone/>
            </a:pPr>
            <a:r>
              <a:rPr lang="en-US" sz="2100" b="1" dirty="0">
                <a:solidFill>
                  <a:srgbClr val="D9622B"/>
                </a:solidFill>
                <a:latin typeface="Cambria" pitchFamily="34" charset="0"/>
                <a:ea typeface="Cambria" pitchFamily="34" charset="-122"/>
                <a:cs typeface="Cambria" pitchFamily="34" charset="-120"/>
              </a:rPr>
              <a:t>~90%</a:t>
            </a:r>
            <a:endParaRPr lang="en-US" sz="2100" dirty="0"/>
          </a:p>
        </p:txBody>
      </p:sp>
      <p:sp>
        <p:nvSpPr>
          <p:cNvPr id="15" name="Text 13"/>
          <p:cNvSpPr/>
          <p:nvPr/>
        </p:nvSpPr>
        <p:spPr>
          <a:xfrm>
            <a:off x="9239783" y="2450592"/>
            <a:ext cx="2238680" cy="822960"/>
          </a:xfrm>
          <a:prstGeom prst="rect">
            <a:avLst/>
          </a:prstGeom>
          <a:noFill/>
          <a:ln/>
        </p:spPr>
        <p:txBody>
          <a:bodyPr wrap="square" lIns="0" tIns="0" rIns="0" bIns="0" rtlCol="0" anchor="ctr"/>
          <a:lstStyle/>
          <a:p>
            <a:pPr indent="0" marL="0">
              <a:lnSpc>
                <a:spcPct val="112000"/>
              </a:lnSpc>
              <a:buNone/>
            </a:pPr>
            <a:r>
              <a:rPr lang="en-US" sz="930" dirty="0">
                <a:solidFill>
                  <a:srgbClr val="3A4553"/>
                </a:solidFill>
                <a:latin typeface="Calibri" pitchFamily="34" charset="0"/>
                <a:ea typeface="Calibri" pitchFamily="34" charset="-122"/>
                <a:cs typeface="Calibri" pitchFamily="34" charset="-120"/>
              </a:rPr>
              <a:t>Combined share held by the two global HCMI leaders (AIA Engineering, Magotteaux)</a:t>
            </a:r>
            <a:endParaRPr lang="en-US" sz="930" dirty="0"/>
          </a:p>
        </p:txBody>
      </p:sp>
      <p:sp>
        <p:nvSpPr>
          <p:cNvPr id="16" name="Shape 14"/>
          <p:cNvSpPr/>
          <p:nvPr/>
        </p:nvSpPr>
        <p:spPr>
          <a:xfrm>
            <a:off x="548640" y="3657600"/>
            <a:ext cx="11094415" cy="2377440"/>
          </a:xfrm>
          <a:prstGeom prst="roundRect">
            <a:avLst>
              <a:gd name="adj" fmla="val 3077"/>
            </a:avLst>
          </a:prstGeom>
          <a:solidFill>
            <a:srgbClr val="F4F5F7"/>
          </a:solidFill>
          <a:ln/>
        </p:spPr>
      </p:sp>
      <p:sp>
        <p:nvSpPr>
          <p:cNvPr id="17" name="Text 15"/>
          <p:cNvSpPr/>
          <p:nvPr/>
        </p:nvSpPr>
        <p:spPr>
          <a:xfrm>
            <a:off x="822960" y="3858768"/>
            <a:ext cx="10545775" cy="274320"/>
          </a:xfrm>
          <a:prstGeom prst="rect">
            <a:avLst/>
          </a:prstGeom>
          <a:noFill/>
          <a:ln/>
        </p:spPr>
        <p:txBody>
          <a:bodyPr wrap="square" lIns="0" tIns="0" rIns="0" bIns="0" rtlCol="0" anchor="ctr"/>
          <a:lstStyle/>
          <a:p>
            <a:pPr indent="0" marL="0">
              <a:buNone/>
            </a:pPr>
            <a:r>
              <a:rPr lang="en-US" sz="1050" b="1" spc="100" kern="0" dirty="0">
                <a:solidFill>
                  <a:srgbClr val="D9622B"/>
                </a:solidFill>
                <a:latin typeface="Calibri" pitchFamily="34" charset="0"/>
                <a:ea typeface="Calibri" pitchFamily="34" charset="-122"/>
                <a:cs typeface="Calibri" pitchFamily="34" charset="-120"/>
              </a:rPr>
              <a:t>HOW DATRE ACTUALLY SITS IN THIS MARKET</a:t>
            </a:r>
            <a:endParaRPr lang="en-US" sz="1050" dirty="0"/>
          </a:p>
        </p:txBody>
      </p:sp>
      <p:sp>
        <p:nvSpPr>
          <p:cNvPr id="18" name="Text 16"/>
          <p:cNvSpPr/>
          <p:nvPr/>
        </p:nvSpPr>
        <p:spPr>
          <a:xfrm>
            <a:off x="822960" y="4187952"/>
            <a:ext cx="10545775" cy="173736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030" dirty="0">
                <a:solidFill>
                  <a:srgbClr val="1C1F26"/>
                </a:solidFill>
                <a:latin typeface="Calibri" pitchFamily="34" charset="0"/>
                <a:ea typeface="Calibri" pitchFamily="34" charset="-122"/>
                <a:cs typeface="Calibri" pitchFamily="34" charset="-120"/>
              </a:rPr>
              <a:t>Datre is not a branded participant in the ~3 MTPA global HCMI market — it is a qualified casting sub-supplier to Tega, which itself competes against AIA Engineering and Magotteaux.</a:t>
            </a:r>
            <a:endParaRPr lang="en-US" sz="1030" dirty="0"/>
          </a:p>
          <a:p>
            <a:pPr marL="342900" indent="-342900">
              <a:lnSpc>
                <a:spcPct val="115000"/>
              </a:lnSpc>
              <a:spcAft>
                <a:spcPts val="800"/>
              </a:spcAft>
              <a:buSzPct val="100000"/>
              <a:buChar char="•"/>
            </a:pPr>
            <a:r>
              <a:rPr lang="en-US" sz="1030" dirty="0">
                <a:solidFill>
                  <a:srgbClr val="1C1F26"/>
                </a:solidFill>
                <a:latin typeface="Calibri" pitchFamily="34" charset="0"/>
                <a:ea typeface="Calibri" pitchFamily="34" charset="-122"/>
                <a:cs typeface="Calibri" pitchFamily="34" charset="-120"/>
              </a:rPr>
              <a:t>The replacement-driven, non-cyclical demand pattern is a genuine tailwind for Tega's own volumes — and, through the Tega relationship, for Datre's order flow. It does not, by itself, diversify Datre's customer concentration.</a:t>
            </a:r>
            <a:endParaRPr lang="en-US" sz="1030" dirty="0"/>
          </a:p>
          <a:p>
            <a:pPr marL="342900" indent="-342900">
              <a:lnSpc>
                <a:spcPct val="115000"/>
              </a:lnSpc>
              <a:buSzPct val="100000"/>
              <a:buChar char="•"/>
            </a:pPr>
            <a:r>
              <a:rPr lang="en-US" sz="1030" dirty="0">
                <a:solidFill>
                  <a:srgbClr val="1C1F26"/>
                </a:solidFill>
                <a:latin typeface="Calibri" pitchFamily="34" charset="0"/>
                <a:ea typeface="Calibri" pitchFamily="34" charset="-122"/>
                <a:cs typeface="Calibri" pitchFamily="34" charset="-120"/>
              </a:rPr>
              <a:t>High entry barriers cut both ways: they protect Datre's niche position as a qualified supplier, but also cap how much of the value chain's economics a sub-tier caster can capture.</a:t>
            </a:r>
            <a:endParaRPr lang="en-US" sz="1030" dirty="0"/>
          </a:p>
        </p:txBody>
      </p:sp>
      <p:sp>
        <p:nvSpPr>
          <p:cNvPr id="19" name="Text 17"/>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20" name="Text 1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MARKET CONTEXT — INDUSTRY LANDSCAPE</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1C1F26"/>
                </a:solidFill>
                <a:latin typeface="Cambria" pitchFamily="34" charset="0"/>
                <a:ea typeface="Cambria" pitchFamily="34" charset="-122"/>
                <a:cs typeface="Cambria" pitchFamily="34" charset="-120"/>
              </a:rPr>
              <a:t>The Indian foundry sector is splitting into two tiers — Datre sits in the smaller one</a:t>
            </a:r>
            <a:endParaRPr lang="en-US" sz="3000" dirty="0"/>
          </a:p>
        </p:txBody>
      </p:sp>
      <p:sp>
        <p:nvSpPr>
          <p:cNvPr id="4" name="Shape 2"/>
          <p:cNvSpPr/>
          <p:nvPr/>
        </p:nvSpPr>
        <p:spPr>
          <a:xfrm>
            <a:off x="548640" y="1783080"/>
            <a:ext cx="2567864" cy="1691640"/>
          </a:xfrm>
          <a:prstGeom prst="roundRect">
            <a:avLst>
              <a:gd name="adj" fmla="val 4324"/>
            </a:avLst>
          </a:prstGeom>
          <a:solidFill>
            <a:srgbClr val="F4F5F7"/>
          </a:solidFill>
          <a:ln/>
        </p:spPr>
      </p:sp>
      <p:sp>
        <p:nvSpPr>
          <p:cNvPr id="5" name="Text 3"/>
          <p:cNvSpPr/>
          <p:nvPr/>
        </p:nvSpPr>
        <p:spPr>
          <a:xfrm>
            <a:off x="713232" y="1938528"/>
            <a:ext cx="2238680" cy="548640"/>
          </a:xfrm>
          <a:prstGeom prst="rect">
            <a:avLst/>
          </a:prstGeom>
          <a:noFill/>
          <a:ln/>
        </p:spPr>
        <p:txBody>
          <a:bodyPr wrap="square" lIns="0" tIns="0" rIns="0" bIns="0" rtlCol="0" anchor="ctr"/>
          <a:lstStyle/>
          <a:p>
            <a:pPr indent="0" marL="0">
              <a:buNone/>
            </a:pPr>
            <a:r>
              <a:rPr lang="en-US" sz="1700" b="1" dirty="0">
                <a:solidFill>
                  <a:srgbClr val="D9622B"/>
                </a:solidFill>
                <a:latin typeface="Cambria" pitchFamily="34" charset="0"/>
                <a:ea typeface="Cambria" pitchFamily="34" charset="-122"/>
                <a:cs typeface="Cambria" pitchFamily="34" charset="-120"/>
              </a:rPr>
              <a:t>~1,700 / 4,500-5,000</a:t>
            </a:r>
            <a:endParaRPr lang="en-US" sz="1700" dirty="0"/>
          </a:p>
        </p:txBody>
      </p:sp>
      <p:sp>
        <p:nvSpPr>
          <p:cNvPr id="6" name="Text 4"/>
          <p:cNvSpPr/>
          <p:nvPr/>
        </p:nvSpPr>
        <p:spPr>
          <a:xfrm>
            <a:off x="713232" y="2514600"/>
            <a:ext cx="2238680" cy="868680"/>
          </a:xfrm>
          <a:prstGeom prst="rect">
            <a:avLst/>
          </a:prstGeom>
          <a:noFill/>
          <a:ln/>
        </p:spPr>
        <p:txBody>
          <a:bodyPr wrap="square" lIns="0" tIns="0" rIns="0" bIns="0" rtlCol="0" anchor="ctr"/>
          <a:lstStyle/>
          <a:p>
            <a:pPr indent="0" marL="0">
              <a:lnSpc>
                <a:spcPct val="112000"/>
              </a:lnSpc>
              <a:buNone/>
            </a:pPr>
            <a:r>
              <a:rPr lang="en-US" sz="900" dirty="0">
                <a:solidFill>
                  <a:srgbClr val="3A4553"/>
                </a:solidFill>
                <a:latin typeface="Calibri" pitchFamily="34" charset="0"/>
                <a:ea typeface="Calibri" pitchFamily="34" charset="-122"/>
                <a:cs typeface="Calibri" pitchFamily="34" charset="-120"/>
              </a:rPr>
              <a:t>Internationally accredited units, of the industry total — Datre's RDSO 'A' status sits inside this ~35% tier</a:t>
            </a:r>
            <a:endParaRPr lang="en-US" sz="900" dirty="0"/>
          </a:p>
        </p:txBody>
      </p:sp>
      <p:sp>
        <p:nvSpPr>
          <p:cNvPr id="7" name="Shape 5"/>
          <p:cNvSpPr/>
          <p:nvPr/>
        </p:nvSpPr>
        <p:spPr>
          <a:xfrm>
            <a:off x="3390824" y="1783080"/>
            <a:ext cx="2567864" cy="1691640"/>
          </a:xfrm>
          <a:prstGeom prst="roundRect">
            <a:avLst>
              <a:gd name="adj" fmla="val 4324"/>
            </a:avLst>
          </a:prstGeom>
          <a:solidFill>
            <a:srgbClr val="F4F5F7"/>
          </a:solidFill>
          <a:ln/>
        </p:spPr>
      </p:sp>
      <p:sp>
        <p:nvSpPr>
          <p:cNvPr id="8" name="Text 6"/>
          <p:cNvSpPr/>
          <p:nvPr/>
        </p:nvSpPr>
        <p:spPr>
          <a:xfrm>
            <a:off x="3555416" y="1938528"/>
            <a:ext cx="2238680" cy="548640"/>
          </a:xfrm>
          <a:prstGeom prst="rect">
            <a:avLst/>
          </a:prstGeom>
          <a:noFill/>
          <a:ln/>
        </p:spPr>
        <p:txBody>
          <a:bodyPr wrap="square" lIns="0" tIns="0" rIns="0" bIns="0" rtlCol="0" anchor="ctr"/>
          <a:lstStyle/>
          <a:p>
            <a:pPr indent="0" marL="0">
              <a:buNone/>
            </a:pPr>
            <a:r>
              <a:rPr lang="en-US" sz="1700" b="1" dirty="0">
                <a:solidFill>
                  <a:srgbClr val="D9622B"/>
                </a:solidFill>
                <a:latin typeface="Cambria" pitchFamily="34" charset="0"/>
                <a:ea typeface="Cambria" pitchFamily="34" charset="-122"/>
                <a:cs typeface="Cambria" pitchFamily="34" charset="-120"/>
              </a:rPr>
              <a:t>+7.9%</a:t>
            </a:r>
            <a:endParaRPr lang="en-US" sz="1700" dirty="0"/>
          </a:p>
        </p:txBody>
      </p:sp>
      <p:sp>
        <p:nvSpPr>
          <p:cNvPr id="9" name="Text 7"/>
          <p:cNvSpPr/>
          <p:nvPr/>
        </p:nvSpPr>
        <p:spPr>
          <a:xfrm>
            <a:off x="3555416" y="2514600"/>
            <a:ext cx="2238680" cy="868680"/>
          </a:xfrm>
          <a:prstGeom prst="rect">
            <a:avLst/>
          </a:prstGeom>
          <a:noFill/>
          <a:ln/>
        </p:spPr>
        <p:txBody>
          <a:bodyPr wrap="square" lIns="0" tIns="0" rIns="0" bIns="0" rtlCol="0" anchor="ctr"/>
          <a:lstStyle/>
          <a:p>
            <a:pPr indent="0" marL="0">
              <a:lnSpc>
                <a:spcPct val="112000"/>
              </a:lnSpc>
              <a:buNone/>
            </a:pPr>
            <a:r>
              <a:rPr lang="en-US" sz="900" dirty="0">
                <a:solidFill>
                  <a:srgbClr val="3A4553"/>
                </a:solidFill>
                <a:latin typeface="Calibri" pitchFamily="34" charset="0"/>
                <a:ea typeface="Calibri" pitchFamily="34" charset="-122"/>
                <a:cs typeface="Calibri" pitchFamily="34" charset="-120"/>
              </a:rPr>
              <a:t>Finished steel consumption growth, Apr-Jul FY27 (56 MT) — a genuine demand tailwind</a:t>
            </a:r>
            <a:endParaRPr lang="en-US" sz="900" dirty="0"/>
          </a:p>
        </p:txBody>
      </p:sp>
      <p:sp>
        <p:nvSpPr>
          <p:cNvPr id="10" name="Shape 8"/>
          <p:cNvSpPr/>
          <p:nvPr/>
        </p:nvSpPr>
        <p:spPr>
          <a:xfrm>
            <a:off x="6233008" y="1783080"/>
            <a:ext cx="2567864" cy="1691640"/>
          </a:xfrm>
          <a:prstGeom prst="roundRect">
            <a:avLst>
              <a:gd name="adj" fmla="val 4324"/>
            </a:avLst>
          </a:prstGeom>
          <a:solidFill>
            <a:srgbClr val="F4F5F7"/>
          </a:solidFill>
          <a:ln/>
        </p:spPr>
      </p:sp>
      <p:sp>
        <p:nvSpPr>
          <p:cNvPr id="11" name="Text 9"/>
          <p:cNvSpPr/>
          <p:nvPr/>
        </p:nvSpPr>
        <p:spPr>
          <a:xfrm>
            <a:off x="6397600" y="1938528"/>
            <a:ext cx="2238680" cy="548640"/>
          </a:xfrm>
          <a:prstGeom prst="rect">
            <a:avLst/>
          </a:prstGeom>
          <a:noFill/>
          <a:ln/>
        </p:spPr>
        <p:txBody>
          <a:bodyPr wrap="square" lIns="0" tIns="0" rIns="0" bIns="0" rtlCol="0" anchor="ctr"/>
          <a:lstStyle/>
          <a:p>
            <a:pPr indent="0" marL="0">
              <a:buNone/>
            </a:pPr>
            <a:r>
              <a:rPr lang="en-US" sz="1700" b="1" dirty="0">
                <a:solidFill>
                  <a:srgbClr val="D9622B"/>
                </a:solidFill>
                <a:latin typeface="Cambria" pitchFamily="34" charset="0"/>
                <a:ea typeface="Cambria" pitchFamily="34" charset="-122"/>
                <a:cs typeface="Cambria" pitchFamily="34" charset="-120"/>
              </a:rPr>
              <a:t>~25%</a:t>
            </a:r>
            <a:endParaRPr lang="en-US" sz="1700" dirty="0"/>
          </a:p>
        </p:txBody>
      </p:sp>
      <p:sp>
        <p:nvSpPr>
          <p:cNvPr id="12" name="Text 10"/>
          <p:cNvSpPr/>
          <p:nvPr/>
        </p:nvSpPr>
        <p:spPr>
          <a:xfrm>
            <a:off x="6397600" y="2514600"/>
            <a:ext cx="2238680" cy="868680"/>
          </a:xfrm>
          <a:prstGeom prst="rect">
            <a:avLst/>
          </a:prstGeom>
          <a:noFill/>
          <a:ln/>
        </p:spPr>
        <p:txBody>
          <a:bodyPr wrap="square" lIns="0" tIns="0" rIns="0" bIns="0" rtlCol="0" anchor="ctr"/>
          <a:lstStyle/>
          <a:p>
            <a:pPr indent="0" marL="0">
              <a:lnSpc>
                <a:spcPct val="112000"/>
              </a:lnSpc>
              <a:buNone/>
            </a:pPr>
            <a:r>
              <a:rPr lang="en-US" sz="900" dirty="0">
                <a:solidFill>
                  <a:srgbClr val="3A4553"/>
                </a:solidFill>
                <a:latin typeface="Calibri" pitchFamily="34" charset="0"/>
                <a:ea typeface="Calibri" pitchFamily="34" charset="-122"/>
                <a:cs typeface="Calibri" pitchFamily="34" charset="-120"/>
              </a:rPr>
              <a:t>Melt-fuel cost rise at cupola/iron foundries since the coke-quota cuts (~USD 360→480/t delivered)</a:t>
            </a:r>
            <a:endParaRPr lang="en-US" sz="900" dirty="0"/>
          </a:p>
        </p:txBody>
      </p:sp>
      <p:sp>
        <p:nvSpPr>
          <p:cNvPr id="13" name="Shape 11"/>
          <p:cNvSpPr/>
          <p:nvPr/>
        </p:nvSpPr>
        <p:spPr>
          <a:xfrm>
            <a:off x="9075191" y="1783080"/>
            <a:ext cx="2567864" cy="1691640"/>
          </a:xfrm>
          <a:prstGeom prst="roundRect">
            <a:avLst>
              <a:gd name="adj" fmla="val 4324"/>
            </a:avLst>
          </a:prstGeom>
          <a:solidFill>
            <a:srgbClr val="F4F5F7"/>
          </a:solidFill>
          <a:ln/>
        </p:spPr>
      </p:sp>
      <p:sp>
        <p:nvSpPr>
          <p:cNvPr id="14" name="Text 12"/>
          <p:cNvSpPr/>
          <p:nvPr/>
        </p:nvSpPr>
        <p:spPr>
          <a:xfrm>
            <a:off x="9239783" y="1938528"/>
            <a:ext cx="2238680" cy="548640"/>
          </a:xfrm>
          <a:prstGeom prst="rect">
            <a:avLst/>
          </a:prstGeom>
          <a:noFill/>
          <a:ln/>
        </p:spPr>
        <p:txBody>
          <a:bodyPr wrap="square" lIns="0" tIns="0" rIns="0" bIns="0" rtlCol="0" anchor="ctr"/>
          <a:lstStyle/>
          <a:p>
            <a:pPr indent="0" marL="0">
              <a:buNone/>
            </a:pPr>
            <a:r>
              <a:rPr lang="en-US" sz="1700" b="1" dirty="0">
                <a:solidFill>
                  <a:srgbClr val="D9622B"/>
                </a:solidFill>
                <a:latin typeface="Cambria" pitchFamily="34" charset="0"/>
                <a:ea typeface="Cambria" pitchFamily="34" charset="-122"/>
                <a:cs typeface="Cambria" pitchFamily="34" charset="-120"/>
              </a:rPr>
              <a:t>8-12/qtr</a:t>
            </a:r>
            <a:endParaRPr lang="en-US" sz="1700" dirty="0"/>
          </a:p>
        </p:txBody>
      </p:sp>
      <p:sp>
        <p:nvSpPr>
          <p:cNvPr id="15" name="Text 13"/>
          <p:cNvSpPr/>
          <p:nvPr/>
        </p:nvSpPr>
        <p:spPr>
          <a:xfrm>
            <a:off x="9239783" y="2514600"/>
            <a:ext cx="2238680" cy="868680"/>
          </a:xfrm>
          <a:prstGeom prst="rect">
            <a:avLst/>
          </a:prstGeom>
          <a:noFill/>
          <a:ln/>
        </p:spPr>
        <p:txBody>
          <a:bodyPr wrap="square" lIns="0" tIns="0" rIns="0" bIns="0" rtlCol="0" anchor="ctr"/>
          <a:lstStyle/>
          <a:p>
            <a:pPr indent="0" marL="0">
              <a:lnSpc>
                <a:spcPct val="112000"/>
              </a:lnSpc>
              <a:buNone/>
            </a:pPr>
            <a:r>
              <a:rPr lang="en-US" sz="900" dirty="0">
                <a:solidFill>
                  <a:srgbClr val="3A4553"/>
                </a:solidFill>
                <a:latin typeface="Calibri" pitchFamily="34" charset="0"/>
                <a:ea typeface="Calibri" pitchFamily="34" charset="-122"/>
                <a:cs typeface="Calibri" pitchFamily="34" charset="-120"/>
              </a:rPr>
              <a:t>Micro-foundries shutting each quarter since mid-2025 — concentrated in the unaccredited, cupola-based tier</a:t>
            </a:r>
            <a:endParaRPr lang="en-US" sz="900" dirty="0"/>
          </a:p>
        </p:txBody>
      </p:sp>
      <p:sp>
        <p:nvSpPr>
          <p:cNvPr id="16" name="Shape 14"/>
          <p:cNvSpPr/>
          <p:nvPr/>
        </p:nvSpPr>
        <p:spPr>
          <a:xfrm>
            <a:off x="548640" y="3794760"/>
            <a:ext cx="11094415" cy="2240280"/>
          </a:xfrm>
          <a:prstGeom prst="roundRect">
            <a:avLst>
              <a:gd name="adj" fmla="val 3265"/>
            </a:avLst>
          </a:prstGeom>
          <a:solidFill>
            <a:srgbClr val="F4F5F7"/>
          </a:solidFill>
          <a:ln/>
        </p:spPr>
      </p:sp>
      <p:sp>
        <p:nvSpPr>
          <p:cNvPr id="17" name="Text 15"/>
          <p:cNvSpPr/>
          <p:nvPr/>
        </p:nvSpPr>
        <p:spPr>
          <a:xfrm>
            <a:off x="822960" y="3995928"/>
            <a:ext cx="10545775" cy="274320"/>
          </a:xfrm>
          <a:prstGeom prst="rect">
            <a:avLst/>
          </a:prstGeom>
          <a:noFill/>
          <a:ln/>
        </p:spPr>
        <p:txBody>
          <a:bodyPr wrap="square" lIns="0" tIns="0" rIns="0" bIns="0" rtlCol="0" anchor="ctr"/>
          <a:lstStyle/>
          <a:p>
            <a:pPr indent="0" marL="0">
              <a:buNone/>
            </a:pPr>
            <a:r>
              <a:rPr lang="en-US" sz="1050" b="1" spc="100" kern="0" dirty="0">
                <a:solidFill>
                  <a:srgbClr val="D9622B"/>
                </a:solidFill>
                <a:latin typeface="Calibri" pitchFamily="34" charset="0"/>
                <a:ea typeface="Calibri" pitchFamily="34" charset="-122"/>
                <a:cs typeface="Calibri" pitchFamily="34" charset="-120"/>
              </a:rPr>
              <a:t>HOW DATRE ACTUALLY SITS IN THIS LANDSCAPE</a:t>
            </a:r>
            <a:endParaRPr lang="en-US" sz="1050" dirty="0"/>
          </a:p>
        </p:txBody>
      </p:sp>
      <p:sp>
        <p:nvSpPr>
          <p:cNvPr id="18" name="Text 16"/>
          <p:cNvSpPr/>
          <p:nvPr/>
        </p:nvSpPr>
        <p:spPr>
          <a:xfrm>
            <a:off x="822960" y="4315968"/>
            <a:ext cx="10545775" cy="1600200"/>
          </a:xfrm>
          <a:prstGeom prst="rect">
            <a:avLst/>
          </a:prstGeom>
          <a:noFill/>
          <a:ln/>
        </p:spPr>
        <p:txBody>
          <a:bodyPr wrap="square" lIns="0" tIns="0" rIns="0" bIns="0" rtlCol="0" anchor="ctr"/>
          <a:lstStyle/>
          <a:p>
            <a:pPr marL="342900" indent="-342900">
              <a:lnSpc>
                <a:spcPct val="112000"/>
              </a:lnSpc>
              <a:spcAft>
                <a:spcPts val="700"/>
              </a:spcAft>
              <a:buSzPct val="100000"/>
              <a:buChar char="•"/>
            </a:pPr>
            <a:r>
              <a:rPr lang="en-US" sz="980" dirty="0">
                <a:solidFill>
                  <a:srgbClr val="1C1F26"/>
                </a:solidFill>
                <a:latin typeface="Calibri" pitchFamily="34" charset="0"/>
                <a:ea typeface="Calibri" pitchFamily="34" charset="-122"/>
                <a:cs typeface="Calibri" pitchFamily="34" charset="-120"/>
              </a:rPr>
              <a:t>Datre's induction-route, steel-casting model sits outside the coke-crisis cluster hitting cupola/iron foundries — but carries its own exposure to grid tariffs, scrap quality and alloy pricing, with no tonnage cushion to absorb a bad month.</a:t>
            </a:r>
            <a:endParaRPr lang="en-US" sz="980" dirty="0"/>
          </a:p>
          <a:p>
            <a:pPr marL="342900" indent="-342900">
              <a:lnSpc>
                <a:spcPct val="112000"/>
              </a:lnSpc>
              <a:spcAft>
                <a:spcPts val="700"/>
              </a:spcAft>
              <a:buSzPct val="100000"/>
              <a:buChar char="•"/>
            </a:pPr>
            <a:r>
              <a:rPr lang="en-US" sz="980" dirty="0">
                <a:solidFill>
                  <a:srgbClr val="1C1F26"/>
                </a:solidFill>
                <a:latin typeface="Calibri" pitchFamily="34" charset="0"/>
                <a:ea typeface="Calibri" pitchFamily="34" charset="-122"/>
                <a:cs typeface="Calibri" pitchFamily="34" charset="-120"/>
              </a:rPr>
              <a:t>Accreditation, not tonnage, is becoming the sector's real pricing power — Datre's RDSO 'A' / ISO 9001:2015 / ZED Gold status already places it in the ~1,700-unit tier competing on qualification rather than price.</a:t>
            </a:r>
            <a:endParaRPr lang="en-US" sz="980" dirty="0"/>
          </a:p>
          <a:p>
            <a:pPr marL="342900" indent="-342900">
              <a:lnSpc>
                <a:spcPct val="112000"/>
              </a:lnSpc>
              <a:buSzPct val="100000"/>
              <a:buChar char="•"/>
            </a:pPr>
            <a:r>
              <a:rPr lang="en-US" sz="980" dirty="0">
                <a:solidFill>
                  <a:srgbClr val="1C1F26"/>
                </a:solidFill>
                <a:latin typeface="Calibri" pitchFamily="34" charset="0"/>
                <a:ea typeface="Calibri" pitchFamily="34" charset="-122"/>
                <a:cs typeface="Calibri" pitchFamily="34" charset="-120"/>
              </a:rPr>
              <a:t>Carbon intensity is arriving as a new compliance layer on top of accreditation: the EU's CBAM applies a 38.8% levy above 1.5 tCO2/t since Jan 2026, against an Indian foundry baseline of 1.8-2.2 tCO2/t. Not yet a direct hit for Datre's Japan/Australia/North America-leaning exports, but increasingly an OEM supplier-audit question.</a:t>
            </a:r>
            <a:endParaRPr lang="en-US" sz="980" dirty="0"/>
          </a:p>
        </p:txBody>
      </p:sp>
      <p:sp>
        <p:nvSpPr>
          <p:cNvPr id="19" name="Text 17"/>
          <p:cNvSpPr/>
          <p:nvPr/>
        </p:nvSpPr>
        <p:spPr>
          <a:xfrm>
            <a:off x="548640" y="6172200"/>
            <a:ext cx="11094415" cy="292608"/>
          </a:xfrm>
          <a:prstGeom prst="rect">
            <a:avLst/>
          </a:prstGeom>
          <a:noFill/>
          <a:ln/>
        </p:spPr>
        <p:txBody>
          <a:bodyPr wrap="square" lIns="0" tIns="0" rIns="0" bIns="0" rtlCol="0" anchor="ctr"/>
          <a:lstStyle/>
          <a:p>
            <a:pPr indent="0" marL="0">
              <a:lnSpc>
                <a:spcPct val="105000"/>
              </a:lnSpc>
              <a:buNone/>
            </a:pPr>
            <a:r>
              <a:rPr lang="en-US" sz="800" i="1" dirty="0">
                <a:solidFill>
                  <a:srgbClr val="6B7684"/>
                </a:solidFill>
                <a:latin typeface="Calibri" pitchFamily="34" charset="0"/>
                <a:ea typeface="Calibri" pitchFamily="34" charset="-122"/>
                <a:cs typeface="Calibri" pitchFamily="34" charset="-120"/>
              </a:rPr>
              <a:t>Sector figures (unit counts, coke pricing, CBAM threshold, consumption growth) are from an external industry briefing, not independently verified against Drive records — attributed as market context, not audited fact.</a:t>
            </a:r>
            <a:endParaRPr lang="en-US" sz="800" dirty="0"/>
          </a:p>
        </p:txBody>
      </p:sp>
      <p:sp>
        <p:nvSpPr>
          <p:cNvPr id="20" name="Text 18"/>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21"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C1F26"/>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MARKET CONTEXT — THE MOVE</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RDSO's fresh-registration window is the priority claim for the coming year</a:t>
            </a:r>
            <a:endParaRPr lang="en-US" sz="3000" dirty="0"/>
          </a:p>
        </p:txBody>
      </p:sp>
      <p:sp>
        <p:nvSpPr>
          <p:cNvPr id="4" name="Shape 2"/>
          <p:cNvSpPr/>
          <p:nvPr/>
        </p:nvSpPr>
        <p:spPr>
          <a:xfrm>
            <a:off x="548640" y="1737360"/>
            <a:ext cx="384048" cy="384048"/>
          </a:xfrm>
          <a:prstGeom prst="ellipse">
            <a:avLst/>
          </a:prstGeom>
          <a:solidFill>
            <a:srgbClr val="D9622B"/>
          </a:solidFill>
          <a:ln/>
        </p:spPr>
      </p:sp>
      <p:sp>
        <p:nvSpPr>
          <p:cNvPr id="5" name="Text 3"/>
          <p:cNvSpPr/>
          <p:nvPr/>
        </p:nvSpPr>
        <p:spPr>
          <a:xfrm>
            <a:off x="548640" y="173736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1</a:t>
            </a:r>
            <a:endParaRPr lang="en-US" sz="1092" dirty="0"/>
          </a:p>
        </p:txBody>
      </p:sp>
      <p:sp>
        <p:nvSpPr>
          <p:cNvPr id="6" name="Text 4"/>
          <p:cNvSpPr/>
          <p:nvPr/>
        </p:nvSpPr>
        <p:spPr>
          <a:xfrm>
            <a:off x="1115568" y="1709928"/>
            <a:ext cx="10527487"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What's opening</a:t>
            </a:r>
            <a:endParaRPr lang="en-US" sz="1350" dirty="0"/>
          </a:p>
        </p:txBody>
      </p:sp>
      <p:sp>
        <p:nvSpPr>
          <p:cNvPr id="7" name="Text 5"/>
          <p:cNvSpPr/>
          <p:nvPr/>
        </p:nvSpPr>
        <p:spPr>
          <a:xfrm>
            <a:off x="1115568" y="2084832"/>
            <a:ext cx="10527487" cy="713232"/>
          </a:xfrm>
          <a:prstGeom prst="rect">
            <a:avLst/>
          </a:prstGeom>
          <a:noFill/>
          <a:ln/>
        </p:spPr>
        <p:txBody>
          <a:bodyPr wrap="square" lIns="0" tIns="0" rIns="0" bIns="0" rtlCol="0" anchor="ctr"/>
          <a:lstStyle/>
          <a:p>
            <a:pPr indent="0" marL="0">
              <a:lnSpc>
                <a:spcPct val="115000"/>
              </a:lnSpc>
              <a:buNone/>
            </a:pPr>
            <a:r>
              <a:rPr lang="en-US" sz="1000" dirty="0">
                <a:solidFill>
                  <a:srgbClr val="CBD3DC"/>
                </a:solidFill>
                <a:latin typeface="Calibri" pitchFamily="34" charset="0"/>
                <a:ea typeface="Calibri" pitchFamily="34" charset="-122"/>
                <a:cs typeface="Calibri" pitchFamily="34" charset="-120"/>
              </a:rPr>
              <a:t>RDSO has opened fresh registration for cast-steel side frames, bolsters, centre pivot assemblies and CASNUB bogies — a vendor base it had kept tight for years. Simplex's May 2026 approval is already guiding to ~₹50 Cr this year and over ₹100 Cr next.</a:t>
            </a:r>
            <a:endParaRPr lang="en-US" sz="1000" dirty="0"/>
          </a:p>
        </p:txBody>
      </p:sp>
      <p:sp>
        <p:nvSpPr>
          <p:cNvPr id="8" name="Shape 6"/>
          <p:cNvSpPr/>
          <p:nvPr/>
        </p:nvSpPr>
        <p:spPr>
          <a:xfrm>
            <a:off x="548640" y="2880360"/>
            <a:ext cx="384048" cy="384048"/>
          </a:xfrm>
          <a:prstGeom prst="ellipse">
            <a:avLst/>
          </a:prstGeom>
          <a:solidFill>
            <a:srgbClr val="D9622B"/>
          </a:solidFill>
          <a:ln/>
        </p:spPr>
      </p:sp>
      <p:sp>
        <p:nvSpPr>
          <p:cNvPr id="9" name="Text 7"/>
          <p:cNvSpPr/>
          <p:nvPr/>
        </p:nvSpPr>
        <p:spPr>
          <a:xfrm>
            <a:off x="548640" y="288036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2</a:t>
            </a:r>
            <a:endParaRPr lang="en-US" sz="1092" dirty="0"/>
          </a:p>
        </p:txBody>
      </p:sp>
      <p:sp>
        <p:nvSpPr>
          <p:cNvPr id="10" name="Text 8"/>
          <p:cNvSpPr/>
          <p:nvPr/>
        </p:nvSpPr>
        <p:spPr>
          <a:xfrm>
            <a:off x="1115568" y="2852928"/>
            <a:ext cx="10527487"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Why it fits Datre</a:t>
            </a:r>
            <a:endParaRPr lang="en-US" sz="1350" dirty="0"/>
          </a:p>
        </p:txBody>
      </p:sp>
      <p:sp>
        <p:nvSpPr>
          <p:cNvPr id="11" name="Text 9"/>
          <p:cNvSpPr/>
          <p:nvPr/>
        </p:nvSpPr>
        <p:spPr>
          <a:xfrm>
            <a:off x="1115568" y="3227832"/>
            <a:ext cx="10527487" cy="713232"/>
          </a:xfrm>
          <a:prstGeom prst="rect">
            <a:avLst/>
          </a:prstGeom>
          <a:noFill/>
          <a:ln/>
        </p:spPr>
        <p:txBody>
          <a:bodyPr wrap="square" lIns="0" tIns="0" rIns="0" bIns="0" rtlCol="0" anchor="ctr"/>
          <a:lstStyle/>
          <a:p>
            <a:pPr indent="0" marL="0">
              <a:lnSpc>
                <a:spcPct val="115000"/>
              </a:lnSpc>
              <a:buNone/>
            </a:pPr>
            <a:r>
              <a:rPr lang="en-US" sz="1000" dirty="0">
                <a:solidFill>
                  <a:srgbClr val="CBD3DC"/>
                </a:solidFill>
                <a:latin typeface="Calibri" pitchFamily="34" charset="0"/>
                <a:ea typeface="Calibri" pitchFamily="34" charset="-122"/>
                <a:cs typeface="Calibri" pitchFamily="34" charset="-120"/>
              </a:rPr>
              <a:t>Approval-gated demand is the one segment where a small foundry quotes a price rather than accepts one — the same logic behind Datre's existing RDSO 'A' position on AAR M-201 couplers and knuckles. Whether that qualification scope extends to these bogie components, or needs its own registration cycle, is unconfirmed and should be the first thing checked with the works team.</a:t>
            </a:r>
            <a:endParaRPr lang="en-US" sz="1000" dirty="0"/>
          </a:p>
        </p:txBody>
      </p:sp>
      <p:sp>
        <p:nvSpPr>
          <p:cNvPr id="12" name="Shape 10"/>
          <p:cNvSpPr/>
          <p:nvPr/>
        </p:nvSpPr>
        <p:spPr>
          <a:xfrm>
            <a:off x="548640" y="4023360"/>
            <a:ext cx="384048" cy="384048"/>
          </a:xfrm>
          <a:prstGeom prst="ellipse">
            <a:avLst/>
          </a:prstGeom>
          <a:solidFill>
            <a:srgbClr val="D9622B"/>
          </a:solidFill>
          <a:ln/>
        </p:spPr>
      </p:sp>
      <p:sp>
        <p:nvSpPr>
          <p:cNvPr id="13" name="Text 11"/>
          <p:cNvSpPr/>
          <p:nvPr/>
        </p:nvSpPr>
        <p:spPr>
          <a:xfrm>
            <a:off x="548640" y="402336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3</a:t>
            </a:r>
            <a:endParaRPr lang="en-US" sz="1092" dirty="0"/>
          </a:p>
        </p:txBody>
      </p:sp>
      <p:sp>
        <p:nvSpPr>
          <p:cNvPr id="14" name="Text 12"/>
          <p:cNvSpPr/>
          <p:nvPr/>
        </p:nvSpPr>
        <p:spPr>
          <a:xfrm>
            <a:off x="1115568" y="3995928"/>
            <a:ext cx="10527487"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The trade-off</a:t>
            </a:r>
            <a:endParaRPr lang="en-US" sz="1350" dirty="0"/>
          </a:p>
        </p:txBody>
      </p:sp>
      <p:sp>
        <p:nvSpPr>
          <p:cNvPr id="15" name="Text 13"/>
          <p:cNvSpPr/>
          <p:nvPr/>
        </p:nvSpPr>
        <p:spPr>
          <a:xfrm>
            <a:off x="1115568" y="4370832"/>
            <a:ext cx="10527487" cy="713232"/>
          </a:xfrm>
          <a:prstGeom prst="rect">
            <a:avLst/>
          </a:prstGeom>
          <a:noFill/>
          <a:ln/>
        </p:spPr>
        <p:txBody>
          <a:bodyPr wrap="square" lIns="0" tIns="0" rIns="0" bIns="0" rtlCol="0" anchor="ctr"/>
          <a:lstStyle/>
          <a:p>
            <a:pPr indent="0" marL="0">
              <a:lnSpc>
                <a:spcPct val="115000"/>
              </a:lnSpc>
              <a:buNone/>
            </a:pPr>
            <a:r>
              <a:rPr lang="en-US" sz="1000" dirty="0">
                <a:solidFill>
                  <a:srgbClr val="CBD3DC"/>
                </a:solidFill>
                <a:latin typeface="Calibri" pitchFamily="34" charset="0"/>
                <a:ea typeface="Calibri" pitchFamily="34" charset="-122"/>
                <a:cs typeface="Calibri" pitchFamily="34" charset="-120"/>
              </a:rPr>
              <a:t>Railway approvals eat prototype cost and management time, and Railways buys in lumps and pays slowly. This cannot become the leg the business stands on — pursued carelessly, it would sharpen, not solve, the Tega/Escorts concentration risk already on the SWOT (slide 26).</a:t>
            </a:r>
            <a:endParaRPr lang="en-US" sz="1000" dirty="0"/>
          </a:p>
        </p:txBody>
      </p:sp>
      <p:sp>
        <p:nvSpPr>
          <p:cNvPr id="16" name="Shape 14"/>
          <p:cNvSpPr/>
          <p:nvPr/>
        </p:nvSpPr>
        <p:spPr>
          <a:xfrm>
            <a:off x="548640" y="5166360"/>
            <a:ext cx="11094415" cy="868680"/>
          </a:xfrm>
          <a:prstGeom prst="roundRect">
            <a:avLst>
              <a:gd name="adj" fmla="val 8421"/>
            </a:avLst>
          </a:prstGeom>
          <a:solidFill>
            <a:srgbClr val="262B34"/>
          </a:solidFill>
          <a:ln/>
        </p:spPr>
      </p:sp>
      <p:sp>
        <p:nvSpPr>
          <p:cNvPr id="17" name="Text 15"/>
          <p:cNvSpPr/>
          <p:nvPr/>
        </p:nvSpPr>
        <p:spPr>
          <a:xfrm>
            <a:off x="822960" y="5303520"/>
            <a:ext cx="10545775" cy="274320"/>
          </a:xfrm>
          <a:prstGeom prst="rect">
            <a:avLst/>
          </a:prstGeom>
          <a:noFill/>
          <a:ln/>
        </p:spPr>
        <p:txBody>
          <a:bodyPr wrap="square" lIns="0" tIns="0" rIns="0" bIns="0" rtlCol="0" anchor="ctr"/>
          <a:lstStyle/>
          <a:p>
            <a:pPr indent="0" marL="0">
              <a:buNone/>
            </a:pPr>
            <a:r>
              <a:rPr lang="en-US" sz="1000" b="1" spc="100" kern="0" dirty="0">
                <a:solidFill>
                  <a:srgbClr val="E8B84B"/>
                </a:solidFill>
                <a:latin typeface="Calibri" pitchFamily="34" charset="0"/>
                <a:ea typeface="Calibri" pitchFamily="34" charset="-122"/>
                <a:cs typeface="Calibri" pitchFamily="34" charset="-120"/>
              </a:rPr>
              <a:t>RECOMMENDATION</a:t>
            </a:r>
            <a:endParaRPr lang="en-US" sz="1000" dirty="0"/>
          </a:p>
        </p:txBody>
      </p:sp>
      <p:sp>
        <p:nvSpPr>
          <p:cNvPr id="18" name="Text 16"/>
          <p:cNvSpPr/>
          <p:nvPr/>
        </p:nvSpPr>
        <p:spPr>
          <a:xfrm>
            <a:off x="822960" y="5577840"/>
            <a:ext cx="10545775" cy="41148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Calibri" pitchFamily="34" charset="0"/>
                <a:ea typeface="Calibri" pitchFamily="34" charset="-122"/>
                <a:cs typeface="Calibri" pitchFamily="34" charset="-120"/>
              </a:rPr>
              <a:t>Treat the fresh-registration window as this year's priority claim, sized and resourced deliberately — not as a substitute for customer diversification.</a:t>
            </a:r>
            <a:endParaRPr lang="en-US" sz="1050" dirty="0"/>
          </a:p>
        </p:txBody>
      </p:sp>
      <p:sp>
        <p:nvSpPr>
          <p:cNvPr id="19" name="Text 17"/>
          <p:cNvSpPr/>
          <p:nvPr/>
        </p:nvSpPr>
        <p:spPr>
          <a:xfrm>
            <a:off x="548640" y="6172200"/>
            <a:ext cx="11094415" cy="292608"/>
          </a:xfrm>
          <a:prstGeom prst="rect">
            <a:avLst/>
          </a:prstGeom>
          <a:noFill/>
          <a:ln/>
        </p:spPr>
        <p:txBody>
          <a:bodyPr wrap="square" lIns="0" tIns="0" rIns="0" bIns="0" rtlCol="0" anchor="ctr"/>
          <a:lstStyle/>
          <a:p>
            <a:pPr indent="0" marL="0">
              <a:lnSpc>
                <a:spcPct val="105000"/>
              </a:lnSpc>
              <a:buNone/>
            </a:pPr>
            <a:r>
              <a:rPr lang="en-US" sz="800" i="1" dirty="0">
                <a:solidFill>
                  <a:srgbClr val="9AA2AD"/>
                </a:solidFill>
                <a:latin typeface="Calibri" pitchFamily="34" charset="0"/>
                <a:ea typeface="Calibri" pitchFamily="34" charset="-122"/>
                <a:cs typeface="Calibri" pitchFamily="34" charset="-120"/>
              </a:rPr>
              <a:t>RDSO registration status and Simplex's guidance are from an external industry briefing, unverified against Drive. Confirm actual scope-match to Datre's qualifications before committing prototype spend.</a:t>
            </a:r>
            <a:endParaRPr lang="en-US" sz="800" dirty="0"/>
          </a:p>
        </p:txBody>
      </p:sp>
      <p:sp>
        <p:nvSpPr>
          <p:cNvPr id="20" name="Text 18"/>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8B93A0"/>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21"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8B93A0"/>
                </a:solidFill>
                <a:latin typeface="Calibri" pitchFamily="34" charset="0"/>
                <a:ea typeface="Calibri" pitchFamily="34" charset="-122"/>
                <a:cs typeface="Calibri"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CRITICAL ANALYSIS — SUMMARY</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1C1F26"/>
                </a:solidFill>
                <a:latin typeface="Cambria" pitchFamily="34" charset="0"/>
                <a:ea typeface="Cambria" pitchFamily="34" charset="-122"/>
                <a:cs typeface="Cambria" pitchFamily="34" charset="-120"/>
              </a:rPr>
              <a:t>SWOT: the honest scorecard</a:t>
            </a:r>
            <a:endParaRPr lang="en-US" sz="3000" dirty="0"/>
          </a:p>
        </p:txBody>
      </p:sp>
      <p:sp>
        <p:nvSpPr>
          <p:cNvPr id="4" name="Shape 2"/>
          <p:cNvSpPr/>
          <p:nvPr/>
        </p:nvSpPr>
        <p:spPr>
          <a:xfrm>
            <a:off x="548640" y="1737360"/>
            <a:ext cx="5387188" cy="2148840"/>
          </a:xfrm>
          <a:prstGeom prst="roundRect">
            <a:avLst>
              <a:gd name="adj" fmla="val 3404"/>
            </a:avLst>
          </a:prstGeom>
          <a:solidFill>
            <a:srgbClr val="EDF5EF"/>
          </a:solidFill>
          <a:ln/>
        </p:spPr>
      </p:sp>
      <p:sp>
        <p:nvSpPr>
          <p:cNvPr id="5" name="Text 3"/>
          <p:cNvSpPr/>
          <p:nvPr/>
        </p:nvSpPr>
        <p:spPr>
          <a:xfrm>
            <a:off x="804672" y="1901952"/>
            <a:ext cx="4875124" cy="274320"/>
          </a:xfrm>
          <a:prstGeom prst="rect">
            <a:avLst/>
          </a:prstGeom>
          <a:noFill/>
          <a:ln/>
        </p:spPr>
        <p:txBody>
          <a:bodyPr wrap="square" lIns="0" tIns="0" rIns="0" bIns="0" rtlCol="0" anchor="ctr"/>
          <a:lstStyle/>
          <a:p>
            <a:pPr indent="0" marL="0">
              <a:buNone/>
            </a:pPr>
            <a:r>
              <a:rPr lang="en-US" sz="1150" b="1" spc="150" kern="0" dirty="0">
                <a:solidFill>
                  <a:srgbClr val="3F8F5F"/>
                </a:solidFill>
                <a:latin typeface="Calibri" pitchFamily="34" charset="0"/>
                <a:ea typeface="Calibri" pitchFamily="34" charset="-122"/>
                <a:cs typeface="Calibri" pitchFamily="34" charset="-120"/>
              </a:rPr>
              <a:t>STRENGTHS</a:t>
            </a:r>
            <a:endParaRPr lang="en-US" sz="1150" dirty="0"/>
          </a:p>
        </p:txBody>
      </p:sp>
      <p:sp>
        <p:nvSpPr>
          <p:cNvPr id="6" name="Text 4"/>
          <p:cNvSpPr/>
          <p:nvPr/>
        </p:nvSpPr>
        <p:spPr>
          <a:xfrm>
            <a:off x="804672" y="2212848"/>
            <a:ext cx="4875124" cy="1554480"/>
          </a:xfrm>
          <a:prstGeom prst="rect">
            <a:avLst/>
          </a:prstGeom>
          <a:noFill/>
          <a:ln/>
        </p:spPr>
        <p:txBody>
          <a:bodyPr wrap="square" lIns="0" tIns="0" rIns="0" bIns="0" rtlCol="0" anchor="ctr"/>
          <a:lstStyle/>
          <a:p>
            <a:pPr marL="342900" indent="-342900">
              <a:lnSpc>
                <a:spcPct val="105000"/>
              </a:lnSpc>
              <a:spcAft>
                <a:spcPts val="500"/>
              </a:spcAft>
              <a:buSzPct val="100000"/>
              <a:buChar char="•"/>
            </a:pPr>
            <a:r>
              <a:rPr lang="en-US" sz="960" dirty="0">
                <a:solidFill>
                  <a:srgbClr val="1C1F26"/>
                </a:solidFill>
                <a:latin typeface="Calibri" pitchFamily="34" charset="0"/>
                <a:ea typeface="Calibri" pitchFamily="34" charset="-122"/>
                <a:cs typeface="Calibri" pitchFamily="34" charset="-120"/>
              </a:rPr>
              <a:t>Utilization ~55%→~81% (2018-2025) on the same aging plant</a:t>
            </a:r>
            <a:endParaRPr lang="en-US" sz="960" dirty="0"/>
          </a:p>
          <a:p>
            <a:pPr marL="342900" indent="-342900">
              <a:lnSpc>
                <a:spcPct val="105000"/>
              </a:lnSpc>
              <a:spcAft>
                <a:spcPts val="500"/>
              </a:spcAft>
              <a:buSzPct val="100000"/>
              <a:buChar char="•"/>
            </a:pPr>
            <a:r>
              <a:rPr lang="en-US" sz="960" dirty="0">
                <a:solidFill>
                  <a:srgbClr val="1C1F26"/>
                </a:solidFill>
                <a:latin typeface="Calibri" pitchFamily="34" charset="0"/>
                <a:ea typeface="Calibri" pitchFamily="34" charset="-122"/>
                <a:cs typeface="Calibri" pitchFamily="34" charset="-120"/>
              </a:rPr>
              <a:t>Defensible heat-treatment IP moat</a:t>
            </a:r>
            <a:endParaRPr lang="en-US" sz="960" dirty="0"/>
          </a:p>
          <a:p>
            <a:pPr marL="342900" indent="-342900">
              <a:lnSpc>
                <a:spcPct val="105000"/>
              </a:lnSpc>
              <a:spcAft>
                <a:spcPts val="500"/>
              </a:spcAft>
              <a:buSzPct val="100000"/>
              <a:buChar char="•"/>
            </a:pPr>
            <a:r>
              <a:rPr lang="en-US" sz="960" dirty="0">
                <a:solidFill>
                  <a:srgbClr val="1C1F26"/>
                </a:solidFill>
                <a:latin typeface="Calibri" pitchFamily="34" charset="0"/>
                <a:ea typeface="Calibri" pitchFamily="34" charset="-122"/>
                <a:cs typeface="Calibri" pitchFamily="34" charset="-120"/>
              </a:rPr>
              <a:t>Tier-1 OEM integration incl. Komatsu-qualified</a:t>
            </a:r>
            <a:endParaRPr lang="en-US" sz="960" dirty="0"/>
          </a:p>
          <a:p>
            <a:pPr marL="342900" indent="-342900">
              <a:lnSpc>
                <a:spcPct val="105000"/>
              </a:lnSpc>
              <a:spcAft>
                <a:spcPts val="500"/>
              </a:spcAft>
              <a:buSzPct val="100000"/>
              <a:buChar char="•"/>
            </a:pPr>
            <a:r>
              <a:rPr lang="en-US" sz="960" dirty="0">
                <a:solidFill>
                  <a:srgbClr val="1C1F26"/>
                </a:solidFill>
                <a:latin typeface="Calibri" pitchFamily="34" charset="0"/>
                <a:ea typeface="Calibri" pitchFamily="34" charset="-122"/>
                <a:cs typeface="Calibri" pitchFamily="34" charset="-120"/>
              </a:rPr>
              <a:t>Operationally debt-free; ISO 9001:2015 / RDSO 'A' / ZED Gold</a:t>
            </a:r>
            <a:endParaRPr lang="en-US" sz="960" dirty="0"/>
          </a:p>
        </p:txBody>
      </p:sp>
      <p:sp>
        <p:nvSpPr>
          <p:cNvPr id="7" name="Shape 5"/>
          <p:cNvSpPr/>
          <p:nvPr/>
        </p:nvSpPr>
        <p:spPr>
          <a:xfrm>
            <a:off x="6255868" y="1737360"/>
            <a:ext cx="5387188" cy="2148840"/>
          </a:xfrm>
          <a:prstGeom prst="roundRect">
            <a:avLst>
              <a:gd name="adj" fmla="val 3404"/>
            </a:avLst>
          </a:prstGeom>
          <a:solidFill>
            <a:srgbClr val="FBEEEC"/>
          </a:solidFill>
          <a:ln/>
        </p:spPr>
      </p:sp>
      <p:sp>
        <p:nvSpPr>
          <p:cNvPr id="8" name="Text 6"/>
          <p:cNvSpPr/>
          <p:nvPr/>
        </p:nvSpPr>
        <p:spPr>
          <a:xfrm>
            <a:off x="6511900" y="1901952"/>
            <a:ext cx="4875124" cy="274320"/>
          </a:xfrm>
          <a:prstGeom prst="rect">
            <a:avLst/>
          </a:prstGeom>
          <a:noFill/>
          <a:ln/>
        </p:spPr>
        <p:txBody>
          <a:bodyPr wrap="square" lIns="0" tIns="0" rIns="0" bIns="0" rtlCol="0" anchor="ctr"/>
          <a:lstStyle/>
          <a:p>
            <a:pPr indent="0" marL="0">
              <a:buNone/>
            </a:pPr>
            <a:r>
              <a:rPr lang="en-US" sz="1150" b="1" spc="150" kern="0" dirty="0">
                <a:solidFill>
                  <a:srgbClr val="B8453F"/>
                </a:solidFill>
                <a:latin typeface="Calibri" pitchFamily="34" charset="0"/>
                <a:ea typeface="Calibri" pitchFamily="34" charset="-122"/>
                <a:cs typeface="Calibri" pitchFamily="34" charset="-120"/>
              </a:rPr>
              <a:t>WEAKNESSES</a:t>
            </a:r>
            <a:endParaRPr lang="en-US" sz="1150" dirty="0"/>
          </a:p>
        </p:txBody>
      </p:sp>
      <p:sp>
        <p:nvSpPr>
          <p:cNvPr id="9" name="Text 7"/>
          <p:cNvSpPr/>
          <p:nvPr/>
        </p:nvSpPr>
        <p:spPr>
          <a:xfrm>
            <a:off x="6511900" y="2212848"/>
            <a:ext cx="4875124" cy="1554480"/>
          </a:xfrm>
          <a:prstGeom prst="rect">
            <a:avLst/>
          </a:prstGeom>
          <a:noFill/>
          <a:ln/>
        </p:spPr>
        <p:txBody>
          <a:bodyPr wrap="square" lIns="0" tIns="0" rIns="0" bIns="0" rtlCol="0" anchor="ctr"/>
          <a:lstStyle/>
          <a:p>
            <a:pPr marL="342900" indent="-342900">
              <a:lnSpc>
                <a:spcPct val="105000"/>
              </a:lnSpc>
              <a:spcAft>
                <a:spcPts val="500"/>
              </a:spcAft>
              <a:buSzPct val="100000"/>
              <a:buChar char="•"/>
            </a:pPr>
            <a:r>
              <a:rPr lang="en-US" sz="960" dirty="0">
                <a:solidFill>
                  <a:srgbClr val="1C1F26"/>
                </a:solidFill>
                <a:latin typeface="Calibri" pitchFamily="34" charset="0"/>
                <a:ea typeface="Calibri" pitchFamily="34" charset="-122"/>
                <a:cs typeface="Calibri" pitchFamily="34" charset="-120"/>
              </a:rPr>
              <a:t>Negative net worth (-₹1.54 Cr, FY25)</a:t>
            </a:r>
            <a:endParaRPr lang="en-US" sz="960" dirty="0"/>
          </a:p>
          <a:p>
            <a:pPr marL="342900" indent="-342900">
              <a:lnSpc>
                <a:spcPct val="105000"/>
              </a:lnSpc>
              <a:spcAft>
                <a:spcPts val="500"/>
              </a:spcAft>
              <a:buSzPct val="100000"/>
              <a:buChar char="•"/>
            </a:pPr>
            <a:r>
              <a:rPr lang="en-US" sz="960" dirty="0">
                <a:solidFill>
                  <a:srgbClr val="1C1F26"/>
                </a:solidFill>
                <a:latin typeface="Calibri" pitchFamily="34" charset="0"/>
                <a:ea typeface="Calibri" pitchFamily="34" charset="-122"/>
                <a:cs typeface="Calibri" pitchFamily="34" charset="-120"/>
              </a:rPr>
              <a:t>~80% of contribution from 2 customers</a:t>
            </a:r>
            <a:endParaRPr lang="en-US" sz="960" dirty="0"/>
          </a:p>
          <a:p>
            <a:pPr marL="342900" indent="-342900">
              <a:lnSpc>
                <a:spcPct val="105000"/>
              </a:lnSpc>
              <a:spcAft>
                <a:spcPts val="500"/>
              </a:spcAft>
              <a:buSzPct val="100000"/>
              <a:buChar char="•"/>
            </a:pPr>
            <a:r>
              <a:rPr lang="en-US" sz="960" dirty="0">
                <a:solidFill>
                  <a:srgbClr val="1C1F26"/>
                </a:solidFill>
                <a:latin typeface="Calibri" pitchFamily="34" charset="0"/>
                <a:ea typeface="Calibri" pitchFamily="34" charset="-122"/>
                <a:cs typeface="Calibri" pitchFamily="34" charset="-120"/>
              </a:rPr>
              <a:t>Rejection rate at 10.1%, worst on record</a:t>
            </a:r>
            <a:endParaRPr lang="en-US" sz="960" dirty="0"/>
          </a:p>
          <a:p>
            <a:pPr marL="342900" indent="-342900">
              <a:lnSpc>
                <a:spcPct val="105000"/>
              </a:lnSpc>
              <a:spcAft>
                <a:spcPts val="500"/>
              </a:spcAft>
              <a:buSzPct val="100000"/>
              <a:buChar char="•"/>
            </a:pPr>
            <a:r>
              <a:rPr lang="en-US" sz="960" dirty="0">
                <a:solidFill>
                  <a:srgbClr val="1C1F26"/>
                </a:solidFill>
                <a:latin typeface="Calibri" pitchFamily="34" charset="0"/>
                <a:ea typeface="Calibri" pitchFamily="34" charset="-122"/>
                <a:cs typeface="Calibri" pitchFamily="34" charset="-120"/>
              </a:rPr>
              <a:t>Recurring auditor qualification; sub-scale vs. peer median</a:t>
            </a:r>
            <a:endParaRPr lang="en-US" sz="960" dirty="0"/>
          </a:p>
        </p:txBody>
      </p:sp>
      <p:sp>
        <p:nvSpPr>
          <p:cNvPr id="10" name="Shape 8"/>
          <p:cNvSpPr/>
          <p:nvPr/>
        </p:nvSpPr>
        <p:spPr>
          <a:xfrm>
            <a:off x="548640" y="4114800"/>
            <a:ext cx="5387188" cy="2148840"/>
          </a:xfrm>
          <a:prstGeom prst="roundRect">
            <a:avLst>
              <a:gd name="adj" fmla="val 3404"/>
            </a:avLst>
          </a:prstGeom>
          <a:solidFill>
            <a:srgbClr val="FCEFE6"/>
          </a:solidFill>
          <a:ln/>
        </p:spPr>
      </p:sp>
      <p:sp>
        <p:nvSpPr>
          <p:cNvPr id="11" name="Text 9"/>
          <p:cNvSpPr/>
          <p:nvPr/>
        </p:nvSpPr>
        <p:spPr>
          <a:xfrm>
            <a:off x="804672" y="4279392"/>
            <a:ext cx="4875124" cy="274320"/>
          </a:xfrm>
          <a:prstGeom prst="rect">
            <a:avLst/>
          </a:prstGeom>
          <a:noFill/>
          <a:ln/>
        </p:spPr>
        <p:txBody>
          <a:bodyPr wrap="square" lIns="0" tIns="0" rIns="0" bIns="0" rtlCol="0" anchor="ctr"/>
          <a:lstStyle/>
          <a:p>
            <a:pPr indent="0" marL="0">
              <a:buNone/>
            </a:pPr>
            <a:r>
              <a:rPr lang="en-US" sz="1150" b="1" spc="150" kern="0" dirty="0">
                <a:solidFill>
                  <a:srgbClr val="D9622B"/>
                </a:solidFill>
                <a:latin typeface="Calibri" pitchFamily="34" charset="0"/>
                <a:ea typeface="Calibri" pitchFamily="34" charset="-122"/>
                <a:cs typeface="Calibri" pitchFamily="34" charset="-120"/>
              </a:rPr>
              <a:t>OPPORTUNITIES</a:t>
            </a:r>
            <a:endParaRPr lang="en-US" sz="1150" dirty="0"/>
          </a:p>
        </p:txBody>
      </p:sp>
      <p:sp>
        <p:nvSpPr>
          <p:cNvPr id="12" name="Text 10"/>
          <p:cNvSpPr/>
          <p:nvPr/>
        </p:nvSpPr>
        <p:spPr>
          <a:xfrm>
            <a:off x="804672" y="4590288"/>
            <a:ext cx="4875124" cy="1554480"/>
          </a:xfrm>
          <a:prstGeom prst="rect">
            <a:avLst/>
          </a:prstGeom>
          <a:noFill/>
          <a:ln/>
        </p:spPr>
        <p:txBody>
          <a:bodyPr wrap="square" lIns="0" tIns="0" rIns="0" bIns="0" rtlCol="0" anchor="ctr"/>
          <a:lstStyle/>
          <a:p>
            <a:pPr marL="342900" indent="-342900">
              <a:lnSpc>
                <a:spcPct val="105000"/>
              </a:lnSpc>
              <a:spcAft>
                <a:spcPts val="500"/>
              </a:spcAft>
              <a:buSzPct val="100000"/>
              <a:buChar char="•"/>
            </a:pPr>
            <a:r>
              <a:rPr lang="en-US" sz="960" dirty="0">
                <a:solidFill>
                  <a:srgbClr val="1C1F26"/>
                </a:solidFill>
                <a:latin typeface="Calibri" pitchFamily="34" charset="0"/>
                <a:ea typeface="Calibri" pitchFamily="34" charset="-122"/>
                <a:cs typeface="Calibri" pitchFamily="34" charset="-120"/>
              </a:rPr>
              <a:t>Komatsu global qualification (pending quality closure)</a:t>
            </a:r>
            <a:endParaRPr lang="en-US" sz="960" dirty="0"/>
          </a:p>
          <a:p>
            <a:pPr marL="342900" indent="-342900">
              <a:lnSpc>
                <a:spcPct val="105000"/>
              </a:lnSpc>
              <a:spcAft>
                <a:spcPts val="500"/>
              </a:spcAft>
              <a:buSzPct val="100000"/>
              <a:buChar char="•"/>
            </a:pPr>
            <a:r>
              <a:rPr lang="en-US" sz="960" dirty="0">
                <a:solidFill>
                  <a:srgbClr val="1C1F26"/>
                </a:solidFill>
                <a:latin typeface="Calibri" pitchFamily="34" charset="0"/>
                <a:ea typeface="Calibri" pitchFamily="34" charset="-122"/>
                <a:cs typeface="Calibri" pitchFamily="34" charset="-120"/>
              </a:rPr>
              <a:t>Thejo Engineering diversification, actively growing</a:t>
            </a:r>
            <a:endParaRPr lang="en-US" sz="960" dirty="0"/>
          </a:p>
          <a:p>
            <a:pPr marL="342900" indent="-342900">
              <a:lnSpc>
                <a:spcPct val="105000"/>
              </a:lnSpc>
              <a:spcAft>
                <a:spcPts val="500"/>
              </a:spcAft>
              <a:buSzPct val="100000"/>
              <a:buChar char="•"/>
            </a:pPr>
            <a:r>
              <a:rPr lang="en-US" sz="960" dirty="0">
                <a:solidFill>
                  <a:srgbClr val="1C1F26"/>
                </a:solidFill>
                <a:latin typeface="Calibri" pitchFamily="34" charset="0"/>
                <a:ea typeface="Calibri" pitchFamily="34" charset="-122"/>
                <a:cs typeface="Calibri" pitchFamily="34" charset="-120"/>
              </a:rPr>
              <a:t>RDSO fresh-registration window for cast-steel bogie parts — approval-gated demand (slide 25)</a:t>
            </a:r>
            <a:endParaRPr lang="en-US" sz="960" dirty="0"/>
          </a:p>
          <a:p>
            <a:pPr marL="342900" indent="-342900">
              <a:lnSpc>
                <a:spcPct val="105000"/>
              </a:lnSpc>
              <a:spcAft>
                <a:spcPts val="500"/>
              </a:spcAft>
              <a:buSzPct val="100000"/>
              <a:buChar char="•"/>
            </a:pPr>
            <a:r>
              <a:rPr lang="en-US" sz="960" dirty="0">
                <a:solidFill>
                  <a:srgbClr val="1C1F26"/>
                </a:solidFill>
                <a:latin typeface="Calibri" pitchFamily="34" charset="0"/>
                <a:ea typeface="Calibri" pitchFamily="34" charset="-122"/>
                <a:cs typeface="Calibri" pitchFamily="34" charset="-120"/>
              </a:rPr>
              <a:t>Margin upside toward peer best-in-class (7-8% net)</a:t>
            </a:r>
            <a:endParaRPr lang="en-US" sz="960" dirty="0"/>
          </a:p>
        </p:txBody>
      </p:sp>
      <p:sp>
        <p:nvSpPr>
          <p:cNvPr id="13" name="Shape 11"/>
          <p:cNvSpPr/>
          <p:nvPr/>
        </p:nvSpPr>
        <p:spPr>
          <a:xfrm>
            <a:off x="6255868" y="4114800"/>
            <a:ext cx="5387188" cy="2148840"/>
          </a:xfrm>
          <a:prstGeom prst="roundRect">
            <a:avLst>
              <a:gd name="adj" fmla="val 3404"/>
            </a:avLst>
          </a:prstGeom>
          <a:solidFill>
            <a:srgbClr val="F4F5F7"/>
          </a:solidFill>
          <a:ln/>
        </p:spPr>
      </p:sp>
      <p:sp>
        <p:nvSpPr>
          <p:cNvPr id="14" name="Text 12"/>
          <p:cNvSpPr/>
          <p:nvPr/>
        </p:nvSpPr>
        <p:spPr>
          <a:xfrm>
            <a:off x="6511900" y="4279392"/>
            <a:ext cx="4875124" cy="274320"/>
          </a:xfrm>
          <a:prstGeom prst="rect">
            <a:avLst/>
          </a:prstGeom>
          <a:noFill/>
          <a:ln/>
        </p:spPr>
        <p:txBody>
          <a:bodyPr wrap="square" lIns="0" tIns="0" rIns="0" bIns="0" rtlCol="0" anchor="ctr"/>
          <a:lstStyle/>
          <a:p>
            <a:pPr indent="0" marL="0">
              <a:buNone/>
            </a:pPr>
            <a:r>
              <a:rPr lang="en-US" sz="1150" b="1" spc="150" kern="0" dirty="0">
                <a:solidFill>
                  <a:srgbClr val="3A4553"/>
                </a:solidFill>
                <a:latin typeface="Calibri" pitchFamily="34" charset="0"/>
                <a:ea typeface="Calibri" pitchFamily="34" charset="-122"/>
                <a:cs typeface="Calibri" pitchFamily="34" charset="-120"/>
              </a:rPr>
              <a:t>THREATS</a:t>
            </a:r>
            <a:endParaRPr lang="en-US" sz="1150" dirty="0"/>
          </a:p>
        </p:txBody>
      </p:sp>
      <p:sp>
        <p:nvSpPr>
          <p:cNvPr id="15" name="Text 13"/>
          <p:cNvSpPr/>
          <p:nvPr/>
        </p:nvSpPr>
        <p:spPr>
          <a:xfrm>
            <a:off x="6511900" y="4590288"/>
            <a:ext cx="4875124" cy="1554480"/>
          </a:xfrm>
          <a:prstGeom prst="rect">
            <a:avLst/>
          </a:prstGeom>
          <a:noFill/>
          <a:ln/>
        </p:spPr>
        <p:txBody>
          <a:bodyPr wrap="square" lIns="0" tIns="0" rIns="0" bIns="0" rtlCol="0" anchor="ctr"/>
          <a:lstStyle/>
          <a:p>
            <a:pPr marL="342900" indent="-342900">
              <a:lnSpc>
                <a:spcPct val="105000"/>
              </a:lnSpc>
              <a:spcAft>
                <a:spcPts val="500"/>
              </a:spcAft>
              <a:buSzPct val="100000"/>
              <a:buChar char="•"/>
            </a:pPr>
            <a:r>
              <a:rPr lang="en-US" sz="960" dirty="0">
                <a:solidFill>
                  <a:srgbClr val="1C1F26"/>
                </a:solidFill>
                <a:latin typeface="Calibri" pitchFamily="34" charset="0"/>
                <a:ea typeface="Calibri" pitchFamily="34" charset="-122"/>
                <a:cs typeface="Calibri" pitchFamily="34" charset="-120"/>
              </a:rPr>
              <a:t>Tega/Escorts concentration; Tega small-order decline</a:t>
            </a:r>
            <a:endParaRPr lang="en-US" sz="960" dirty="0"/>
          </a:p>
          <a:p>
            <a:pPr marL="342900" indent="-342900">
              <a:lnSpc>
                <a:spcPct val="105000"/>
              </a:lnSpc>
              <a:spcAft>
                <a:spcPts val="500"/>
              </a:spcAft>
              <a:buSzPct val="100000"/>
              <a:buChar char="•"/>
            </a:pPr>
            <a:r>
              <a:rPr lang="en-US" sz="960" dirty="0">
                <a:solidFill>
                  <a:srgbClr val="1C1F26"/>
                </a:solidFill>
                <a:latin typeface="Calibri" pitchFamily="34" charset="0"/>
                <a:ea typeface="Calibri" pitchFamily="34" charset="-122"/>
                <a:cs typeface="Calibri" pitchFamily="34" charset="-120"/>
              </a:rPr>
              <a:t>Q1 FY26-27 demand air-pocket, cause unconfirmed</a:t>
            </a:r>
            <a:endParaRPr lang="en-US" sz="960" dirty="0"/>
          </a:p>
          <a:p>
            <a:pPr marL="342900" indent="-342900">
              <a:lnSpc>
                <a:spcPct val="105000"/>
              </a:lnSpc>
              <a:spcAft>
                <a:spcPts val="500"/>
              </a:spcAft>
              <a:buSzPct val="100000"/>
              <a:buChar char="•"/>
            </a:pPr>
            <a:r>
              <a:rPr lang="en-US" sz="960" dirty="0">
                <a:solidFill>
                  <a:srgbClr val="1C1F26"/>
                </a:solidFill>
                <a:latin typeface="Calibri" pitchFamily="34" charset="0"/>
                <a:ea typeface="Calibri" pitchFamily="34" charset="-122"/>
                <a:cs typeface="Calibri" pitchFamily="34" charset="-120"/>
              </a:rPr>
              <a:t>Carbon-intensity entering OEM audits — Indian foundries ~1.8-2.2 tCO2/t vs. CBAM's 1.5t line (slide 24)</a:t>
            </a:r>
            <a:endParaRPr lang="en-US" sz="960" dirty="0"/>
          </a:p>
          <a:p>
            <a:pPr marL="342900" indent="-342900">
              <a:lnSpc>
                <a:spcPct val="105000"/>
              </a:lnSpc>
              <a:spcAft>
                <a:spcPts val="500"/>
              </a:spcAft>
              <a:buSzPct val="100000"/>
              <a:buChar char="•"/>
            </a:pPr>
            <a:r>
              <a:rPr lang="en-US" sz="960" dirty="0">
                <a:solidFill>
                  <a:srgbClr val="1C1F26"/>
                </a:solidFill>
                <a:latin typeface="Calibri" pitchFamily="34" charset="0"/>
                <a:ea typeface="Calibri" pitchFamily="34" charset="-122"/>
                <a:cs typeface="Calibri" pitchFamily="34" charset="-120"/>
              </a:rPr>
              <a:t>Open Komatsu first-article nonconformity</a:t>
            </a:r>
            <a:endParaRPr lang="en-US" sz="960" dirty="0"/>
          </a:p>
        </p:txBody>
      </p:sp>
      <p:sp>
        <p:nvSpPr>
          <p:cNvPr id="16" name="Text 14"/>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17" name="Text 1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VALUATION — THE TWO LENSES</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1C1F26"/>
                </a:solidFill>
                <a:latin typeface="Cambria" pitchFamily="34" charset="0"/>
                <a:ea typeface="Cambria" pitchFamily="34" charset="-122"/>
                <a:cs typeface="Cambria" pitchFamily="34" charset="-120"/>
              </a:rPr>
              <a:t>Two ways to price this business — and they disagree by 3-10x</a:t>
            </a:r>
            <a:endParaRPr lang="en-US" sz="3000" dirty="0"/>
          </a:p>
        </p:txBody>
      </p:sp>
      <p:graphicFrame>
        <p:nvGraphicFramePr>
          <p:cNvPr id="4" name="Chart 0" descr=""/>
          <p:cNvGraphicFramePr/>
          <p:nvPr/>
        </p:nvGraphicFramePr>
        <p:xfrm>
          <a:off x="548640" y="1737360"/>
          <a:ext cx="640080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48640" y="5074920"/>
            <a:ext cx="6400800" cy="594360"/>
          </a:xfrm>
          <a:prstGeom prst="rect">
            <a:avLst/>
          </a:prstGeom>
          <a:noFill/>
          <a:ln/>
        </p:spPr>
        <p:txBody>
          <a:bodyPr wrap="square" lIns="0" tIns="0" rIns="0" bIns="0" rtlCol="0" anchor="ctr"/>
          <a:lstStyle/>
          <a:p>
            <a:pPr indent="0" marL="0">
              <a:lnSpc>
                <a:spcPct val="110000"/>
              </a:lnSpc>
              <a:buNone/>
            </a:pPr>
            <a:r>
              <a:rPr lang="en-US" sz="850" i="1" dirty="0">
                <a:solidFill>
                  <a:srgbClr val="6B7684"/>
                </a:solidFill>
                <a:latin typeface="Calibri" pitchFamily="34" charset="0"/>
                <a:ea typeface="Calibri" pitchFamily="34" charset="-122"/>
                <a:cs typeface="Calibri" pitchFamily="34" charset="-120"/>
              </a:rPr>
              <a:t>Grey bars: today's book value of the hard assets (internal depreciation register, FY23-24 close). Orange bars: illustrative income-basis value, capitalizing the 3-year average audited PAT (₹1.43 Cr, FY23-25) at a range of multiples — no verified comparable transaction exists for Indian niche-foundry M&amp;A; treat as sensitivity, not appraisal.</a:t>
            </a:r>
            <a:endParaRPr lang="en-US" sz="850" dirty="0"/>
          </a:p>
        </p:txBody>
      </p:sp>
      <p:sp>
        <p:nvSpPr>
          <p:cNvPr id="6" name="Text 3"/>
          <p:cNvSpPr/>
          <p:nvPr/>
        </p:nvSpPr>
        <p:spPr>
          <a:xfrm>
            <a:off x="7223760" y="1737360"/>
            <a:ext cx="4419295" cy="411480"/>
          </a:xfrm>
          <a:prstGeom prst="rect">
            <a:avLst/>
          </a:prstGeom>
          <a:noFill/>
          <a:ln/>
        </p:spPr>
        <p:txBody>
          <a:bodyPr wrap="square" lIns="0" tIns="0" rIns="0" bIns="0" rtlCol="0" anchor="ctr"/>
          <a:lstStyle/>
          <a:p>
            <a:pPr indent="0" marL="0">
              <a:buNone/>
            </a:pPr>
            <a:r>
              <a:rPr lang="en-US" sz="2100" b="1" dirty="0">
                <a:solidFill>
                  <a:srgbClr val="1C1F26"/>
                </a:solidFill>
                <a:latin typeface="Cambria" pitchFamily="34" charset="0"/>
                <a:ea typeface="Cambria" pitchFamily="34" charset="-122"/>
                <a:cs typeface="Cambria" pitchFamily="34" charset="-120"/>
              </a:rPr>
              <a:t>~90%</a:t>
            </a:r>
            <a:endParaRPr lang="en-US" sz="2100" dirty="0"/>
          </a:p>
        </p:txBody>
      </p:sp>
      <p:sp>
        <p:nvSpPr>
          <p:cNvPr id="7" name="Text 4"/>
          <p:cNvSpPr/>
          <p:nvPr/>
        </p:nvSpPr>
        <p:spPr>
          <a:xfrm>
            <a:off x="7223760" y="2139696"/>
            <a:ext cx="4419295" cy="685800"/>
          </a:xfrm>
          <a:prstGeom prst="rect">
            <a:avLst/>
          </a:prstGeom>
          <a:noFill/>
          <a:ln/>
        </p:spPr>
        <p:txBody>
          <a:bodyPr wrap="square" lIns="0" tIns="0" rIns="0" bIns="0" rtlCol="0" anchor="ctr"/>
          <a:lstStyle/>
          <a:p>
            <a:pPr indent="0" marL="0">
              <a:lnSpc>
                <a:spcPct val="115000"/>
              </a:lnSpc>
              <a:buNone/>
            </a:pPr>
            <a:r>
              <a:rPr lang="en-US" sz="950" dirty="0">
                <a:solidFill>
                  <a:srgbClr val="3A4553"/>
                </a:solidFill>
                <a:latin typeface="Calibri" pitchFamily="34" charset="0"/>
                <a:ea typeface="Calibri" pitchFamily="34" charset="-122"/>
                <a:cs typeface="Calibri" pitchFamily="34" charset="-120"/>
              </a:rPr>
              <a:t>Of Plant &amp; Machinery's ~₹17.6 Cr original cost has already been depreciated — book value is now ~₹1.8 Cr</a:t>
            </a:r>
            <a:endParaRPr lang="en-US" sz="950" dirty="0"/>
          </a:p>
        </p:txBody>
      </p:sp>
      <p:sp>
        <p:nvSpPr>
          <p:cNvPr id="8" name="Text 5"/>
          <p:cNvSpPr/>
          <p:nvPr/>
        </p:nvSpPr>
        <p:spPr>
          <a:xfrm>
            <a:off x="7223760" y="2907792"/>
            <a:ext cx="4419295" cy="411480"/>
          </a:xfrm>
          <a:prstGeom prst="rect">
            <a:avLst/>
          </a:prstGeom>
          <a:noFill/>
          <a:ln/>
        </p:spPr>
        <p:txBody>
          <a:bodyPr wrap="square" lIns="0" tIns="0" rIns="0" bIns="0" rtlCol="0" anchor="ctr"/>
          <a:lstStyle/>
          <a:p>
            <a:pPr indent="0" marL="0">
              <a:buNone/>
            </a:pPr>
            <a:r>
              <a:rPr lang="en-US" sz="2100" b="1" dirty="0">
                <a:solidFill>
                  <a:srgbClr val="1C1F26"/>
                </a:solidFill>
                <a:latin typeface="Cambria" pitchFamily="34" charset="0"/>
                <a:ea typeface="Cambria" pitchFamily="34" charset="-122"/>
                <a:cs typeface="Cambria" pitchFamily="34" charset="-120"/>
              </a:rPr>
              <a:t>-₹1.54 Cr</a:t>
            </a:r>
            <a:endParaRPr lang="en-US" sz="2100" dirty="0"/>
          </a:p>
        </p:txBody>
      </p:sp>
      <p:sp>
        <p:nvSpPr>
          <p:cNvPr id="9" name="Text 6"/>
          <p:cNvSpPr/>
          <p:nvPr/>
        </p:nvSpPr>
        <p:spPr>
          <a:xfrm>
            <a:off x="7223760" y="3310128"/>
            <a:ext cx="4419295" cy="685800"/>
          </a:xfrm>
          <a:prstGeom prst="rect">
            <a:avLst/>
          </a:prstGeom>
          <a:noFill/>
          <a:ln/>
        </p:spPr>
        <p:txBody>
          <a:bodyPr wrap="square" lIns="0" tIns="0" rIns="0" bIns="0" rtlCol="0" anchor="ctr"/>
          <a:lstStyle/>
          <a:p>
            <a:pPr indent="0" marL="0">
              <a:lnSpc>
                <a:spcPct val="115000"/>
              </a:lnSpc>
              <a:buNone/>
            </a:pPr>
            <a:r>
              <a:rPr lang="en-US" sz="950" dirty="0">
                <a:solidFill>
                  <a:srgbClr val="3A4553"/>
                </a:solidFill>
                <a:latin typeface="Calibri" pitchFamily="34" charset="0"/>
                <a:ea typeface="Calibri" pitchFamily="34" charset="-122"/>
                <a:cs typeface="Calibri" pitchFamily="34" charset="-120"/>
              </a:rPr>
              <a:t>FY25 audited net worth — a literal net-asset-value approach prices the whole enterprise at zero or below</a:t>
            </a:r>
            <a:endParaRPr lang="en-US" sz="950" dirty="0"/>
          </a:p>
        </p:txBody>
      </p:sp>
      <p:sp>
        <p:nvSpPr>
          <p:cNvPr id="10" name="Text 7"/>
          <p:cNvSpPr/>
          <p:nvPr/>
        </p:nvSpPr>
        <p:spPr>
          <a:xfrm>
            <a:off x="7223760" y="4078224"/>
            <a:ext cx="4419295" cy="411480"/>
          </a:xfrm>
          <a:prstGeom prst="rect">
            <a:avLst/>
          </a:prstGeom>
          <a:noFill/>
          <a:ln/>
        </p:spPr>
        <p:txBody>
          <a:bodyPr wrap="square" lIns="0" tIns="0" rIns="0" bIns="0" rtlCol="0" anchor="ctr"/>
          <a:lstStyle/>
          <a:p>
            <a:pPr indent="0" marL="0">
              <a:buNone/>
            </a:pPr>
            <a:r>
              <a:rPr lang="en-US" sz="2100" b="1" dirty="0">
                <a:solidFill>
                  <a:srgbClr val="1C1F26"/>
                </a:solidFill>
                <a:latin typeface="Cambria" pitchFamily="34" charset="0"/>
                <a:ea typeface="Cambria" pitchFamily="34" charset="-122"/>
                <a:cs typeface="Cambria" pitchFamily="34" charset="-120"/>
              </a:rPr>
              <a:t>3 yrs</a:t>
            </a:r>
            <a:endParaRPr lang="en-US" sz="2100" dirty="0"/>
          </a:p>
        </p:txBody>
      </p:sp>
      <p:sp>
        <p:nvSpPr>
          <p:cNvPr id="11" name="Text 8"/>
          <p:cNvSpPr/>
          <p:nvPr/>
        </p:nvSpPr>
        <p:spPr>
          <a:xfrm>
            <a:off x="7223760" y="4480560"/>
            <a:ext cx="4419295" cy="685800"/>
          </a:xfrm>
          <a:prstGeom prst="rect">
            <a:avLst/>
          </a:prstGeom>
          <a:noFill/>
          <a:ln/>
        </p:spPr>
        <p:txBody>
          <a:bodyPr wrap="square" lIns="0" tIns="0" rIns="0" bIns="0" rtlCol="0" anchor="ctr"/>
          <a:lstStyle/>
          <a:p>
            <a:pPr indent="0" marL="0">
              <a:lnSpc>
                <a:spcPct val="115000"/>
              </a:lnSpc>
              <a:buNone/>
            </a:pPr>
            <a:r>
              <a:rPr lang="en-US" sz="950" dirty="0">
                <a:solidFill>
                  <a:srgbClr val="3A4553"/>
                </a:solidFill>
                <a:latin typeface="Calibri" pitchFamily="34" charset="0"/>
                <a:ea typeface="Calibri" pitchFamily="34" charset="-122"/>
                <a:cs typeface="Calibri" pitchFamily="34" charset="-120"/>
              </a:rPr>
              <a:t>Straight years of real audited profit (FY23-25) this same balance sheet has been earning</a:t>
            </a:r>
            <a:endParaRPr lang="en-US" sz="950" dirty="0"/>
          </a:p>
        </p:txBody>
      </p:sp>
      <p:sp>
        <p:nvSpPr>
          <p:cNvPr id="12" name="Shape 9"/>
          <p:cNvSpPr/>
          <p:nvPr/>
        </p:nvSpPr>
        <p:spPr>
          <a:xfrm>
            <a:off x="548640" y="5669280"/>
            <a:ext cx="11094415" cy="777240"/>
          </a:xfrm>
          <a:prstGeom prst="roundRect">
            <a:avLst>
              <a:gd name="adj" fmla="val 9412"/>
            </a:avLst>
          </a:prstGeom>
          <a:solidFill>
            <a:srgbClr val="FBEEEC"/>
          </a:solidFill>
          <a:ln/>
        </p:spPr>
      </p:sp>
      <p:sp>
        <p:nvSpPr>
          <p:cNvPr id="13" name="Text 10"/>
          <p:cNvSpPr/>
          <p:nvPr/>
        </p:nvSpPr>
        <p:spPr>
          <a:xfrm>
            <a:off x="777240" y="5669280"/>
            <a:ext cx="10637215" cy="777240"/>
          </a:xfrm>
          <a:prstGeom prst="rect">
            <a:avLst/>
          </a:prstGeom>
          <a:noFill/>
          <a:ln/>
        </p:spPr>
        <p:txBody>
          <a:bodyPr wrap="square" lIns="0" tIns="0" rIns="0" bIns="0" rtlCol="0" anchor="ctr"/>
          <a:lstStyle/>
          <a:p>
            <a:pPr indent="0" marL="0">
              <a:lnSpc>
                <a:spcPct val="112000"/>
              </a:lnSpc>
              <a:buNone/>
            </a:pPr>
            <a:r>
              <a:rPr lang="en-US" sz="950" i="1" dirty="0">
                <a:solidFill>
                  <a:srgbClr val="B8453F"/>
                </a:solidFill>
                <a:latin typeface="Calibri" pitchFamily="34" charset="0"/>
                <a:ea typeface="Calibri" pitchFamily="34" charset="-122"/>
                <a:cs typeface="Calibri" pitchFamily="34" charset="-120"/>
              </a:rPr>
              <a:t>Even the lightest capitalized-earnings estimate (4x PAT ≈ ₹5.7 Cr) is more than 3x the combined book value of every fixed asset on the balance sheet. A pure NAV view can't explain three years of real cash profit — the model, not the business, is the thing that's wrong here.</a:t>
            </a:r>
            <a:endParaRPr lang="en-US" sz="950" dirty="0"/>
          </a:p>
        </p:txBody>
      </p:sp>
      <p:sp>
        <p:nvSpPr>
          <p:cNvPr id="14" name="Text 11"/>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15" name="Text 1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27</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C1F26"/>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VALUATION — THE BUYER PROBLEM</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Why it's still hard to sell — and why that isn't a flaw</a:t>
            </a:r>
            <a:endParaRPr lang="en-US" sz="3000" dirty="0"/>
          </a:p>
        </p:txBody>
      </p:sp>
      <p:sp>
        <p:nvSpPr>
          <p:cNvPr id="4" name="Shape 2"/>
          <p:cNvSpPr/>
          <p:nvPr/>
        </p:nvSpPr>
        <p:spPr>
          <a:xfrm>
            <a:off x="548640" y="1737360"/>
            <a:ext cx="384048" cy="384048"/>
          </a:xfrm>
          <a:prstGeom prst="ellipse">
            <a:avLst/>
          </a:prstGeom>
          <a:solidFill>
            <a:srgbClr val="D9622B"/>
          </a:solidFill>
          <a:ln/>
        </p:spPr>
      </p:sp>
      <p:sp>
        <p:nvSpPr>
          <p:cNvPr id="5" name="Text 3"/>
          <p:cNvSpPr/>
          <p:nvPr/>
        </p:nvSpPr>
        <p:spPr>
          <a:xfrm>
            <a:off x="548640" y="173736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1</a:t>
            </a:r>
            <a:endParaRPr lang="en-US" sz="1092" dirty="0"/>
          </a:p>
        </p:txBody>
      </p:sp>
      <p:sp>
        <p:nvSpPr>
          <p:cNvPr id="6" name="Text 4"/>
          <p:cNvSpPr/>
          <p:nvPr/>
        </p:nvSpPr>
        <p:spPr>
          <a:xfrm>
            <a:off x="1115568" y="1709928"/>
            <a:ext cx="10527487"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Liquidation value: a generic buyer's logic</a:t>
            </a:r>
            <a:endParaRPr lang="en-US" sz="1350" dirty="0"/>
          </a:p>
        </p:txBody>
      </p:sp>
      <p:sp>
        <p:nvSpPr>
          <p:cNvPr id="7" name="Text 5"/>
          <p:cNvSpPr/>
          <p:nvPr/>
        </p:nvSpPr>
        <p:spPr>
          <a:xfrm>
            <a:off x="1115568" y="2084832"/>
            <a:ext cx="10527487" cy="658368"/>
          </a:xfrm>
          <a:prstGeom prst="rect">
            <a:avLst/>
          </a:prstGeom>
          <a:noFill/>
          <a:ln/>
        </p:spPr>
        <p:txBody>
          <a:bodyPr wrap="square" lIns="0" tIns="0" rIns="0" bIns="0" rtlCol="0" anchor="ctr"/>
          <a:lstStyle/>
          <a:p>
            <a:pPr indent="0" marL="0">
              <a:lnSpc>
                <a:spcPct val="115000"/>
              </a:lnSpc>
              <a:buNone/>
            </a:pPr>
            <a:r>
              <a:rPr lang="en-US" sz="1000" dirty="0">
                <a:solidFill>
                  <a:srgbClr val="CBD3DC"/>
                </a:solidFill>
                <a:latin typeface="Calibri" pitchFamily="34" charset="0"/>
                <a:ea typeface="Calibri" pitchFamily="34" charset="-122"/>
                <a:cs typeface="Calibri" pitchFamily="34" charset="-120"/>
              </a:rPr>
              <a:t>A machinery dealer or plot buyer can only underwrite what they can verify and reuse immediately — the hardware. They have no way to price 25-30 years of heat-treatment process history, RDSO/OEM qualifications, or a customer book earned through years of trial batches and audits.</a:t>
            </a:r>
            <a:endParaRPr lang="en-US" sz="1000" dirty="0"/>
          </a:p>
        </p:txBody>
      </p:sp>
      <p:sp>
        <p:nvSpPr>
          <p:cNvPr id="8" name="Shape 6"/>
          <p:cNvSpPr/>
          <p:nvPr/>
        </p:nvSpPr>
        <p:spPr>
          <a:xfrm>
            <a:off x="548640" y="2834640"/>
            <a:ext cx="384048" cy="384048"/>
          </a:xfrm>
          <a:prstGeom prst="ellipse">
            <a:avLst/>
          </a:prstGeom>
          <a:solidFill>
            <a:srgbClr val="D9622B"/>
          </a:solidFill>
          <a:ln/>
        </p:spPr>
      </p:sp>
      <p:sp>
        <p:nvSpPr>
          <p:cNvPr id="9" name="Text 7"/>
          <p:cNvSpPr/>
          <p:nvPr/>
        </p:nvSpPr>
        <p:spPr>
          <a:xfrm>
            <a:off x="548640" y="283464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2</a:t>
            </a:r>
            <a:endParaRPr lang="en-US" sz="1092" dirty="0"/>
          </a:p>
        </p:txBody>
      </p:sp>
      <p:sp>
        <p:nvSpPr>
          <p:cNvPr id="10" name="Text 8"/>
          <p:cNvSpPr/>
          <p:nvPr/>
        </p:nvSpPr>
        <p:spPr>
          <a:xfrm>
            <a:off x="1115568" y="2807208"/>
            <a:ext cx="10527487"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Fair market value: what the business earns standalone</a:t>
            </a:r>
            <a:endParaRPr lang="en-US" sz="1350" dirty="0"/>
          </a:p>
        </p:txBody>
      </p:sp>
      <p:sp>
        <p:nvSpPr>
          <p:cNvPr id="11" name="Text 9"/>
          <p:cNvSpPr/>
          <p:nvPr/>
        </p:nvSpPr>
        <p:spPr>
          <a:xfrm>
            <a:off x="1115568" y="3182112"/>
            <a:ext cx="10527487" cy="658368"/>
          </a:xfrm>
          <a:prstGeom prst="rect">
            <a:avLst/>
          </a:prstGeom>
          <a:noFill/>
          <a:ln/>
        </p:spPr>
        <p:txBody>
          <a:bodyPr wrap="square" lIns="0" tIns="0" rIns="0" bIns="0" rtlCol="0" anchor="ctr"/>
          <a:lstStyle/>
          <a:p>
            <a:pPr indent="0" marL="0">
              <a:lnSpc>
                <a:spcPct val="115000"/>
              </a:lnSpc>
              <a:buNone/>
            </a:pPr>
            <a:r>
              <a:rPr lang="en-US" sz="1000" dirty="0">
                <a:solidFill>
                  <a:srgbClr val="CBD3DC"/>
                </a:solidFill>
                <a:latin typeface="Calibri" pitchFamily="34" charset="0"/>
                <a:ea typeface="Calibri" pitchFamily="34" charset="-122"/>
                <a:cs typeface="Calibri" pitchFamily="34" charset="-120"/>
              </a:rPr>
              <a:t>Even on light, illustrative multiples, capitalized earnings already clear 3x+ the entire fixed-asset book (slide 27). This is the value a rational financial buyer, with no synergy, would underwrite.</a:t>
            </a:r>
            <a:endParaRPr lang="en-US" sz="1000" dirty="0"/>
          </a:p>
        </p:txBody>
      </p:sp>
      <p:sp>
        <p:nvSpPr>
          <p:cNvPr id="12" name="Shape 10"/>
          <p:cNvSpPr/>
          <p:nvPr/>
        </p:nvSpPr>
        <p:spPr>
          <a:xfrm>
            <a:off x="548640" y="3931920"/>
            <a:ext cx="384048" cy="384048"/>
          </a:xfrm>
          <a:prstGeom prst="ellipse">
            <a:avLst/>
          </a:prstGeom>
          <a:solidFill>
            <a:srgbClr val="D9622B"/>
          </a:solidFill>
          <a:ln/>
        </p:spPr>
      </p:sp>
      <p:sp>
        <p:nvSpPr>
          <p:cNvPr id="13" name="Text 11"/>
          <p:cNvSpPr/>
          <p:nvPr/>
        </p:nvSpPr>
        <p:spPr>
          <a:xfrm>
            <a:off x="548640" y="393192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3</a:t>
            </a:r>
            <a:endParaRPr lang="en-US" sz="1092" dirty="0"/>
          </a:p>
        </p:txBody>
      </p:sp>
      <p:sp>
        <p:nvSpPr>
          <p:cNvPr id="14" name="Text 12"/>
          <p:cNvSpPr/>
          <p:nvPr/>
        </p:nvSpPr>
        <p:spPr>
          <a:xfrm>
            <a:off x="1115568" y="3904488"/>
            <a:ext cx="10527487"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Strategic value: what it's worth to the right buyer</a:t>
            </a:r>
            <a:endParaRPr lang="en-US" sz="1350" dirty="0"/>
          </a:p>
        </p:txBody>
      </p:sp>
      <p:sp>
        <p:nvSpPr>
          <p:cNvPr id="15" name="Text 13"/>
          <p:cNvSpPr/>
          <p:nvPr/>
        </p:nvSpPr>
        <p:spPr>
          <a:xfrm>
            <a:off x="1115568" y="4279392"/>
            <a:ext cx="10527487" cy="658368"/>
          </a:xfrm>
          <a:prstGeom prst="rect">
            <a:avLst/>
          </a:prstGeom>
          <a:noFill/>
          <a:ln/>
        </p:spPr>
        <p:txBody>
          <a:bodyPr wrap="square" lIns="0" tIns="0" rIns="0" bIns="0" rtlCol="0" anchor="ctr"/>
          <a:lstStyle/>
          <a:p>
            <a:pPr indent="0" marL="0">
              <a:lnSpc>
                <a:spcPct val="115000"/>
              </a:lnSpc>
              <a:buNone/>
            </a:pPr>
            <a:r>
              <a:rPr lang="en-US" sz="1000" dirty="0">
                <a:solidFill>
                  <a:srgbClr val="CBD3DC"/>
                </a:solidFill>
                <a:latin typeface="Calibri" pitchFamily="34" charset="0"/>
                <a:ea typeface="Calibri" pitchFamily="34" charset="-122"/>
                <a:cs typeface="Calibri" pitchFamily="34" charset="-120"/>
              </a:rPr>
              <a:t>An OEM wanting captive supply, or a foundry group wanting instant access to Datre's Tier-1 relationships, avoids the same multi-year, uncertain-utilization qualification cost any new entrant faces. That's the ceiling few generic buyers can pay — and only a narrow buyer set can underwrite it.</a:t>
            </a:r>
            <a:endParaRPr lang="en-US" sz="1000" dirty="0"/>
          </a:p>
        </p:txBody>
      </p:sp>
      <p:sp>
        <p:nvSpPr>
          <p:cNvPr id="16" name="Shape 14"/>
          <p:cNvSpPr/>
          <p:nvPr/>
        </p:nvSpPr>
        <p:spPr>
          <a:xfrm>
            <a:off x="548640" y="5029200"/>
            <a:ext cx="11094415" cy="1005840"/>
          </a:xfrm>
          <a:prstGeom prst="roundRect">
            <a:avLst>
              <a:gd name="adj" fmla="val 7273"/>
            </a:avLst>
          </a:prstGeom>
          <a:solidFill>
            <a:srgbClr val="262B34"/>
          </a:solidFill>
          <a:ln/>
        </p:spPr>
      </p:sp>
      <p:sp>
        <p:nvSpPr>
          <p:cNvPr id="17" name="Text 15"/>
          <p:cNvSpPr/>
          <p:nvPr/>
        </p:nvSpPr>
        <p:spPr>
          <a:xfrm>
            <a:off x="822960" y="5166360"/>
            <a:ext cx="10545775" cy="274320"/>
          </a:xfrm>
          <a:prstGeom prst="rect">
            <a:avLst/>
          </a:prstGeom>
          <a:noFill/>
          <a:ln/>
        </p:spPr>
        <p:txBody>
          <a:bodyPr wrap="square" lIns="0" tIns="0" rIns="0" bIns="0" rtlCol="0" anchor="ctr"/>
          <a:lstStyle/>
          <a:p>
            <a:pPr indent="0" marL="0">
              <a:buNone/>
            </a:pPr>
            <a:r>
              <a:rPr lang="en-US" sz="1000" b="1" spc="100" kern="0" dirty="0">
                <a:solidFill>
                  <a:srgbClr val="E8B84B"/>
                </a:solidFill>
                <a:latin typeface="Calibri" pitchFamily="34" charset="0"/>
                <a:ea typeface="Calibri" pitchFamily="34" charset="-122"/>
                <a:cs typeface="Calibri" pitchFamily="34" charset="-120"/>
              </a:rPr>
              <a:t>RECOMMENDATION</a:t>
            </a:r>
            <a:endParaRPr lang="en-US" sz="1000" dirty="0"/>
          </a:p>
        </p:txBody>
      </p:sp>
      <p:sp>
        <p:nvSpPr>
          <p:cNvPr id="18" name="Text 16"/>
          <p:cNvSpPr/>
          <p:nvPr/>
        </p:nvSpPr>
        <p:spPr>
          <a:xfrm>
            <a:off x="822960" y="5440680"/>
            <a:ext cx="10545775" cy="548640"/>
          </a:xfrm>
          <a:prstGeom prst="rect">
            <a:avLst/>
          </a:prstGeom>
          <a:noFill/>
          <a:ln/>
        </p:spPr>
        <p:txBody>
          <a:bodyPr wrap="square" lIns="0" tIns="0" rIns="0" bIns="0" rtlCol="0" anchor="ctr"/>
          <a:lstStyle/>
          <a:p>
            <a:pPr indent="0" marL="0">
              <a:lnSpc>
                <a:spcPct val="110000"/>
              </a:lnSpc>
              <a:buNone/>
            </a:pPr>
            <a:r>
              <a:rPr lang="en-US" sz="1000" dirty="0">
                <a:solidFill>
                  <a:srgbClr val="FFFFFF"/>
                </a:solidFill>
                <a:latin typeface="Calibri" pitchFamily="34" charset="0"/>
                <a:ea typeface="Calibri" pitchFamily="34" charset="-122"/>
                <a:cs typeface="Calibri" pitchFamily="34" charset="-120"/>
              </a:rPr>
              <a:t>Negotiate on earnings capacity plus a named strategic premium, not on net-asset value of 30-year-old machinery. A thin pool of qualified buyers is a sale-process problem, solved with a targeted and patient process — not a reason to discount enterprise value to book.</a:t>
            </a:r>
            <a:endParaRPr lang="en-US" sz="1000" dirty="0"/>
          </a:p>
        </p:txBody>
      </p:sp>
      <p:sp>
        <p:nvSpPr>
          <p:cNvPr id="19" name="Text 17"/>
          <p:cNvSpPr/>
          <p:nvPr/>
        </p:nvSpPr>
        <p:spPr>
          <a:xfrm>
            <a:off x="548640" y="6144768"/>
            <a:ext cx="11094415" cy="320040"/>
          </a:xfrm>
          <a:prstGeom prst="rect">
            <a:avLst/>
          </a:prstGeom>
          <a:noFill/>
          <a:ln/>
        </p:spPr>
        <p:txBody>
          <a:bodyPr wrap="square" lIns="0" tIns="0" rIns="0" bIns="0" rtlCol="0" anchor="ctr"/>
          <a:lstStyle/>
          <a:p>
            <a:pPr indent="0" marL="0">
              <a:lnSpc>
                <a:spcPct val="110000"/>
              </a:lnSpc>
              <a:buNone/>
            </a:pPr>
            <a:r>
              <a:rPr lang="en-US" sz="850" i="1" dirty="0">
                <a:solidFill>
                  <a:srgbClr val="9AA2AD"/>
                </a:solidFill>
                <a:latin typeface="Calibri" pitchFamily="34" charset="0"/>
                <a:ea typeface="Calibri" pitchFamily="34" charset="-122"/>
                <a:cs typeface="Calibri" pitchFamily="34" charset="-120"/>
              </a:rPr>
              <a:t>This framework uses Datre's own audited and internal records for the asset and earnings figures; the FMV multiples and the existence/identity of a strategic buyer are illustrative and unverified. Recommend a formal valuation (registered valuer / IBBI standards) before using this for negotiation.</a:t>
            </a:r>
            <a:endParaRPr lang="en-US" sz="850" dirty="0"/>
          </a:p>
        </p:txBody>
      </p:sp>
      <p:sp>
        <p:nvSpPr>
          <p:cNvPr id="20" name="Text 18"/>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8B93A0"/>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21"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8B93A0"/>
                </a:solidFill>
                <a:latin typeface="Calibri" pitchFamily="34" charset="0"/>
                <a:ea typeface="Calibri" pitchFamily="34" charset="-122"/>
                <a:cs typeface="Calibri" pitchFamily="34" charset="-120"/>
              </a:rPr>
              <a:t>28</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C1F26"/>
        </a:solidFill>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INVESTMENT CONSIDERATIONS</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A framework for the ask — terms to be finalized with management</a:t>
            </a:r>
            <a:endParaRPr lang="en-US" sz="3000" dirty="0"/>
          </a:p>
        </p:txBody>
      </p:sp>
      <p:sp>
        <p:nvSpPr>
          <p:cNvPr id="4" name="Shape 2"/>
          <p:cNvSpPr/>
          <p:nvPr/>
        </p:nvSpPr>
        <p:spPr>
          <a:xfrm>
            <a:off x="548640" y="1783080"/>
            <a:ext cx="11094415" cy="685800"/>
          </a:xfrm>
          <a:prstGeom prst="roundRect">
            <a:avLst>
              <a:gd name="adj" fmla="val 8000"/>
            </a:avLst>
          </a:prstGeom>
          <a:solidFill>
            <a:srgbClr val="262B34"/>
          </a:solidFill>
          <a:ln/>
        </p:spPr>
      </p:sp>
      <p:sp>
        <p:nvSpPr>
          <p:cNvPr id="5" name="Text 3"/>
          <p:cNvSpPr/>
          <p:nvPr/>
        </p:nvSpPr>
        <p:spPr>
          <a:xfrm>
            <a:off x="777240" y="1783080"/>
            <a:ext cx="10637215" cy="685800"/>
          </a:xfrm>
          <a:prstGeom prst="rect">
            <a:avLst/>
          </a:prstGeom>
          <a:noFill/>
          <a:ln/>
        </p:spPr>
        <p:txBody>
          <a:bodyPr wrap="square" lIns="0" tIns="0" rIns="0" bIns="0" rtlCol="0" anchor="ctr"/>
          <a:lstStyle/>
          <a:p>
            <a:pPr indent="0" marL="0">
              <a:lnSpc>
                <a:spcPct val="110000"/>
              </a:lnSpc>
              <a:buNone/>
            </a:pPr>
            <a:r>
              <a:rPr lang="en-US" sz="1030" i="1" dirty="0">
                <a:solidFill>
                  <a:srgbClr val="E8B84B"/>
                </a:solidFill>
                <a:latin typeface="Calibri" pitchFamily="34" charset="0"/>
                <a:ea typeface="Calibri" pitchFamily="34" charset="-122"/>
                <a:cs typeface="Calibri" pitchFamily="34" charset="-120"/>
              </a:rPr>
              <a:t>The materials reviewed do not specify a funding quantum, instrument, valuation or use-of-proceeds. What follows is a suggested framework, derived from the financial and operational analysis in this deck — not a management-approved ask.</a:t>
            </a:r>
            <a:endParaRPr lang="en-US" sz="1030" dirty="0"/>
          </a:p>
        </p:txBody>
      </p:sp>
      <p:sp>
        <p:nvSpPr>
          <p:cNvPr id="6" name="Shape 4"/>
          <p:cNvSpPr/>
          <p:nvPr/>
        </p:nvSpPr>
        <p:spPr>
          <a:xfrm>
            <a:off x="548640" y="2788920"/>
            <a:ext cx="457200" cy="457200"/>
          </a:xfrm>
          <a:prstGeom prst="ellipse">
            <a:avLst/>
          </a:prstGeom>
          <a:solidFill>
            <a:srgbClr val="D9622B"/>
          </a:solidFill>
          <a:ln/>
        </p:spPr>
      </p:sp>
      <p:sp>
        <p:nvSpPr>
          <p:cNvPr id="7" name="Text 5"/>
          <p:cNvSpPr/>
          <p:nvPr/>
        </p:nvSpPr>
        <p:spPr>
          <a:xfrm>
            <a:off x="548640" y="27889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34440" y="2770632"/>
            <a:ext cx="2926080" cy="502920"/>
          </a:xfrm>
          <a:prstGeom prst="rect">
            <a:avLst/>
          </a:prstGeom>
          <a:noFill/>
          <a:ln/>
        </p:spPr>
        <p:txBody>
          <a:bodyPr wrap="square" lIns="0" tIns="0" rIns="0" bIns="0" rtlCol="0" anchor="ctr"/>
          <a:lstStyle/>
          <a:p>
            <a:pPr indent="0" marL="0">
              <a:lnSpc>
                <a:spcPct val="100000"/>
              </a:lnSpc>
              <a:buNone/>
            </a:pPr>
            <a:r>
              <a:rPr lang="en-US" sz="1300" b="1" dirty="0">
                <a:solidFill>
                  <a:srgbClr val="FFFFFF"/>
                </a:solidFill>
                <a:latin typeface="Calibri" pitchFamily="34" charset="0"/>
                <a:ea typeface="Calibri" pitchFamily="34" charset="-122"/>
                <a:cs typeface="Calibri" pitchFamily="34" charset="-120"/>
              </a:rPr>
              <a:t>Balance-sheet repair</a:t>
            </a:r>
            <a:endParaRPr lang="en-US" sz="1300" dirty="0"/>
          </a:p>
        </p:txBody>
      </p:sp>
      <p:sp>
        <p:nvSpPr>
          <p:cNvPr id="9" name="Text 7"/>
          <p:cNvSpPr/>
          <p:nvPr/>
        </p:nvSpPr>
        <p:spPr>
          <a:xfrm>
            <a:off x="4297680" y="2743200"/>
            <a:ext cx="7345375" cy="731520"/>
          </a:xfrm>
          <a:prstGeom prst="rect">
            <a:avLst/>
          </a:prstGeom>
          <a:noFill/>
          <a:ln/>
        </p:spPr>
        <p:txBody>
          <a:bodyPr wrap="square" lIns="0" tIns="0" rIns="0" bIns="0" rtlCol="0" anchor="t"/>
          <a:lstStyle/>
          <a:p>
            <a:pPr indent="0" marL="0">
              <a:lnSpc>
                <a:spcPct val="115000"/>
              </a:lnSpc>
              <a:buNone/>
            </a:pPr>
            <a:r>
              <a:rPr lang="en-US" sz="1030" dirty="0">
                <a:solidFill>
                  <a:srgbClr val="CBD3DC"/>
                </a:solidFill>
                <a:latin typeface="Calibri" pitchFamily="34" charset="0"/>
                <a:ea typeface="Calibri" pitchFamily="34" charset="-122"/>
                <a:cs typeface="Calibri" pitchFamily="34" charset="-120"/>
              </a:rPr>
              <a:t>Equity infusion or a structured plan to accelerate net worth from -₹1.54 Cr (FY25) to positive, rather than relying solely on ~₹1.4 Cr/yr retained earnings.</a:t>
            </a:r>
            <a:endParaRPr lang="en-US" sz="1030" dirty="0"/>
          </a:p>
        </p:txBody>
      </p:sp>
      <p:sp>
        <p:nvSpPr>
          <p:cNvPr id="10" name="Shape 8"/>
          <p:cNvSpPr/>
          <p:nvPr/>
        </p:nvSpPr>
        <p:spPr>
          <a:xfrm>
            <a:off x="548640" y="3840480"/>
            <a:ext cx="457200" cy="457200"/>
          </a:xfrm>
          <a:prstGeom prst="ellipse">
            <a:avLst/>
          </a:prstGeom>
          <a:solidFill>
            <a:srgbClr val="D9622B"/>
          </a:solidFill>
          <a:ln/>
        </p:spPr>
      </p:sp>
      <p:sp>
        <p:nvSpPr>
          <p:cNvPr id="11" name="Text 9"/>
          <p:cNvSpPr/>
          <p:nvPr/>
        </p:nvSpPr>
        <p:spPr>
          <a:xfrm>
            <a:off x="548640" y="38404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234440" y="3822192"/>
            <a:ext cx="2926080" cy="502920"/>
          </a:xfrm>
          <a:prstGeom prst="rect">
            <a:avLst/>
          </a:prstGeom>
          <a:noFill/>
          <a:ln/>
        </p:spPr>
        <p:txBody>
          <a:bodyPr wrap="square" lIns="0" tIns="0" rIns="0" bIns="0" rtlCol="0" anchor="ctr"/>
          <a:lstStyle/>
          <a:p>
            <a:pPr indent="0" marL="0">
              <a:lnSpc>
                <a:spcPct val="100000"/>
              </a:lnSpc>
              <a:buNone/>
            </a:pPr>
            <a:r>
              <a:rPr lang="en-US" sz="1300" b="1" dirty="0">
                <a:solidFill>
                  <a:srgbClr val="FFFFFF"/>
                </a:solidFill>
                <a:latin typeface="Calibri" pitchFamily="34" charset="0"/>
                <a:ea typeface="Calibri" pitchFamily="34" charset="-122"/>
                <a:cs typeface="Calibri" pitchFamily="34" charset="-120"/>
              </a:rPr>
              <a:t>Working-capital bridge</a:t>
            </a:r>
            <a:endParaRPr lang="en-US" sz="1300" dirty="0"/>
          </a:p>
        </p:txBody>
      </p:sp>
      <p:sp>
        <p:nvSpPr>
          <p:cNvPr id="13" name="Text 11"/>
          <p:cNvSpPr/>
          <p:nvPr/>
        </p:nvSpPr>
        <p:spPr>
          <a:xfrm>
            <a:off x="4297680" y="3794760"/>
            <a:ext cx="7345375" cy="731520"/>
          </a:xfrm>
          <a:prstGeom prst="rect">
            <a:avLst/>
          </a:prstGeom>
          <a:noFill/>
          <a:ln/>
        </p:spPr>
        <p:txBody>
          <a:bodyPr wrap="square" lIns="0" tIns="0" rIns="0" bIns="0" rtlCol="0" anchor="t"/>
          <a:lstStyle/>
          <a:p>
            <a:pPr indent="0" marL="0">
              <a:lnSpc>
                <a:spcPct val="115000"/>
              </a:lnSpc>
              <a:buNone/>
            </a:pPr>
            <a:r>
              <a:rPr lang="en-US" sz="1030" dirty="0">
                <a:solidFill>
                  <a:srgbClr val="CBD3DC"/>
                </a:solidFill>
                <a:latin typeface="Calibri" pitchFamily="34" charset="0"/>
                <a:ea typeface="Calibri" pitchFamily="34" charset="-122"/>
                <a:cs typeface="Calibri" pitchFamily="34" charset="-120"/>
              </a:rPr>
              <a:t>Support the Tega/Escorts receivable cycle at the ₹25-30 Cr revenue range Datre has now demonstrated it can reach.</a:t>
            </a:r>
            <a:endParaRPr lang="en-US" sz="1030" dirty="0"/>
          </a:p>
        </p:txBody>
      </p:sp>
      <p:sp>
        <p:nvSpPr>
          <p:cNvPr id="14" name="Shape 12"/>
          <p:cNvSpPr/>
          <p:nvPr/>
        </p:nvSpPr>
        <p:spPr>
          <a:xfrm>
            <a:off x="548640" y="4892040"/>
            <a:ext cx="457200" cy="457200"/>
          </a:xfrm>
          <a:prstGeom prst="ellipse">
            <a:avLst/>
          </a:prstGeom>
          <a:solidFill>
            <a:srgbClr val="D9622B"/>
          </a:solidFill>
          <a:ln/>
        </p:spPr>
      </p:sp>
      <p:sp>
        <p:nvSpPr>
          <p:cNvPr id="15" name="Text 13"/>
          <p:cNvSpPr/>
          <p:nvPr/>
        </p:nvSpPr>
        <p:spPr>
          <a:xfrm>
            <a:off x="548640" y="48920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234440" y="4873752"/>
            <a:ext cx="2926080" cy="502920"/>
          </a:xfrm>
          <a:prstGeom prst="rect">
            <a:avLst/>
          </a:prstGeom>
          <a:noFill/>
          <a:ln/>
        </p:spPr>
        <p:txBody>
          <a:bodyPr wrap="square" lIns="0" tIns="0" rIns="0" bIns="0" rtlCol="0" anchor="ctr"/>
          <a:lstStyle/>
          <a:p>
            <a:pPr indent="0" marL="0">
              <a:lnSpc>
                <a:spcPct val="100000"/>
              </a:lnSpc>
              <a:buNone/>
            </a:pPr>
            <a:r>
              <a:rPr lang="en-US" sz="1300" b="1" dirty="0">
                <a:solidFill>
                  <a:srgbClr val="FFFFFF"/>
                </a:solidFill>
                <a:latin typeface="Calibri" pitchFamily="34" charset="0"/>
                <a:ea typeface="Calibri" pitchFamily="34" charset="-122"/>
                <a:cs typeface="Calibri" pitchFamily="34" charset="-120"/>
              </a:rPr>
              <a:t>Quality-systems investment</a:t>
            </a:r>
            <a:endParaRPr lang="en-US" sz="1300" dirty="0"/>
          </a:p>
        </p:txBody>
      </p:sp>
      <p:sp>
        <p:nvSpPr>
          <p:cNvPr id="17" name="Text 15"/>
          <p:cNvSpPr/>
          <p:nvPr/>
        </p:nvSpPr>
        <p:spPr>
          <a:xfrm>
            <a:off x="4297680" y="4846320"/>
            <a:ext cx="7345375" cy="731520"/>
          </a:xfrm>
          <a:prstGeom prst="rect">
            <a:avLst/>
          </a:prstGeom>
          <a:noFill/>
          <a:ln/>
        </p:spPr>
        <p:txBody>
          <a:bodyPr wrap="square" lIns="0" tIns="0" rIns="0" bIns="0" rtlCol="0" anchor="t"/>
          <a:lstStyle/>
          <a:p>
            <a:pPr indent="0" marL="0">
              <a:lnSpc>
                <a:spcPct val="115000"/>
              </a:lnSpc>
              <a:buNone/>
            </a:pPr>
            <a:r>
              <a:rPr lang="en-US" sz="1030" dirty="0">
                <a:solidFill>
                  <a:srgbClr val="CBD3DC"/>
                </a:solidFill>
                <a:latin typeface="Calibri" pitchFamily="34" charset="0"/>
                <a:ea typeface="Calibri" pitchFamily="34" charset="-122"/>
                <a:cs typeface="Calibri" pitchFamily="34" charset="-120"/>
              </a:rPr>
              <a:t>Targeted spend to bring the rejection rate back toward its FY22-23 low (~2.6%) — scrap-cost savings alone should fund a meaningful share of this.</a:t>
            </a:r>
            <a:endParaRPr lang="en-US" sz="1030" dirty="0"/>
          </a:p>
        </p:txBody>
      </p:sp>
      <p:sp>
        <p:nvSpPr>
          <p:cNvPr id="18" name="Text 16"/>
          <p:cNvSpPr/>
          <p:nvPr/>
        </p:nvSpPr>
        <p:spPr>
          <a:xfrm>
            <a:off x="548640" y="5989320"/>
            <a:ext cx="11094415" cy="457200"/>
          </a:xfrm>
          <a:prstGeom prst="rect">
            <a:avLst/>
          </a:prstGeom>
          <a:noFill/>
          <a:ln/>
        </p:spPr>
        <p:txBody>
          <a:bodyPr wrap="square" lIns="0" tIns="0" rIns="0" bIns="0" rtlCol="0" anchor="ctr"/>
          <a:lstStyle/>
          <a:p>
            <a:pPr indent="0" marL="0">
              <a:lnSpc>
                <a:spcPct val="110000"/>
              </a:lnSpc>
              <a:buNone/>
            </a:pPr>
            <a:r>
              <a:rPr lang="en-US" sz="950" i="1" dirty="0">
                <a:solidFill>
                  <a:srgbClr val="9AA2AD"/>
                </a:solidFill>
                <a:latin typeface="Calibri" pitchFamily="34" charset="0"/>
                <a:ea typeface="Calibri" pitchFamily="34" charset="-122"/>
                <a:cs typeface="Calibri" pitchFamily="34" charset="-120"/>
              </a:rPr>
              <a:t>Any of the three should be sized against audited FY25 and FY25-26 management accounts, not the figures in this deck alone — and against resolution of the governance flags on slide 14.</a:t>
            </a:r>
            <a:endParaRPr lang="en-US" sz="950" dirty="0"/>
          </a:p>
        </p:txBody>
      </p:sp>
      <p:sp>
        <p:nvSpPr>
          <p:cNvPr id="19" name="Text 17"/>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8B93A0"/>
                </a:solidFill>
                <a:latin typeface="Calibri" pitchFamily="34" charset="0"/>
                <a:ea typeface="Calibri" pitchFamily="34" charset="-122"/>
                <a:cs typeface="Calibri" pitchFamily="34" charset="-120"/>
              </a:rPr>
              <a:t>DATRE CORPORATION LIMITED  |  CONFIDENTIAL — PREPARED FOR INVESTOR DISCUSSION</a:t>
            </a:r>
            <a:endParaRPr lang="en-US" sz="800" dirty="0"/>
          </a:p>
        </p:txBody>
      </p:sp>
      <p:sp>
        <p:nvSpPr>
          <p:cNvPr id="20" name="Text 1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8B93A0"/>
                </a:solidFill>
                <a:latin typeface="Calibri" pitchFamily="34" charset="0"/>
                <a:ea typeface="Calibri" pitchFamily="34" charset="-122"/>
                <a:cs typeface="Calibri" pitchFamily="34" charset="-120"/>
              </a:rPr>
              <a:t>29</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692640" y="-1280160"/>
            <a:ext cx="4754880" cy="4754880"/>
          </a:xfrm>
          <a:prstGeom prst="ellipse">
            <a:avLst/>
          </a:prstGeom>
          <a:solidFill>
            <a:srgbClr val="262B34"/>
          </a:solidFill>
          <a:ln/>
        </p:spPr>
      </p:sp>
      <p:sp>
        <p:nvSpPr>
          <p:cNvPr id="3" name="Shape 1"/>
          <p:cNvSpPr/>
          <p:nvPr/>
        </p:nvSpPr>
        <p:spPr>
          <a:xfrm>
            <a:off x="-1463040" y="4572000"/>
            <a:ext cx="3657600" cy="3657600"/>
          </a:xfrm>
          <a:prstGeom prst="ellipse">
            <a:avLst/>
          </a:prstGeom>
          <a:solidFill>
            <a:srgbClr val="262B34"/>
          </a:solidFill>
          <a:ln/>
        </p:spPr>
      </p:sp>
      <p:sp>
        <p:nvSpPr>
          <p:cNvPr id="4" name="Text 2"/>
          <p:cNvSpPr/>
          <p:nvPr/>
        </p:nvSpPr>
        <p:spPr>
          <a:xfrm>
            <a:off x="548640" y="2286000"/>
            <a:ext cx="91440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Datre Corporation Limited</a:t>
            </a:r>
            <a:endParaRPr lang="en-US" sz="3400" dirty="0"/>
          </a:p>
        </p:txBody>
      </p:sp>
      <p:sp>
        <p:nvSpPr>
          <p:cNvPr id="5" name="Text 3"/>
          <p:cNvSpPr/>
          <p:nvPr/>
        </p:nvSpPr>
        <p:spPr>
          <a:xfrm>
            <a:off x="548640" y="2971800"/>
            <a:ext cx="9144000" cy="457200"/>
          </a:xfrm>
          <a:prstGeom prst="rect">
            <a:avLst/>
          </a:prstGeom>
          <a:noFill/>
          <a:ln/>
        </p:spPr>
        <p:txBody>
          <a:bodyPr wrap="square" lIns="0" tIns="0" rIns="0" bIns="0" rtlCol="0" anchor="ctr"/>
          <a:lstStyle/>
          <a:p>
            <a:pPr indent="0" marL="0">
              <a:buNone/>
            </a:pPr>
            <a:r>
              <a:rPr lang="en-US" sz="1500" i="1" dirty="0">
                <a:solidFill>
                  <a:srgbClr val="CBD3DC"/>
                </a:solidFill>
                <a:latin typeface="Calibri" pitchFamily="34" charset="0"/>
                <a:ea typeface="Calibri" pitchFamily="34" charset="-122"/>
                <a:cs typeface="Calibri" pitchFamily="34" charset="-120"/>
              </a:rPr>
              <a:t>Engineering Essence, Manufacturing Personified</a:t>
            </a:r>
            <a:endParaRPr lang="en-US" sz="1500" dirty="0"/>
          </a:p>
        </p:txBody>
      </p:sp>
      <p:sp>
        <p:nvSpPr>
          <p:cNvPr id="6" name="Text 4"/>
          <p:cNvSpPr/>
          <p:nvPr/>
        </p:nvSpPr>
        <p:spPr>
          <a:xfrm>
            <a:off x="548640" y="4023360"/>
            <a:ext cx="2743200" cy="274320"/>
          </a:xfrm>
          <a:prstGeom prst="rect">
            <a:avLst/>
          </a:prstGeom>
          <a:noFill/>
          <a:ln/>
        </p:spPr>
        <p:txBody>
          <a:bodyPr wrap="square" lIns="0" tIns="0" rIns="0" bIns="0" rtlCol="0" anchor="ctr"/>
          <a:lstStyle/>
          <a:p>
            <a:pPr indent="0" marL="0">
              <a:buNone/>
            </a:pPr>
            <a:r>
              <a:rPr lang="en-US" sz="950" b="1" spc="100" kern="0" dirty="0">
                <a:solidFill>
                  <a:srgbClr val="D9622B"/>
                </a:solidFill>
                <a:latin typeface="Calibri" pitchFamily="34" charset="0"/>
                <a:ea typeface="Calibri" pitchFamily="34" charset="-122"/>
                <a:cs typeface="Calibri" pitchFamily="34" charset="-120"/>
              </a:rPr>
              <a:t>REGISTERED OFFICE</a:t>
            </a:r>
            <a:endParaRPr lang="en-US" sz="950" dirty="0"/>
          </a:p>
        </p:txBody>
      </p:sp>
      <p:sp>
        <p:nvSpPr>
          <p:cNvPr id="7" name="Text 5"/>
          <p:cNvSpPr/>
          <p:nvPr/>
        </p:nvSpPr>
        <p:spPr>
          <a:xfrm>
            <a:off x="548640" y="4279392"/>
            <a:ext cx="914400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Sector-III, Falta Industrial Growth Centre, South 24 Parganas, West Bengal 743504, India</a:t>
            </a:r>
            <a:endParaRPr lang="en-US" sz="1200" dirty="0"/>
          </a:p>
        </p:txBody>
      </p:sp>
      <p:sp>
        <p:nvSpPr>
          <p:cNvPr id="8" name="Text 6"/>
          <p:cNvSpPr/>
          <p:nvPr/>
        </p:nvSpPr>
        <p:spPr>
          <a:xfrm>
            <a:off x="548640" y="4681728"/>
            <a:ext cx="2743200" cy="274320"/>
          </a:xfrm>
          <a:prstGeom prst="rect">
            <a:avLst/>
          </a:prstGeom>
          <a:noFill/>
          <a:ln/>
        </p:spPr>
        <p:txBody>
          <a:bodyPr wrap="square" lIns="0" tIns="0" rIns="0" bIns="0" rtlCol="0" anchor="ctr"/>
          <a:lstStyle/>
          <a:p>
            <a:pPr indent="0" marL="0">
              <a:buNone/>
            </a:pPr>
            <a:r>
              <a:rPr lang="en-US" sz="950" b="1" spc="100" kern="0" dirty="0">
                <a:solidFill>
                  <a:srgbClr val="D9622B"/>
                </a:solidFill>
                <a:latin typeface="Calibri" pitchFamily="34" charset="0"/>
                <a:ea typeface="Calibri" pitchFamily="34" charset="-122"/>
                <a:cs typeface="Calibri" pitchFamily="34" charset="-120"/>
              </a:rPr>
              <a:t>CONTACT</a:t>
            </a:r>
            <a:endParaRPr lang="en-US" sz="950" dirty="0"/>
          </a:p>
        </p:txBody>
      </p:sp>
      <p:sp>
        <p:nvSpPr>
          <p:cNvPr id="9" name="Text 7"/>
          <p:cNvSpPr/>
          <p:nvPr/>
        </p:nvSpPr>
        <p:spPr>
          <a:xfrm>
            <a:off x="548640" y="4937760"/>
            <a:ext cx="914400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sales@datre.com  ·  hr@datre.com  ·  www.datre.in</a:t>
            </a:r>
            <a:endParaRPr lang="en-US" sz="1200" dirty="0"/>
          </a:p>
        </p:txBody>
      </p:sp>
      <p:sp>
        <p:nvSpPr>
          <p:cNvPr id="10" name="Text 8"/>
          <p:cNvSpPr/>
          <p:nvPr/>
        </p:nvSpPr>
        <p:spPr>
          <a:xfrm>
            <a:off x="548640" y="5340096"/>
            <a:ext cx="2743200" cy="274320"/>
          </a:xfrm>
          <a:prstGeom prst="rect">
            <a:avLst/>
          </a:prstGeom>
          <a:noFill/>
          <a:ln/>
        </p:spPr>
        <p:txBody>
          <a:bodyPr wrap="square" lIns="0" tIns="0" rIns="0" bIns="0" rtlCol="0" anchor="ctr"/>
          <a:lstStyle/>
          <a:p>
            <a:pPr indent="0" marL="0">
              <a:buNone/>
            </a:pPr>
            <a:r>
              <a:rPr lang="en-US" sz="950" b="1" spc="100" kern="0" dirty="0">
                <a:solidFill>
                  <a:srgbClr val="D9622B"/>
                </a:solidFill>
                <a:latin typeface="Calibri" pitchFamily="34" charset="0"/>
                <a:ea typeface="Calibri" pitchFamily="34" charset="-122"/>
                <a:cs typeface="Calibri" pitchFamily="34" charset="-120"/>
              </a:rPr>
              <a:t>PREPARED FOR</a:t>
            </a:r>
            <a:endParaRPr lang="en-US" sz="950" dirty="0"/>
          </a:p>
        </p:txBody>
      </p:sp>
      <p:sp>
        <p:nvSpPr>
          <p:cNvPr id="11" name="Text 9"/>
          <p:cNvSpPr/>
          <p:nvPr/>
        </p:nvSpPr>
        <p:spPr>
          <a:xfrm>
            <a:off x="548640" y="5596128"/>
            <a:ext cx="914400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Investor discussion — Indranil Dutta, Chief Executive Officer</a:t>
            </a:r>
            <a:endParaRPr lang="en-US" sz="1200" dirty="0"/>
          </a:p>
        </p:txBody>
      </p:sp>
      <p:sp>
        <p:nvSpPr>
          <p:cNvPr id="12" name="Text 10"/>
          <p:cNvSpPr/>
          <p:nvPr/>
        </p:nvSpPr>
        <p:spPr>
          <a:xfrm>
            <a:off x="548640" y="5943600"/>
            <a:ext cx="11094415" cy="640080"/>
          </a:xfrm>
          <a:prstGeom prst="rect">
            <a:avLst/>
          </a:prstGeom>
          <a:noFill/>
          <a:ln/>
        </p:spPr>
        <p:txBody>
          <a:bodyPr wrap="square" lIns="0" tIns="0" rIns="0" bIns="0" rtlCol="0" anchor="ctr"/>
          <a:lstStyle/>
          <a:p>
            <a:pPr indent="0" marL="0">
              <a:lnSpc>
                <a:spcPct val="115000"/>
              </a:lnSpc>
              <a:buNone/>
            </a:pPr>
            <a:r>
              <a:rPr lang="en-US" sz="850" i="1" dirty="0">
                <a:solidFill>
                  <a:srgbClr val="7A828E"/>
                </a:solidFill>
                <a:latin typeface="Calibri" pitchFamily="34" charset="0"/>
                <a:ea typeface="Calibri" pitchFamily="34" charset="-122"/>
                <a:cs typeface="Calibri" pitchFamily="34" charset="-120"/>
              </a:rPr>
              <a:t>This document consolidates the company's own financial statements, management information system reports and internal analyses. Figures are sourced and dated throughout; where audited and unaudited data diverge, both are shown. Confidential — prepared for internal investor discussion only.</a:t>
            </a:r>
            <a:endParaRPr lang="en-US" sz="850" dirty="0"/>
          </a:p>
        </p:txBody>
      </p:sp>
      <p:sp>
        <p:nvSpPr>
          <p:cNvPr id="13" name="Text 11"/>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8B93A0"/>
                </a:solidFill>
                <a:latin typeface="Calibri" pitchFamily="34" charset="0"/>
                <a:ea typeface="Calibri" pitchFamily="34" charset="-122"/>
                <a:cs typeface="Calibri" pitchFamily="34" charset="-120"/>
              </a:rPr>
              <a:t>30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Datre Corporation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Datre Corporation Limited — Investor Briefing</dc:title>
  <dc:subject>PptxGenJS Presentation</dc:subject>
  <dc:creator>Datre Corporation Limited</dc:creator>
  <cp:lastModifiedBy>Datre Corporation Limited</cp:lastModifiedBy>
  <cp:revision>1</cp:revision>
  <dcterms:created xsi:type="dcterms:W3CDTF">2026-08-29T16:15:21Z</dcterms:created>
  <dcterms:modified xsi:type="dcterms:W3CDTF">2026-08-29T16:15:21Z</dcterms:modified>
</cp:coreProperties>
</file>