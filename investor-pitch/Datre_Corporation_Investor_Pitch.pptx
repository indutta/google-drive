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spPr>
            <a:solidFill>
              <a:srgbClr val="6B76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12.51</c:v>
                </c:pt>
                <c:pt idx="1">
                  <c:v>8.49</c:v>
                </c:pt>
                <c:pt idx="2">
                  <c:v>9.34</c:v>
                </c:pt>
                <c:pt idx="3">
                  <c:v>17.26</c:v>
                </c:pt>
                <c:pt idx="4">
                  <c:v>21.42</c:v>
                </c:pt>
                <c:pt idx="5">
                  <c:v>20.41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Net Profit / (Loss) (₹ Cr)</c:v>
                </c:pt>
              </c:strCache>
            </c:strRef>
          </c:tx>
          <c:spPr>
            <a:solidFill>
              <a:srgbClr val="6B7684"/>
            </a:solidFill>
            <a:ln w="31750" cap="flat">
              <a:solidFill>
                <a:srgbClr val="6B76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622B"/>
              </a:solidFill>
              <a:ln w="9525" cap="flat">
                <a:solidFill>
                  <a:srgbClr val="6B76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-2.33</c:v>
                </c:pt>
                <c:pt idx="1">
                  <c:v>-3.74</c:v>
                </c:pt>
                <c:pt idx="2">
                  <c:v>-0.05</c:v>
                </c:pt>
                <c:pt idx="3">
                  <c:v>1.47</c:v>
                </c:pt>
                <c:pt idx="4">
                  <c:v>1.45</c:v>
                </c:pt>
                <c:pt idx="5">
                  <c:v>1.38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FY24-25 Net Sales (₹ Cr)</c:v>
                </c:pt>
              </c:strCache>
            </c:strRef>
          </c:tx>
          <c:spPr>
            <a:solidFill>
              <a:srgbClr val="CBD3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3.87</c:v>
                </c:pt>
                <c:pt idx="1">
                  <c:v>4.76</c:v>
                </c:pt>
                <c:pt idx="2">
                  <c:v>4.39</c:v>
                </c:pt>
                <c:pt idx="3">
                  <c:v>6.51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FY25-26 Net Sales (₹ Cr)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8.39</c:v>
                </c:pt>
                <c:pt idx="1">
                  <c:v>6.37</c:v>
                </c:pt>
                <c:pt idx="2">
                  <c:v>7.85</c:v>
                </c:pt>
                <c:pt idx="3">
                  <c:v>2.29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Worth (₹ Cr)</c:v>
                </c:pt>
              </c:strCache>
            </c:strRef>
          </c:tx>
          <c:spPr>
            <a:solidFill>
              <a:srgbClr val="B845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FY22</c:v>
                  </c:pt>
                  <c:pt idx="1">
                    <c:v>FY23</c:v>
                  </c:pt>
                  <c:pt idx="2">
                    <c:v>FY24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-5.94</c:v>
                </c:pt>
                <c:pt idx="1">
                  <c:v>-4.47</c:v>
                </c:pt>
                <c:pt idx="2">
                  <c:v>-3.02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Tega's share of total business contribution (%)</c:v>
                </c:pt>
              </c:strCache>
            </c:strRef>
          </c:tx>
          <c:spPr>
            <a:solidFill>
              <a:srgbClr val="D9622B"/>
            </a:solidFill>
            <a:ln w="38100" cap="flat">
              <a:solidFill>
                <a:srgbClr val="D962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D962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D9622B"/>
              </a:solidFill>
              <a:ln w="9525" cap="flat">
                <a:solidFill>
                  <a:srgbClr val="D962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FY22</c:v>
                  </c:pt>
                  <c:pt idx="1">
                    <c:v>FY24</c:v>
                  </c:pt>
                  <c:pt idx="2">
                    <c:v>FY26 (proj.)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</c:v>
                </c:pt>
                <c:pt idx="1">
                  <c:v>53.5</c:v>
                </c:pt>
                <c:pt idx="2">
                  <c:v>76.4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D962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of contribution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In-house rejection rate (% of production)</c:v>
                </c:pt>
              </c:strCache>
            </c:strRef>
          </c:tx>
          <c:spPr>
            <a:solidFill>
              <a:srgbClr val="B845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FY22-23</c:v>
                  </c:pt>
                  <c:pt idx="1">
                    <c:v>FY23-24</c:v>
                  </c:pt>
                  <c:pt idx="2">
                    <c:v>FY24-25</c:v>
                  </c:pt>
                  <c:pt idx="3">
                    <c:v>FY25-26</c:v>
                  </c:pt>
                  <c:pt idx="4">
                    <c:v>FY26-27 YTD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2.59</c:v>
                </c:pt>
                <c:pt idx="1">
                  <c:v>6.54</c:v>
                </c:pt>
                <c:pt idx="2">
                  <c:v>5.41</c:v>
                </c:pt>
                <c:pt idx="3">
                  <c:v>6.75</c:v>
                </c:pt>
                <c:pt idx="4">
                  <c:v>10.12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rejected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(₹/kg)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Escorts MB</c:v>
                  </c:pt>
                  <c:pt idx="1">
                    <c:v>Escorts KN</c:v>
                  </c:pt>
                  <c:pt idx="2">
                    <c:v>Tega Small</c:v>
                  </c:pt>
                  <c:pt idx="3">
                    <c:v>Tega Big</c:v>
                  </c:pt>
                  <c:pt idx="4">
                    <c:v>Komatsu idler (avg.)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58</c:v>
                </c:pt>
                <c:pt idx="2">
                  <c:v>58</c:v>
                </c:pt>
                <c:pt idx="3">
                  <c:v>60</c:v>
                </c:pt>
                <c:pt idx="4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per kg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-548640"/>
            <a:ext cx="2743200" cy="2743200"/>
          </a:xfrm>
          <a:prstGeom prst="ellipse">
            <a:avLst/>
          </a:prstGeom>
          <a:solidFill>
            <a:srgbClr val="2E2116"/>
          </a:solidFill>
          <a:ln/>
        </p:spPr>
      </p:sp>
      <p:sp>
        <p:nvSpPr>
          <p:cNvPr id="5" name="Shape 3"/>
          <p:cNvSpPr/>
          <p:nvPr/>
        </p:nvSpPr>
        <p:spPr>
          <a:xfrm>
            <a:off x="-1463040" y="4937760"/>
            <a:ext cx="3657600" cy="365760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BRIEFING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Corporation Limited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Essence, Manufacturing Personified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0" cy="0"/>
          </a:xfrm>
          <a:prstGeom prst="line">
            <a:avLst/>
          </a:prstGeom>
          <a:noFill/>
          <a:ln/>
        </p:spPr>
      </p:sp>
      <p:sp>
        <p:nvSpPr>
          <p:cNvPr id="10" name="Text 8"/>
          <p:cNvSpPr/>
          <p:nvPr/>
        </p:nvSpPr>
        <p:spPr>
          <a:xfrm>
            <a:off x="548640" y="3794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USP, Financial Performance &amp; Critical Analysis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3192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3192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Falta, West Bengal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9001:2015 · RDSO Class 'A' · ZED Gold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355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  ·  Prepared for internal investor discussion  ·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capital-light turnaround, still concentrated and still proving itself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₹24.9 Cr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13232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net sales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13232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year, +27% YoY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90824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55416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₹1.4 Cr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55416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net profit, FY23-25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55416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2 straight loss years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33008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97600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yrs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397600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profitable years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FY23, FY24, FY25 audited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75191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9783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239783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from 2 customers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9783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+ Escorts — key risk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ED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977640"/>
            <a:ext cx="384048" cy="38404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23" name="Text 21"/>
          <p:cNvSpPr/>
          <p:nvPr/>
        </p:nvSpPr>
        <p:spPr>
          <a:xfrm>
            <a:off x="1325880" y="3977640"/>
            <a:ext cx="435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 Case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443484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from near-closure (2000) and a going-concern audit flag (FY21) into three straight audited profit years.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 niche: proprietary heat-treatment know-how that Datre refuses to hand to buyers, unlike most Indian foundry peers.</a:t>
            </a:r>
            <a:endParaRPr lang="en-US" sz="11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OEM integration (Tega, Escorts, Komatsu-qualified) at industry-leading contribution per kg on select parts.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BEEEC"/>
          </a:solidFill>
          <a:ln/>
        </p:spPr>
      </p:sp>
      <p:sp>
        <p:nvSpPr>
          <p:cNvPr id="26" name="Shape 24"/>
          <p:cNvSpPr/>
          <p:nvPr/>
        </p:nvSpPr>
        <p:spPr>
          <a:xfrm>
            <a:off x="6507328" y="3977640"/>
            <a:ext cx="384048" cy="384048"/>
          </a:xfrm>
          <a:prstGeom prst="ellipse">
            <a:avLst/>
          </a:prstGeom>
          <a:solidFill>
            <a:srgbClr val="B8453F"/>
          </a:solidFill>
          <a:ln/>
        </p:spPr>
      </p:sp>
      <p:sp>
        <p:nvSpPr>
          <p:cNvPr id="27" name="Text 25"/>
          <p:cNvSpPr/>
          <p:nvPr/>
        </p:nvSpPr>
        <p:spPr>
          <a:xfrm>
            <a:off x="6507328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28" name="Text 26"/>
          <p:cNvSpPr/>
          <p:nvPr/>
        </p:nvSpPr>
        <p:spPr>
          <a:xfrm>
            <a:off x="7055968" y="3977640"/>
            <a:ext cx="435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Investors Should Probe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53048" y="443484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is still negative (-₹3.0 Cr, FY24) and the most recent quarter (FY26-27 YTD) shows sales down ~30% YoY.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Rejection/scrap rate has climbed for four straight periods, reaching 10.1% in the latest quarter.</a:t>
            </a:r>
            <a:endParaRPr lang="en-US" sz="11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customers drive ~80% of contribution; recurring auditor qualification remains open.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SNAPSHOT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niche engineering foundry, not a commodity caster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48640" y="2029968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 · Falta Industrial Growth Centre, South 24 Parganas, West Bengal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095848" y="1783080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095848" y="2029968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privately held; 6.1 acres leased from WBIIDC (99-yr lease from 1995)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569464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2816352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9001:2015 (DNV GL) · Indian Railways RDSO Class 'A' foundry · ZED Gold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095848" y="2569464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095848" y="2816352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7,000 MT/yr (valve-era rating); current output ~1,000-1,300 MT/yr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355848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3602736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~100+ employees · 140+ supply partners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95848" y="3355848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BASE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95848" y="3602736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22+ active accounts, ~90% Tier-1 OEMs / Indian MNCs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4142232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43891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debt-free — finance cost is nil in recent filings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5848" y="4142232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95848" y="43891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km to Kolkata Airport · 19 km to Diamond Harbour rail · Haldia/Kolkata ports ~46-48 km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11094415" cy="0"/>
          </a:xfrm>
          <a:prstGeom prst="line">
            <a:avLst/>
          </a:prstGeom>
          <a:noFill/>
          <a:ln w="12700">
            <a:solidFill>
              <a:srgbClr val="E1E4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486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Indranil Dutta, CEO (33 yrs; BE IIEST Howrah, PGDBM IISWBM) · Sanjoy Banka, CFO (CA, 30+ yrs) · Sitangshu K. Saha, Director (IIT-Kharagpur metallurgy, 42 yrs) · S.N. Chaudhury, Director (IIT-Kharagpur metallurgy, 40 yrs, Railways specialist)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HISTORY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near-closure to a self-authored turnaround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0"/>
          </a:xfrm>
          <a:prstGeom prst="line">
            <a:avLst/>
          </a:prstGeom>
          <a:noFill/>
          <a:ln w="25400">
            <a:solidFill>
              <a:srgbClr val="E1E4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7079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as a captive valve-casting foundry for a US collaborator, on imported European machinery.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3285668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04389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~2000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31821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Overseas partner's ownership changed abruptly. Technology transfer and marketing collapsed. Company “bled investors' money heavily” and nearly closed.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5104257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22978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2000-06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50410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“Painful crawling” — legal battles with financial institutions while keeping aging imported machinery running with minimal resources.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922846" y="2020824"/>
            <a:ext cx="164592" cy="164592"/>
          </a:xfrm>
          <a:prstGeom prst="ellipse">
            <a:avLst/>
          </a:prstGeom>
          <a:solidFill>
            <a:srgbClr val="D962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41568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69000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Indranil Dutta joins as CEO. Repositions Datre from a “steel foundry” to an engineering manufacturing company; pivots from valves to mining, rail and HEMM castings.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8741435" y="2020824"/>
            <a:ext cx="164592" cy="164592"/>
          </a:xfrm>
          <a:prstGeom prst="ellipse">
            <a:avLst/>
          </a:prstGeom>
          <a:solidFill>
            <a:srgbClr val="3F8F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60157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2020-22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987589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Covid-era trough: FY21 revenue falls to ₹8.5 Cr; auditors flag “material uncertainty related to going concern.”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10560025" y="2020824"/>
            <a:ext cx="164592" cy="164592"/>
          </a:xfrm>
          <a:prstGeom prst="ellipse">
            <a:avLst/>
          </a:prstGeom>
          <a:solidFill>
            <a:srgbClr val="3F8F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78746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2023-26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806178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consecutive audited profit years; FY25-26 revenue reaches a record ₹24.9 Cr; Komatsu (Japan) qualification pipeline opens.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548640" y="470916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for diligence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193792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2006 pivot — not the 1996 founding — is the operative history. Everything distinctive about Datre's positioning (engineering-company framing, the heat-treatment IP stance, the OEM-led product mix) dates from that decision, not from the original valve-foundry design.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choices that separate Datre from a commodity foundry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5740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039112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company, not a steel foundry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Rebranded around “Engineering Essence, Manufacturing Personified” — positioning as a problem-solver rather than a supplier priced on weight and chemistry alone.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255868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6530188" y="205740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653018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70268" y="2039112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heat-treatment know-how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30188" y="269748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Indian foundries hand buyers the HT cycle graph, letting price be set by chemistry alone. Datre refuses — treating its HT process as a defensible “soft knowledge asset.”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29768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4279392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localization, low capex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2960" y="493776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in-house maintenance of aging, imported European machinery — kept the plant running through the 2000-06 crisis and keeps growth largely capex-light today.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255868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0188" y="429768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21" name="Text 19"/>
          <p:cNvSpPr/>
          <p:nvPr/>
        </p:nvSpPr>
        <p:spPr>
          <a:xfrm>
            <a:off x="6530188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70268" y="4279392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Deep, sole-supplier OEM integration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530188" y="493776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Sole/near-exclusive casting partner to Tega (since 2005) and Escorts on safety-critical parts; Komatsu-qualified on 5 running idler part numbers.</a:t>
            </a:r>
            <a:endParaRPr lang="en-US" sz="103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 DEEP DIVE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moat: refusing to hand over the heat-treatment cycle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NORM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2121408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foundries routinely hand buyers the heat-treatment cycle graph as part of the supply package. Once the buyer has it, price gets pinned to raw-material chemistry alone — the caster's process know-how stops mattering commercially.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DATRE'S DEPARTURE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721608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withholds its HT cycle documentation — a deliberate, contested choice that customers pushed back on. Holding that ground protects the one variable a buyer cannot commoditize: how the metallurgy is actually achieved.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pricing power: the Sona Comstar knuckle-casting repricing (slide 15) is the same logic in commercial practice — cost-to-serve, not raw-material chemistry, is what Datre asks customers to pay for.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40880" y="1828800"/>
            <a:ext cx="4602175" cy="4160520"/>
          </a:xfrm>
          <a:prstGeom prst="roundRect">
            <a:avLst>
              <a:gd name="adj" fmla="val 1758"/>
            </a:avLst>
          </a:prstGeom>
          <a:solidFill>
            <a:srgbClr val="262B3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205740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HEAT-TREATMENT INFRASTRUCTURE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0" y="2423160"/>
            <a:ext cx="405353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Auto-controlled furnaces with water &amp; air quenching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Induction melting: furnaces up to 10-ton capacity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Spectrometer — 14-element analysis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Brinell / Rockwell / digital hardness testing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&amp; radiography (RT) testing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crack detection (MPI)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testing, 50x-1500x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MARKETS &amp; CLIENTS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end markets, anchored by tier-1 OEMs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424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Mining &amp; Minerals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Industries (sole supplier since 2005, ~80%+ of Tega's outsourced white-iron liner need, historically) · Metso Outotec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95351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High-chrome &amp; CrMo mill liners, hammers for crushers — ~100,000 pcs across 100+ profiles supplied to date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6255868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6255868" y="178308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6530188" y="198424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Railways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0188" y="235000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Escorts Railway Equipment Division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0188" y="295351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AAR-H &amp; SCHAKU coupler castings (Main Body, Knuckle) for LHB coaches — ~1,500 Main Bodies, ~5,000 Knuckles supplied · RDSO Class 'A' qualified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402336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2452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HEMM &amp; Construction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459028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BEML · Mahindra &amp; Mahindra · Komatsu (Himi Plant, Japan, via Uchimura)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519379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Undercarriage &amp; idler castings — 5 running Komatsu part numbers, 3 more under RFQ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6255868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255868" y="4023360"/>
            <a:ext cx="64008" cy="1965960"/>
          </a:xfrm>
          <a:prstGeom prst="rect">
            <a:avLst/>
          </a:prstGeom>
          <a:solidFill>
            <a:srgbClr val="6B7684"/>
          </a:solidFill>
          <a:ln/>
        </p:spPr>
      </p:sp>
      <p:sp>
        <p:nvSpPr>
          <p:cNvPr id="21" name="Text 19"/>
          <p:cNvSpPr/>
          <p:nvPr/>
        </p:nvSpPr>
        <p:spPr>
          <a:xfrm>
            <a:off x="6530188" y="422452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Steel Plants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30188" y="459028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Metaliks · Electrosteel Casting · Tata Steel BSL · ESL Steel · SAIL IISCO · Neo Metaliks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30188" y="519379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moulds, chain links, annealing-furnace rollers/skids — legacy relationships, declining share of mix</a:t>
            </a:r>
            <a:endParaRPr lang="en-US" sz="97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&amp; CAPACITY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modernized, semi-automated foundry — with real headroom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7,000 MT/yr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 (valve-era rating)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390824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3527984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100-130 T/mo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527984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melting throughput at current mix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33008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370168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60-85%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70168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inconsistently across company materials, 2024-25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075191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212351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15-23%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212351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to grow without further capex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48640" y="333756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INFRASTRUCTURE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639312"/>
            <a:ext cx="53643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ALFA-SET no-bake moulding system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Medium-frequency induction melting furnaces, up to 10-ton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Auto-controlled heat treatment: water &amp; air quenching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Fettling &amp; shot-blasting lines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&amp; methoding shop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78728" y="333756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TESTING LAB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78728" y="3639312"/>
            <a:ext cx="53643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14-element spectrometer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Brinell / Rockwell / digital hardness testers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&amp; radiography (RT) testing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particle crack detection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analysis, 50x-1500x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sand-testing lab (new &amp; process sand)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532120"/>
            <a:ext cx="11094415" cy="594360"/>
          </a:xfrm>
          <a:prstGeom prst="roundRect">
            <a:avLst>
              <a:gd name="adj" fmla="val 9231"/>
            </a:avLst>
          </a:prstGeom>
          <a:solidFill>
            <a:srgbClr val="FBEEE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53212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infrastructure has not prevented rejection rates from climbing to 10%+ in the most recent quarter — see slide 14.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audited years: from going-concern risk to profit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2237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955280" y="17830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FY21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955280" y="2039112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trough. Auditors flagged “material uncertainty related to going concern.”</a:t>
            </a:r>
            <a:endParaRPr lang="en-US" sz="970" dirty="0"/>
          </a:p>
        </p:txBody>
      </p:sp>
      <p:sp>
        <p:nvSpPr>
          <p:cNvPr id="7" name="Text 4"/>
          <p:cNvSpPr/>
          <p:nvPr/>
        </p:nvSpPr>
        <p:spPr>
          <a:xfrm>
            <a:off x="7955280" y="3081528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FY22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955280" y="3337560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Near-breakeven (-₹0.05 Cr). Net worth still -₹5.94 Cr.</a:t>
            </a:r>
            <a:endParaRPr lang="en-US" sz="970" dirty="0"/>
          </a:p>
        </p:txBody>
      </p:sp>
      <p:sp>
        <p:nvSpPr>
          <p:cNvPr id="9" name="Text 6"/>
          <p:cNvSpPr/>
          <p:nvPr/>
        </p:nvSpPr>
        <p:spPr>
          <a:xfrm>
            <a:off x="7955280" y="4379976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FY23-25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0" y="4636008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straight audited profit years, averaging ~₹1.4 Cr net profit on ~₹20 Cr revenue (~7% net margin).</a:t>
            </a:r>
            <a:endParaRPr lang="en-US" sz="970" dirty="0"/>
          </a:p>
        </p:txBody>
      </p:sp>
      <p:sp>
        <p:nvSpPr>
          <p:cNvPr id="11" name="Text 8"/>
          <p:cNvSpPr/>
          <p:nvPr/>
        </p:nvSpPr>
        <p:spPr>
          <a:xfrm>
            <a:off x="7955280" y="562356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statutory P&amp;L filings, FY20-FY25.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FY25-26 closed as a record year — quarter by quarter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2237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37360"/>
            <a:ext cx="3687775" cy="1417320"/>
          </a:xfrm>
          <a:prstGeom prst="roundRect">
            <a:avLst>
              <a:gd name="adj" fmla="val 5161"/>
            </a:avLst>
          </a:prstGeom>
          <a:solidFill>
            <a:srgbClr val="EDF5EF"/>
          </a:solidFill>
          <a:ln/>
        </p:spPr>
      </p:sp>
      <p:sp>
        <p:nvSpPr>
          <p:cNvPr id="6" name="Text 3"/>
          <p:cNvSpPr/>
          <p:nvPr/>
        </p:nvSpPr>
        <p:spPr>
          <a:xfrm>
            <a:off x="8183880" y="1874520"/>
            <a:ext cx="3230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₹24.9 Cr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183880" y="2395728"/>
            <a:ext cx="3230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net sales — a record, +27% YoY, ahead of the ₹26 Cr base-case target set in Aug 2025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955280" y="33832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NOTE THE SHAPE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955280" y="3675888"/>
            <a:ext cx="3687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FY25-26 collapsed to ₹2.29 Cr — less than a third of Q3, and well below Q4 FY24-25's ₹6.51 Cr. The record full-year number masks a weak close, which carries into FY26-27 (next slide).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955280" y="5486400"/>
            <a:ext cx="3687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management MIS (net sales, ex-GST), full-year FY24-25 and FY25-26.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CURRENT TRADING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recent quarter reverses the FY25-26 story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-42%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FY26-27 net sales vs Q1 FY25-26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₹4.84 Cr vs ₹8.39 Cr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4338218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9" name="Text 7"/>
          <p:cNvSpPr/>
          <p:nvPr/>
        </p:nvSpPr>
        <p:spPr>
          <a:xfrm>
            <a:off x="4521098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21098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rejection rate, YTD FY26-27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1098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of any period on record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8127797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13" name="Text 11"/>
          <p:cNvSpPr/>
          <p:nvPr/>
        </p:nvSpPr>
        <p:spPr>
          <a:xfrm>
            <a:off x="8310677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-53%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310677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PBT (mgmt. accounts), 4 months YTD vs prior year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10677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 vs ₹1.13 Cr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2E3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3950208"/>
            <a:ext cx="384048" cy="38404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092" dirty="0"/>
          </a:p>
        </p:txBody>
      </p:sp>
      <p:sp>
        <p:nvSpPr>
          <p:cNvPr id="19" name="Text 17"/>
          <p:cNvSpPr/>
          <p:nvPr/>
        </p:nvSpPr>
        <p:spPr>
          <a:xfrm>
            <a:off x="1325880" y="3794760"/>
            <a:ext cx="10042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counter-signal: July 2026 alone grew +11% YoY (₹2.76 Cr vs ₹2.48 Cr) — an early, unconfirmed sign that the Q1 air-pocket may be easing. One month is not a trend.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ASK MANAGEMENT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5193792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Q1 FY26-27 decline customer-driven (Tega/Escorts order timing) or a broader demand problem?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driving the rejection-rate climb to 10%+, and what specifically is being done to reverse it?</a:t>
            </a:r>
            <a:endParaRPr lang="en-US" sz="10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April 2026's loss-making month (-₹0.11 Cr PBT) a one-off or the start of a pattern?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BALANCE SHEET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worth is still negative, despite three profit years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0350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liabilities have exceeded total assets in every audited year available (FY22-24). The gap is narrowing at ~₹1.4-1.5 Cr/yr, roughly the pace of recent net profit — but FY26-27's slower start (slide 11) puts that trajectory at risk.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58978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balance sheets, FY22-FY24.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6858000" y="1737360"/>
            <a:ext cx="4785055" cy="4434840"/>
          </a:xfrm>
          <a:prstGeom prst="roundRect">
            <a:avLst>
              <a:gd name="adj" fmla="val 1649"/>
            </a:avLst>
          </a:prstGeom>
          <a:solidFill>
            <a:srgbClr val="FBEEE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0" y="192024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FLAGS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132320" y="224028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audit qualification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32320" y="247802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Auditors have repeatedly qualified their opinion for non-ascertainment of employee benefit liability via actuarial valuation (Ind AS 19) — a fixable gap, open across multiple years.</a:t>
            </a:r>
            <a:endParaRPr lang="en-US" sz="880" dirty="0"/>
          </a:p>
        </p:txBody>
      </p:sp>
      <p:sp>
        <p:nvSpPr>
          <p:cNvPr id="11" name="Text 8"/>
          <p:cNvSpPr/>
          <p:nvPr/>
        </p:nvSpPr>
        <p:spPr>
          <a:xfrm>
            <a:off x="7132320" y="320040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net worth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132320" y="343814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for any capital structure discussion: equity infusion or a faster retained-earnings build is needed to turn net worth positive.</a:t>
            </a:r>
            <a:endParaRPr lang="en-US" sz="880" dirty="0"/>
          </a:p>
        </p:txBody>
      </p:sp>
      <p:sp>
        <p:nvSpPr>
          <p:cNvPr id="13" name="Text 10"/>
          <p:cNvSpPr/>
          <p:nvPr/>
        </p:nvSpPr>
        <p:spPr>
          <a:xfrm>
            <a:off x="7132320" y="416052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Related-party disclosure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132320" y="439826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related-party transaction or promoter-loan disclosure was found in the materials reviewed — request full disclosure before finalizing terms.</a:t>
            </a:r>
            <a:endParaRPr lang="en-US" sz="880" dirty="0"/>
          </a:p>
        </p:txBody>
      </p:sp>
      <p:sp>
        <p:nvSpPr>
          <p:cNvPr id="15" name="Text 12"/>
          <p:cNvSpPr/>
          <p:nvPr/>
        </p:nvSpPr>
        <p:spPr>
          <a:xfrm>
            <a:off x="7132320" y="512064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restructuring reference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132320" y="535838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internal document is titled with reference to “post-NCLT” status. No case details, dates or resolution terms were available for verification — confirm and disclose before external circulation.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CONCENTRATION RISK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customers now drive roughly 80% of contribution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126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company financial statements &amp; internal analysis, FY21-FY24 actuals, FY26 management projection.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6949440" y="173736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~80%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949440" y="210312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+ Escorts share of contribution — the deep OEM integration that is also the single largest risk on this deck</a:t>
            </a:r>
            <a:endParaRPr lang="en-US" sz="980" dirty="0"/>
          </a:p>
        </p:txBody>
      </p:sp>
      <p:sp>
        <p:nvSpPr>
          <p:cNvPr id="8" name="Text 5"/>
          <p:cNvSpPr/>
          <p:nvPr/>
        </p:nvSpPr>
        <p:spPr>
          <a:xfrm>
            <a:off x="6949440" y="310896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₹9.0 → ₹7.5 Cr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949440" y="347472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Tega's small-casting orders declined YoY, FY23-24 to FY24-25</a:t>
            </a:r>
            <a:endParaRPr lang="en-US" sz="980" dirty="0"/>
          </a:p>
        </p:txBody>
      </p:sp>
      <p:sp>
        <p:nvSpPr>
          <p:cNvPr id="10" name="Text 7"/>
          <p:cNvSpPr/>
          <p:nvPr/>
        </p:nvSpPr>
        <p:spPr>
          <a:xfrm>
            <a:off x="6949440" y="448056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Thejo Engineering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949440" y="484632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Formalized via NDA/exclusive tie-up alongside Tega in Mining — a real second leg, growing since FY22-23, though still small next to Tega/Escorts</a:t>
            </a:r>
            <a:endParaRPr lang="en-US" sz="98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OPERATIONS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Rejection rate has trended the wrong way for four periods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315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management MIS, production &amp; rejection registers, FY22-23 through FY26-27 (4 months).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8138160" y="1737360"/>
            <a:ext cx="3504895" cy="4023360"/>
          </a:xfrm>
          <a:prstGeom prst="roundRect">
            <a:avLst>
              <a:gd name="adj" fmla="val 2087"/>
            </a:avLst>
          </a:prstGeom>
          <a:solidFill>
            <a:srgbClr val="F4F5F7"/>
          </a:solidFill>
          <a:ln/>
        </p:spPr>
      </p:sp>
      <p:sp>
        <p:nvSpPr>
          <p:cNvPr id="7" name="Text 4"/>
          <p:cNvSpPr/>
          <p:nvPr/>
        </p:nvSpPr>
        <p:spPr>
          <a:xfrm>
            <a:off x="8366760" y="1920240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RISING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366760" y="2212848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costs as % of net sales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366760" y="2487168"/>
            <a:ext cx="3047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16.06%  →  17.09%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366760" y="2880360"/>
            <a:ext cx="3047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FY23-24 to FY24-25 — rose even in the year sales dipped.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8366760" y="3520440"/>
            <a:ext cx="3047695" cy="0"/>
          </a:xfrm>
          <a:prstGeom prst="line">
            <a:avLst/>
          </a:prstGeom>
          <a:noFill/>
          <a:ln w="12700">
            <a:solidFill>
              <a:srgbClr val="E1E4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66760" y="3703320"/>
            <a:ext cx="30476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one-off spike — it is the same quality-control theme recurring across three fiscal years despite a well-equipped testing lab (slide 8). It belongs on the same diligence list as the customer-concentration risk.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UPSIDE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margin actually comes from: mix and pricing discipline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309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12064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Komatsu idler contribution (₹68-114/kg across 4 part numbers, ~₹88/kg average) sits well above the domestic product mix — the clearest evidence that global qualification, not domestic volume, is where the next margin step comes from.</a:t>
            </a:r>
            <a:endParaRPr lang="en-US" sz="980" dirty="0"/>
          </a:p>
        </p:txBody>
      </p:sp>
      <p:sp>
        <p:nvSpPr>
          <p:cNvPr id="6" name="Shape 3"/>
          <p:cNvSpPr/>
          <p:nvPr/>
        </p:nvSpPr>
        <p:spPr>
          <a:xfrm>
            <a:off x="7132320" y="1737360"/>
            <a:ext cx="4510735" cy="4160520"/>
          </a:xfrm>
          <a:prstGeom prst="roundRect">
            <a:avLst>
              <a:gd name="adj" fmla="val 1758"/>
            </a:avLst>
          </a:prstGeom>
          <a:solidFill>
            <a:srgbClr val="F4F5F7"/>
          </a:solidFill>
          <a:ln/>
        </p:spPr>
      </p:sp>
      <p:sp>
        <p:nvSpPr>
          <p:cNvPr id="7" name="Text 4"/>
          <p:cNvSpPr/>
          <p:nvPr/>
        </p:nvSpPr>
        <p:spPr>
          <a:xfrm>
            <a:off x="7406640" y="193852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POWER IN ACTION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06640" y="2231136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Sona Comstar knuckle-casting repricing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406640" y="2834640"/>
            <a:ext cx="396209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pricing compensated raw-material escalation only, leaving overhead and profit on a fracture-critical, safety-rated casting effectively unpriced.</a:t>
            </a:r>
            <a:endParaRPr lang="en-US" sz="10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proposed a criticality-based cost-to-serve model instead: a ₹206/kg floor and a ₹225/kg target, itemizing the ₹19/kg gap as labor, repeated inspection, engineering control and yield provision — not raw material.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under negotiation, not yet settled. Included here as evidence of commercial discipline, not as booked revenue.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qualification is real — and not yet fully de-risked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148840"/>
                <a:gridCol w="3657600"/>
                <a:gridCol w="3593592"/>
              </a:tblGrid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· Sector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Diligence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Komatsu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Himi Plant, Japan · via Uchimura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running idler part numbers, 3 under RFQ. Contribution ₹68-114/kg — highest in the portfolio.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first-article nonconformity (Mar 2026, part 17M3053110). Quality must close before further progress.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Thejo Engineering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· mining wear parts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NDA/exclusive tie-up alongside Tega. Live, growing account since FY22-23; order volumes rising into FY26-27.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F8F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next to Tega/Escorts — the clearest active diversification story today.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Henseley Industries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· construction, HEMM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tie-up under NDA; initial trial in progress.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Earlier sample batches failed on impact properties; corrective re-heat-treatment applied. Not yet a qualified supply line.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Knorr-Bremse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 · railway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in progress, per company materials.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8B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Early-stage; no order or trial data available to independently size this.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Strato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· railway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in progress, per company materials.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8B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Early-stage; no order or trial data available to independently size this.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“Diligence note” column reflects gaps and open items found during review, not management's own characterization of these relationships.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and margin, against named Indian foundry peers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17320"/>
                <a:gridCol w="1280160"/>
                <a:gridCol w="1280160"/>
                <a:gridCol w="43708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(₹ Cr)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Datre Corporation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FY21 — Covid-era trough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 Castings Pvt Ltd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scale, best-in-class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Aqua Alloys Pvt Ltd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54.3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scale, strong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Fortune Foundries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scale, thin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Prragathi Steel Castings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35.2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scale, weak conversion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Precon Technology &amp; Castings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Going-concern-level loss, FY20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 set median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16-company benchmark set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sits well below peer-median scale (~₹29 Cr) but is not unusually thin-margined for the sector — the whole Indian MSME foundry set clustered near breakeven in FY19-21. Peers like Big Castings and Aqua Alloys show 7-8% net margins are achievable at Datre's own scale, a credible benchmark for its own margin upside.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EMIS/Habiliss statutory filings compiled by Datre management, FY19-21 (most recent third-party peer data available).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mining-liner franchise matters — and its limits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MTPA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13232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high-chrome mill internals (HCMI) consumption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390824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3555416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85-90%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3555416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HCMI demand is replacement, not new capacity — structurally steady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33008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397600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 MTPA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397600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opportunity from forged media to HCMI (3x the cement segment)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075191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239783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239783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share held by the two global HCMI leaders (AIA Engineering, Magotteaux)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4F5F7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85876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DATRE ACTUALLY SITS IN THIS MARKET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4187952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is not a branded participant in the ~3 MTPA global HCMI market — it is a qualified casting sub-supplier to Tega, which itself competes against AIA Engineering and Magotteaux.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replacement-driven, non-cyclical demand pattern is a genuine tailwind for Tega's own volumes — and, through the Tega relationship, for Datre's order flow. It does not, by itself, diversify Datre's customer concentration.</a:t>
            </a:r>
            <a:endParaRPr lang="en-US" sz="103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entry barriers cut both ways: they protect Datre's niche position as a qualified supplier, but also cap how much of the value chain's economics a sub-tier caster can capture.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SWOT: the honest scorecard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EDF5E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90195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consecutive audited profit years (FY23-25)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heat-treatment IP moat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OEM integration incl. Komatsu-qualified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debt-free; ISO 9001:2015 / RDSO 'A' / ZED Gold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6255868" y="173736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BEEEC"/>
          </a:solidFill>
          <a:ln/>
        </p:spPr>
      </p:sp>
      <p:sp>
        <p:nvSpPr>
          <p:cNvPr id="8" name="Text 6"/>
          <p:cNvSpPr/>
          <p:nvPr/>
        </p:nvSpPr>
        <p:spPr>
          <a:xfrm>
            <a:off x="6511900" y="190195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11900" y="221284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net worth (-₹3.0 Cr, FY24)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contribution from 2 customers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rate at 10.1%, worst on record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auditor qualification; sub-scale vs. peer median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CEFE6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427939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459028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Komatsu global qualification (pending quality closure)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Thejo Engineering diversification, actively growing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15-23% capacity headroom without capex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upside toward peer best-in-class (7-8% net)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6255868" y="411480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6511900" y="427939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11900" y="459028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Tega/Escorts concentration; Tega small-order decline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FY26-27 demand air-pocket, cause unconfirmed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Steel/ferrochrome price volatility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Komatsu first-article nonconformity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CONSIDERATIONS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framework for the ask — terms to be finalized with management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685800"/>
          </a:xfrm>
          <a:prstGeom prst="roundRect">
            <a:avLst>
              <a:gd name="adj" fmla="val 8000"/>
            </a:avLst>
          </a:prstGeom>
          <a:solidFill>
            <a:srgbClr val="262B3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materials reviewed do not specify a funding quantum, instrument, valuation or use-of-proceeds. What follows is a suggested framework, derived from the financial and operational analysis in this deck — not a management-approved ask.</a:t>
            </a:r>
            <a:endParaRPr lang="en-US" sz="103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27706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Balance-sheet repair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274320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infusion or a structured plan to accelerate net worth from -₹3.0 Cr to positive, rather than relying solely on ~₹1.4 Cr/yr retained earnings.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38221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Working-capital bridge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0" y="379476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Tega/Escorts receivable cycle at the ₹25-30 Cr revenue range Datre has now demonstrated it can reach.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548640" y="489204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487375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Quality-systems investment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97680" y="484632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spend to bring the rejection rate back toward its FY22-23 low (~2.6%) — scrap-cost savings alone should fund a meaningful share of this.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of the three should be sized against audited FY25 and FY25-26 management accounts, not the figures in this deck alone — and against resolution of the governance flags on slide 12.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572000"/>
            <a:ext cx="3657600" cy="365760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Corporation Limited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Essence, Manufacturing Personified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OFFICE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4279392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Sector-III, Falta Industrial Growth Centre, South 24 Parganas, West Bengal 743504, India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681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4937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sales@datre.com  ·  hr@datre.com  ·  www.datre.in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340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55961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discussion — Indranil Dutta, Chief Executive Officer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consolidates the company's own financial statements, management information system reports and internal analyses. Figures are sourced and dated throughout; where audited and unaudited data diverge, both are shown. Confidential — prepared for internal investor discussion only.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Datre Corporation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Datre Corporation Limited — Investor Briefing</dc:title>
  <dc:subject>PptxGenJS Presentation</dc:subject>
  <dc:creator>Datre Corporation Limited</dc:creator>
  <cp:lastModifiedBy>Datre Corporation Limited</cp:lastModifiedBy>
  <cp:revision>1</cp:revision>
  <dcterms:created xsi:type="dcterms:W3CDTF">2026-08-26T07:29:46Z</dcterms:created>
  <dcterms:modified xsi:type="dcterms:W3CDTF">2026-08-26T07:29:46Z</dcterms:modified>
</cp:coreProperties>
</file>