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Capacity utilization (%)</c:v>
                </c:pt>
              </c:strCache>
            </c:strRef>
          </c:tx>
          <c:spPr>
            <a:solidFill>
              <a:srgbClr val="E8B84B"/>
            </a:solidFill>
            <a:ln w="38100" cap="flat">
              <a:solidFill>
                <a:srgbClr val="E8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8B84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B84B"/>
              </a:solidFill>
              <a:ln w="9525" cap="flat">
                <a:solidFill>
                  <a:srgbClr val="E8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2018</c:v>
                  </c:pt>
                  <c:pt idx="1">
                    <c:v>2024</c:v>
                  </c:pt>
                  <c:pt idx="2">
                    <c:v>May '25</c:v>
                  </c:pt>
                  <c:pt idx="3">
                    <c:v>Aug '25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75</c:v>
                </c:pt>
                <c:pt idx="3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E8B84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3A455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9AA2AD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9AA2AD"/>
                    </a:solidFill>
                    <a:latin typeface="Arial"/>
                  </a:rPr>
                  <a:t>% of installed capacity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2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C1F26"/>
        </a:solidFill>
        <a:ln>
          <a:noFill/>
        </a:ln>
        <a:effectLst/>
      </c:spPr>
    </c:plotArea>
    <c:plotVisOnly val="1"/>
    <c:dispBlanksAs val="span"/>
  </c:chart>
  <c:spPr>
    <a:solidFill>
      <a:srgbClr val="1C1F2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-5.94</c:v>
                </c:pt>
                <c:pt idx="1">
                  <c:v>-4.46</c:v>
                </c:pt>
                <c:pt idx="2">
                  <c:v>-2.92</c:v>
                </c:pt>
                <c:pt idx="3">
                  <c:v>-1.54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CEO CTC as % of turnover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  <c:pt idx="4">
                    <c:v>FY25-26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1.72</c:v>
                </c:pt>
                <c:pt idx="1">
                  <c:v>1.52</c:v>
                </c:pt>
                <c:pt idx="2">
                  <c:v>1.26</c:v>
                </c:pt>
                <c:pt idx="3">
                  <c:v>1.59</c:v>
                </c:pt>
                <c:pt idx="4">
                  <c:v>1.51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turnover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Cr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P&amp;M net book
value</c:v>
                  </c:pt>
                  <c:pt idx="1">
                    <c:v>Land
(historical cost)</c:v>
                  </c:pt>
                  <c:pt idx="2">
                    <c:v>FMV @ 4x
avg. PAT</c:v>
                  </c:pt>
                  <c:pt idx="3">
                    <c:v>FMV @ 6x
avg. PAT</c:v>
                  </c:pt>
                  <c:pt idx="4">
                    <c:v>FMV @ 8x
avg. PAT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0.79</c:v>
                </c:pt>
                <c:pt idx="2">
                  <c:v>5.7</c:v>
                </c:pt>
                <c:pt idx="3">
                  <c:v>8.6</c:v>
                </c:pt>
                <c:pt idx="4">
                  <c:v>11.4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5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paradigm Datre built deliberately — now running harder on an aging plant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+26% YoY — also a record ₹1.82 Cr profit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on the same plant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 trough to FY25-26, no expansion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 since FY22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 (FY25)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paradigm built deliberately, not inherited: repositioned from commodity foundry to engineering company, then protected the one thing that couldn't be commoditized — heat-treatment know-how.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now runs on operations: utilization has climbed from ~55% (2018) to ~81% (Aug 2025) on the same 1990s-era plant — revenue has more than tripled without a new factory.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(-₹1.54 Cr, FY25) and the most recent quarter (Q1 FY26-27) shows sales down 42%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— the operational skill behind the moat hasn't visibly fixed this yet.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consecutive profitable years (three audited, FY25-26 unaudited); FY25-26 revenue reaches a record ₹25.9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priced as a problem-solver, not on weight and chemistry alone.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spans ₹22-88/kg by product — evidence of value pricing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55868" y="169164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6530188" y="194767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30188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70268" y="192938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0188" y="256032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to.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530188" y="338328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17" name="Text 15"/>
          <p:cNvSpPr/>
          <p:nvPr/>
        </p:nvSpPr>
        <p:spPr>
          <a:xfrm>
            <a:off x="6639916" y="338328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for the Sona repricing case: ₹206→₹225/kg, cost-to-serve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an aging plant harder, not replacing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1990s-vintage imported European machinery, with no OEM support — kept it running through 2000-06 and beyond.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22960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Utilization: ~55% (2018) → ~81% (Aug 2025) — see slide 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55868" y="4114800"/>
            <a:ext cx="5387188" cy="2194560"/>
          </a:xfrm>
          <a:prstGeom prst="roundRect">
            <a:avLst>
              <a:gd name="adj" fmla="val 3333"/>
            </a:avLst>
          </a:prstGeom>
          <a:solidFill>
            <a:srgbClr val="F4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530188" y="4370832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7" name="Text 25"/>
          <p:cNvSpPr/>
          <p:nvPr/>
        </p:nvSpPr>
        <p:spPr>
          <a:xfrm>
            <a:off x="6530188" y="4370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70268" y="4352544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30188" y="4983480"/>
            <a:ext cx="48385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idler part numbers.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530188" y="5806440"/>
            <a:ext cx="4838548" cy="365760"/>
          </a:xfrm>
          <a:prstGeom prst="roundRect">
            <a:avLst>
              <a:gd name="adj" fmla="val 12500"/>
            </a:avLst>
          </a:prstGeom>
          <a:solidFill>
            <a:srgbClr val="FCEFE6"/>
          </a:solidFill>
          <a:ln/>
        </p:spPr>
      </p:sp>
      <p:sp>
        <p:nvSpPr>
          <p:cNvPr id="31" name="Text 29"/>
          <p:cNvSpPr/>
          <p:nvPr/>
        </p:nvSpPr>
        <p:spPr>
          <a:xfrm>
            <a:off x="6639916" y="5806440"/>
            <a:ext cx="4619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Tega: 14% → 53% → ~76% (proj.) of contribution, FY22-FY26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20)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historically); Metso wound down to zero by FY25 as part of the OEM-focus pivot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inconsistently across company materials, 2024-25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19.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RESTATED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1990s plant — the moat is getting more out of it every year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7,000 MT/yr installed rating throughout — no expansion, no new plant. Figures are approximate and drawn from company materials of varying dates and methodology; read the shape, not the decimal.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0" y="17373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3.1x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132320" y="21214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growth, FY21 to FY25-26 — on the same installed capacity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132320" y="26517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132320" y="30358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per MT, FY23-24 to FY25-26 — more value from the same tonnage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132320" y="35661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132320" y="39502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turnover, FY26 (proj.) — a 5-year low, down from 25.7% in FY22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132320" y="4480560"/>
            <a:ext cx="451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32320" y="4864608"/>
            <a:ext cx="4510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maintenance of 1990s-vintage imported European machinery — no OEM dependency</a:t>
            </a:r>
            <a:endParaRPr lang="en-US" sz="930" dirty="0"/>
          </a:p>
        </p:txBody>
      </p:sp>
      <p:sp>
        <p:nvSpPr>
          <p:cNvPr id="14" name="Shape 11"/>
          <p:cNvSpPr/>
          <p:nvPr/>
        </p:nvSpPr>
        <p:spPr>
          <a:xfrm>
            <a:off x="548640" y="55778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262B34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57784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to copy than it looks: a well-funded competitor can order new furnaces tomorrow. What it cannot buy is 25+ years of knowing exactly how these specific, aging machines fail. "Low capex" doesn't mean zero — FY26 carries a planned ₹85.66L program (capacity + technology upgrades) — but it's modest, targeted spend, not a new factory.</a:t>
            </a:r>
            <a:endParaRPr lang="en-US" sz="97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(turnover statement) — a record, +26% YoY, with a record ₹1.82 Cr profit alongside it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chart: management MIS (net sales, ex-GST). Headline figure: year-end turnover statement, ₹1 Cr higher than the MIS quarterly sum — a minor, unreconciled gap typical of interim vs. final cuts.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MOAT, APPLIED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has closed a bigger gap than this before — with the same toolkit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4690872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 → FY21 (the real precedent)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Q1 → FY26-27 Q1 (today)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shock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₹12.51 Cr → ₹8.49 Cr (-32%)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₹8.39 Cr → ₹4.84 Cr (-42%)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Compounded by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Covid, going-concern audit note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Rejection rate at 10.1%, worst on record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closed it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In-house localization, no fresh capex, incremental utilization gains, deeper OEM qualification (Tega)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toolkit is available — not yet evidenced as applied to this episode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recover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years to first audited profit (FY23); ~4 years to record revenue (FY25-26)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— this is the honest gap in the data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76200" marB="762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CEFE6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6235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i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is, and isn't: this is evidence about how management responds to a shock, not a forecast that today's hurdle resolves on the same timeline. Slides 14-17 still stand — concentration, the balance sheet and the quality trend are live risks, not settled ones.</a:t>
            </a:r>
            <a:endParaRPr lang="en-US" sz="98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negative, but closing fast — not yet at zero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have exceeded assets every audited year (FY22-25) — but the gap has narrowed every year, from -₹5.94 Cr to -₹1.54 Cr. At the FY24-25 pace, FY26 crosses to positive — FY26-27's slower start (slide 12) puts that timeline at risk, though slide 13 shows a bigger gap closed before. See slide 17 for the trend.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080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FY22-FY25.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4028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0" y="247802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gap, open across multiple years.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7132320" y="32004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worth, narrowing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343814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-₹1.54 Cr as of FY25, down from -₹5.94 Cr in FY22. Genuine progress, but still a priority for any capital structure discussion.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7132320" y="416052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related-party funding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39826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99.88% held by Sarvagah Engineering Pvt Ltd. A flat ₹12.90 Cr unsecured, 0%-interest convertible debenture is unchanged for 2+ years — confirm counterparty and conversion terms.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7132320" y="51206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restructuring reference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132320" y="535838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document references “post-NCLT” status. A decade-long turnover statement shows a ₹51.47 Cr exceptional gain in FY2018-19 against an operating loss that year — likely this event, not formally confirmed. Confirm mechanism and terms before external circulation.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— MANAGEMENT COMPENSATION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compensation has tracked turnover for five years — FY26-27 is the test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400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straight years in a 1.26%-1.72% band — compensation scaled with the business, not ahead of it. Source: internal CTC records vs. audited/turnover-statement revenue.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223760" y="1737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1.18x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223760" y="2139696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CTC vs. CFO CTC, FY26-27 — a narrow premium, consistent across all 5 years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0" y="2907792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61.5%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7223760" y="3310128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CEO's CTC relative to the combined CTC of the other 28 listed staff (ex-CFO), FY26-27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223760" y="4078224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24%/yr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223760" y="4480560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CTC 5-year CAGR — faster than most operating roles (6-17%/yr), in line with the CFO (21%/yr)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56692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BEEE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6692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FY26-27, untested: CTC was set 29% higher than FY25-26 — but Q1 revenue is down 42% YoY (slide 12). At last year's turnover (₹25.9 Cr) the ratio becomes 1.95%; at the pace Q1 implies (~₹20.5 Cr) it becomes 2.47%. Either way, this is the first year in five the pattern may not hold.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— 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turnover is the right anchor — and what compensation should be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statutory cap applies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15568" y="2084832"/>
            <a:ext cx="105274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a private limited company. The Companies Act's profit-linked remuneration caps (Section 197) bind public companies, not this one — there's no legal reason profit has to be the reference point.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92" dirty="0"/>
          </a:p>
        </p:txBody>
      </p:sp>
      <p:sp>
        <p:nvSpPr>
          <p:cNvPr id="10" name="Text 8"/>
          <p:cNvSpPr/>
          <p:nvPr/>
        </p:nvSpPr>
        <p:spPr>
          <a:xfrm>
            <a:off x="1115568" y="276148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is the stable base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15568" y="3136392"/>
            <a:ext cx="105274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ran losses or near-breakeven for most of FY16-FY22. A profit-linked formula would have paid the CEO almost nothing through the exact years he was engineering the turnaround, and only rewarded him after the fact.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92" dirty="0"/>
          </a:p>
        </p:txBody>
      </p:sp>
      <p:sp>
        <p:nvSpPr>
          <p:cNvPr id="14" name="Text 12"/>
          <p:cNvSpPr/>
          <p:nvPr/>
        </p:nvSpPr>
        <p:spPr>
          <a:xfrm>
            <a:off x="1115568" y="381304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resists being gamed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5568" y="4187952"/>
            <a:ext cx="1052748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is sensitive to expense timing and provisioning — the same Ind AS 19 gap and FY26 capex-as-abnormal-expense treatment flagged on slide 14. Turnover is harder to manipulate and cleaner to benchmark against.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262B34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834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257800"/>
            <a:ext cx="1054577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CEO CTC to 1.5%-1.7% of trailing-twelve-month audited turnover — the band Datre's own 5-year record already supports. Revise annually at Board level off the prior full audited year, not projections; any increase beyond the band should require Board justification, as FY26-27's now does.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05332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is grounded in Datre's own history, not a verified external benchmark. Recommend a formal SME/foundry-sector compensation study before treating it as permanent.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numbers that show this is a multi-year rebuild, not one good year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CAGR, FY21 trough to FY25-26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713232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₹8.5 Cr → ₹25.9 Cr over 5 years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9" name="Text 7"/>
          <p:cNvSpPr/>
          <p:nvPr/>
        </p:nvSpPr>
        <p:spPr>
          <a:xfrm>
            <a:off x="3555416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55416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recovered, FY22 to FY25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555416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Cr, narrower every year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3" name="Text 11"/>
          <p:cNvSpPr/>
          <p:nvPr/>
        </p:nvSpPr>
        <p:spPr>
          <a:xfrm>
            <a:off x="6397600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97600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contribution/kg, FY22-23 to FY25-26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397600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~₹40/kg → ~₹59/kg average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7" name="Text 15"/>
          <p:cNvSpPr/>
          <p:nvPr/>
        </p:nvSpPr>
        <p:spPr>
          <a:xfrm>
            <a:off x="9239783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239783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of several anchor accounts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9239783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BEML, Escort, Tega, Tata Metaliks tracked since FY17-18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SHEET: ON PACE TO CROSS ZERO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has improved in every audited year since FY22 — not a one-off recovery. At the FY24-25 pace (~₹1.4 Cr/yr), the company crosses into positive net worth around FY26. That is a real, trackable milestone: the moment Datre stops being balance-sheet-insolvent on paper, four years after the Covid-era trough.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534760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GOOD YEAR — A REBUILT CUSTOMER BASE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34760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contribution records track named OEM accounts — BEML, Escort, Tega, Bhushan/Tata Steel, IISCO, Metco, Neo Metaliks, Paharpur, Tata Metaliks — back to FY2017-18. The current profitability isn't built on a handful of one-off wins; it sits on relationships that have held, and in Tega's case deepened, across an 8-year span that includes the FY21 near-failure.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10819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alongside the balance-sheet, concentration and quality-control slides that follow: the progress is real and multi-year, but customer concentration, the quality trend and the FY26-27 slowdown are real too. Both things are true at once.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 FY22-FY25; internal contribution-tracking records, FY2017-18 through FY2025-26; Aug 2025 order-book analysis (Tega ₹/kg).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Chart: Tega's individual share (company financial statements &amp; internal analysis, FY21-FY24 actuals, FY26 projection). "All OEM" figure in the panel at right uses a separate Net Contribution basis — see source note below.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69164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43% → 82%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0" y="2020824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share of total contribution, FY22 to FY26 (proj.) — a deliberate pivot, not passive drift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6949440" y="2715768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949440" y="3044952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Non-OEM legacy contribution by FY25 — IISCO, Bhushan Steel, Tata Metaliks, ESL and Metso wound down to zero, on purpose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6949440" y="3739896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949440" y="4069080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still declined YoY, FY23-24 to FY24-25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6949440" y="4764024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949440" y="5093208"/>
            <a:ext cx="4693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NDA/exclusive tie-up alongside Tega — the real second leg, still small next to Tega/Escorts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6949440" y="5833872"/>
            <a:ext cx="4693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figures: internal "Net Contribution" analysis (FY22 vs. FY26 projected) — a different basis from the Tega-share chart at left; both point the same direction.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3657600"/>
                <a:gridCol w="3593592"/>
              </a:tblGrid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·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Diligence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Komatsu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Himi Plant, Japan · via Uchimura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idler part numbers, 3 under RFQ. Best ₹/kg in the portfolio (₹68-114) — but tiny in absolute terms: ₹1.03L (FY25) → ₹5.23L proj. (FY26), vs. Tega's ₹359L.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first-article nonconformity (Mar 2026, part 17M3053110). Quality must close first — and stays sub-scale even resolved.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Thejo Engineering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mining wear parts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NDA/exclusive tie-up alongside Tega. Live, growing account since FY22-23; order volumes rising into FY26-27.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F8F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next to Tega/Escorts — the clearest active diversification story today.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Henseley Industries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construction, HEMM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tie-up under NDA; initial trial in progress. First contribution projected FY25: ₹0.81L — a start, not yet a business.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sample batches failed on impact properties; corrective re-heat-treatment applied. Not yet a qualified supply line.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Knorr-Bremse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Strato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“Diligence note” column reflects gaps and open items found during review, not management's own characterization of these relationships.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~55%→~81% (2018-2025) on the same aging plant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(-₹1.54 Cr, FY25)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— THE TWO LENSES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price this business — and they disagree by 3-10x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400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bars: today's book value of the hard assets (internal depreciation register, FY23-24 close). Orange bars: illustrative income-basis value, capitalizing the 3-year average audited PAT (₹1.43 Cr, FY23-25) at a range of multiples — no verified comparable transaction exists for Indian niche-foundry M&amp;A; treat as sensitivity, not appraisal.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223760" y="173736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223760" y="2139696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Plant &amp; Machinery's ~₹17.6 Cr original cost has already been depreciated — book value is now ~₹1.8 Cr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223760" y="2907792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-₹1.54 Cr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7223760" y="3310128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 audited net worth — a literal net-asset-value approach prices the whole enterprise at zero or below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223760" y="4078224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yrs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223760" y="4480560"/>
            <a:ext cx="4419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years of real audited profit (FY23-25) this same balance sheet has been earning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8640" y="56692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BEEE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6692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lightest capitalized-earnings estimate (4x PAT ≈ ₹5.7 Cr) is more than 3x the combined book value of every fixed asset on the balance sheet. A pure NAV view can't explain three years of real cash profit — the model, not the business, is the thing that's wrong here.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— THE BUYER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still hard to sell — and why that isn't a flaw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92" dirty="0"/>
          </a:p>
        </p:txBody>
      </p:sp>
      <p:sp>
        <p:nvSpPr>
          <p:cNvPr id="6" name="Text 4"/>
          <p:cNvSpPr/>
          <p:nvPr/>
        </p:nvSpPr>
        <p:spPr>
          <a:xfrm>
            <a:off x="1115568" y="170992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Liquidation value: a generic buyer's logic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15568" y="2084832"/>
            <a:ext cx="105274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machinery dealer or plot buyer can only underwrite what they can verify and reuse immediately — the hardware. They have no way to price 25-30 years of heat-treatment process history, RDSO/OEM qualifications, or a customer book earned through years of trial batches and audits.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92" dirty="0"/>
          </a:p>
        </p:txBody>
      </p:sp>
      <p:sp>
        <p:nvSpPr>
          <p:cNvPr id="10" name="Text 8"/>
          <p:cNvSpPr/>
          <p:nvPr/>
        </p:nvSpPr>
        <p:spPr>
          <a:xfrm>
            <a:off x="1115568" y="280720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market value: what the business earns standalone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15568" y="3182112"/>
            <a:ext cx="105274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on light, illustrative multiples, capitalized earnings already clear 3x+ the entire fixed-asset book (slide 25). This is the value a rational financial buyer, with no synergy, would underwrite.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92" dirty="0"/>
          </a:p>
        </p:txBody>
      </p:sp>
      <p:sp>
        <p:nvSpPr>
          <p:cNvPr id="14" name="Text 12"/>
          <p:cNvSpPr/>
          <p:nvPr/>
        </p:nvSpPr>
        <p:spPr>
          <a:xfrm>
            <a:off x="1115568" y="3904488"/>
            <a:ext cx="10527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value: what it's worth to the right buyer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5568" y="4279392"/>
            <a:ext cx="105274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OEM wanting captive supply, or a foundry group wanting instant access to Datre's Tier-1 relationships, avoids the same multi-year, uncertain-utilization qualification cost any new entrant faces. That's the ceiling few generic buyers can pay — and only a narrow buyer set can underwrite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262B34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166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44068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on earnings capacity plus a named strategic premium, not on net-asset value of 30-year-old machinery. A thin pool of qualified buyers is a sale-process problem, solved with a targeted and patient process — not a reason to discount enterprise value to book.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14476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uses Datre's own audited and internal records for the asset and earnings figures; the FMV multiples and the existence/identity of a strategic buyer are illustrative and unverified. Recommend a formal valuation (registered valuer / IBBI standards) before using this for negotiation.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-₹1.54 Cr (FY25)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14.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2026-08-28T03:16:54Z</dcterms:created>
  <dcterms:modified xsi:type="dcterms:W3CDTF">2026-08-28T03:16:54Z</dcterms:modified>
</cp:coreProperties>
</file>